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开场说明：这是一套可编辑的工具使用示例，不是学校官方发布的演示模板。配色从用户提供的校徽中取样。先说明需求，再演示编辑、媒体、备注和交付流程。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介绍四个章节。目录名称来自过渡页，章节下面的补充说明可独立修改。单击目录标题可跳转。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本章重点不是装饰，而是统一主题、字号和页面结构；让听众能迅速定位当前章节与核心结论。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讲解顺序：先看左栏的内容筛选，再看中栏的信息层级，最后看右栏的检查动作。序号使用 20 pt Times New Roman 加粗；大标题、正文和注释各有明确层级。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表格是字号规范示例，px 按常用 PPT 字号折算并四舍五入。这里的青蓝配色是从现有图形资源取样，不声称是学校官方完整 VI 标准。图标题 14 pt，表格 8–14 pt。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先说明顶部信息的作用，再强调可选项：页首句、总结条与来源。提示条展示 C1 无标题备注样式，它与演讲者备注不是同一件事。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本项目不是把 AI 和编辑器分成两套互不相通的文件。AI 使用结构化模块生成可编辑 HTML，人工修改后仍可把 HTML 交给 AI 继续加工。不要把截图当作可编辑源文件。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文字依据丽水学院官网学校概况及历史沿革。首图官网标注为1906年的处州学堂，作为源流资料配图；第二图为1946年重建处州师范学校。后两图为现代校园及图书馆，不代表2004年或对应阶段的实景。全部照片来源见 assets/丽水学院/manifest.json。实际研究现状汇报请替换为领域文献、方法演进及研究差距。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这一章结合真实控件介绍四种模块、十种文本样式、媒体自定义比例与表格。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这页同时展示默认、A1、A2、A3 四种基本样式。这里均为可编辑文字模块；真正的表格和媒体模块会在后面两页示范。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可演示双击打开样式编号列表：只悬停不会改变当前样式，点击应用才提交。B1 的白框左沿与折角右沿对齐；C3 的数字不是装饰字体。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说明两种“备注”的区别：C1 是幻灯片上的补充文本块，会出现在导出页面里；演讲者页面备注位于画布外，仅在正常视角显示，PPTX 中进入备注页。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实际演示可双击左侧占位符。图片和视频都使用同一个媒体弹窗；只有几何图形允许单向伸缩。视频能否播放取决于目标设备的编解码支持。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这页实际使用丽水学院的两份资源，既展示标志也验证不同宽高比的等高布局。完整标识不能拉伸；左右画面等高，宽度不同是预期结果。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此页参考共同母版主图布局，右侧采用三个实质说明区，避免只放两个短段造成大块空白。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本页以原模板图像展示双图版式，不构成实验对比。实际研究中应统一坐标、时间范围和颜色映射，不能截取不利部分以改变解释。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这里没有真实实验数据。提醒听众：↑ 表示指标越大越好，↓ 表示越小越好；数字两侧要有半个字符以上间距。导入 Excel 时读取已保存的显示值，不执行宏。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伪代码是教学示意，不代表适用于所有目标函数的收敛保证。实际算法应提供约束处理、初始化依据和复杂度说明。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这一章介绍单页、多页浏览、逐页备注和手动双窗口演示。本轮不自动检测或指定系统显示屏。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这页适合实际切换工具栏视图。重复点击编辑文字或编辑模块可进入无编辑选中状态，不需要通过放映才能看干净的页面。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演示备注开关。可以把这段内容改成自己的讲解提纲，切换到其他页，再回来确认备注独立保存。PPTX 导出后，可在备注区域继续修改。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本轮按用户偏好不做自动选屏。若弹出窗口被浏览器拦截，请允许本站弹窗，或者使用原有当前窗口全屏。观众窗口只接收移除了 notes 字段的文稿。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此页参考共同母版的总结／计划排布。表格与下方文字块不能覆盖，左右整体下沿对齐；条目保持通常不超过四点。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最后确认 HTML、PDF 和 PPTX 各自的用途，以及哪些内容会被保存或导出。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交付前做一遍从封面到尾页的放映。PDF 关注稳定阅读，PPTX 关注可编辑性和目标设备兼容。不要把浏览器看起来正确当成导出文件一定正确。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资源索引链接按用户指定名称提供，发布时间标注由用户提供；实际标识文件应优先核对学校官方来源。不要把这个第三方索引视为学校官方 VI 规范。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结束时总结三个关键词：一致、可读、可编辑。邀请听众提出对内容与工具使用的建议。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3" Type="http://schemas.openxmlformats.org/officeDocument/2006/relationships/slide" Target="slide9.xml"/><Relationship Id="rId4" Type="http://schemas.openxmlformats.org/officeDocument/2006/relationships/slide" Target="slide20.xml"/><Relationship Id="rId5" Type="http://schemas.openxmlformats.org/officeDocument/2006/relationships/slide" Target="slide25.xml"/><Relationship Id="rId1" Type="http://schemas.openxmlformats.org/officeDocument/2006/relationships/image" Target="../media/image-2-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5" Type="http://schemas.openxmlformats.org/officeDocument/2006/relationships/hyperlink" Target="https://www.lsu.edu.cn/47/list.htm" TargetMode="External"/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image" Target="../media/image-8-13.png"/><Relationship Id="rId14" Type="http://schemas.openxmlformats.org/officeDocument/2006/relationships/image" Target="../media/image-8-14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su.edu.cn/2017/0406/c51a216866/page.htm" TargetMode="External"/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hyperlink" Target="https://www.lsu.edu.cn/51/list.htm" TargetMode="External"/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5" Type="http://schemas.openxmlformats.org/officeDocument/2006/relationships/slide" Target="slide28.xml"/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image" Target="../media/image-18-7.png"/><Relationship Id="rId8" Type="http://schemas.openxmlformats.org/officeDocument/2006/relationships/image" Target="../media/image-18-8.png"/><Relationship Id="rId9" Type="http://schemas.openxmlformats.org/officeDocument/2006/relationships/image" Target="../media/image-18-9.png"/><Relationship Id="rId10" Type="http://schemas.openxmlformats.org/officeDocument/2006/relationships/image" Target="../media/image-18-10.png"/><Relationship Id="rId11" Type="http://schemas.openxmlformats.org/officeDocument/2006/relationships/image" Target="../media/image-18-11.png"/><Relationship Id="rId12" Type="http://schemas.openxmlformats.org/officeDocument/2006/relationships/image" Target="../media/image-18-12.png"/><Relationship Id="rId13" Type="http://schemas.openxmlformats.org/officeDocument/2006/relationships/image" Target="../media/image-18-13.png"/><Relationship Id="rId14" Type="http://schemas.openxmlformats.org/officeDocument/2006/relationships/image" Target="../media/image-18-14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image" Target="../media/image-23-6.png"/><Relationship Id="rId7" Type="http://schemas.openxmlformats.org/officeDocument/2006/relationships/image" Target="../media/image-2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image" Target="../media/image-26-5.png"/><Relationship Id="rId6" Type="http://schemas.openxmlformats.org/officeDocument/2006/relationships/image" Target="../media/image-26-6.png"/><Relationship Id="rId7" Type="http://schemas.openxmlformats.org/officeDocument/2006/relationships/image" Target="../media/image-2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cnblogs.com/cdz-111/articles/22432508" TargetMode="External"/><Relationship Id="rId1" Type="http://schemas.openxmlformats.org/officeDocument/2006/relationships/image" Target="../media/image-2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59843" y="438150"/>
            <a:ext cx="3272314" cy="9144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1790700"/>
            <a:ext cx="12192000" cy="251460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685800" y="2185630"/>
            <a:ext cx="10820400" cy="1320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5200"/>
              </a:lnSpc>
              <a:buNone/>
            </a:pPr>
            <a:r>
              <a:rPr lang="zh-CN" alt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把研究讲清楚</a:t>
            </a:r>
            <a:endParaRPr lang="zh-CN" sz="4000" dirty="0"/>
          </a:p>
          <a:p>
            <a:pPr algn="ctr" indent="0" marL="0" eaLnBrk="1" latinLnBrk="0" hangingPunct="1">
              <a:lnSpc>
                <a:spcPts val="5200"/>
              </a:lnSpc>
              <a:buNone/>
            </a:pPr>
            <a:r>
              <a:rPr lang="zh-CN" alt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 Slide 制作与演示指南</a:t>
            </a:r>
            <a:endParaRPr lang="zh-CN" sz="4000" dirty="0"/>
          </a:p>
        </p:txBody>
      </p:sp>
      <p:sp>
        <p:nvSpPr>
          <p:cNvPr id="6" name="Text 2"/>
          <p:cNvSpPr/>
          <p:nvPr/>
        </p:nvSpPr>
        <p:spPr>
          <a:xfrm>
            <a:off x="685800" y="3643670"/>
            <a:ext cx="10820400" cy="266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100"/>
              </a:lnSpc>
              <a:buNone/>
            </a:pPr>
            <a:r>
              <a:rPr lang="zh-CN" alt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主题定制 · 模块排版 · 媒体编排 · 备注与放映</a:t>
            </a:r>
            <a:endParaRPr lang="zh-CN" sz="1400" dirty="0"/>
          </a:p>
        </p:txBody>
      </p:sp>
      <p:sp>
        <p:nvSpPr>
          <p:cNvPr id="7" name="Text 3"/>
          <p:cNvSpPr/>
          <p:nvPr/>
        </p:nvSpPr>
        <p:spPr>
          <a:xfrm>
            <a:off x="4186952" y="4671060"/>
            <a:ext cx="83820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indent="0" marL="0" eaLnBrk="1" latinLnBrk="0" hangingPunct="1">
              <a:lnSpc>
                <a:spcPts val="2240"/>
              </a:lnSpc>
              <a:buNone/>
            </a:pPr>
            <a:r>
              <a:rPr lang="zh-CN" altLang="en-US" sz="1600" dirty="0">
                <a:solidFill>
                  <a:srgbClr val="6B85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汇报人</a:t>
            </a:r>
            <a:endParaRPr lang="zh-CN" sz="1600" dirty="0"/>
          </a:p>
        </p:txBody>
      </p:sp>
      <p:sp>
        <p:nvSpPr>
          <p:cNvPr id="8" name="Text 4"/>
          <p:cNvSpPr/>
          <p:nvPr/>
        </p:nvSpPr>
        <p:spPr>
          <a:xfrm>
            <a:off x="5253752" y="4671060"/>
            <a:ext cx="2751296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520"/>
              </a:lnSpc>
              <a:buNone/>
            </a:pPr>
            <a:r>
              <a:rPr lang="zh-CN" altLang="en-US" sz="1800" b="1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 Slide 示例团队</a:t>
            </a:r>
            <a:endParaRPr lang="zh-CN" sz="1800" dirty="0"/>
          </a:p>
        </p:txBody>
      </p:sp>
      <p:sp>
        <p:nvSpPr>
          <p:cNvPr id="9" name="Text 5"/>
          <p:cNvSpPr/>
          <p:nvPr/>
        </p:nvSpPr>
        <p:spPr>
          <a:xfrm>
            <a:off x="4186952" y="5097780"/>
            <a:ext cx="83820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indent="0" marL="0" eaLnBrk="1" latinLnBrk="0" hangingPunct="1">
              <a:lnSpc>
                <a:spcPts val="2240"/>
              </a:lnSpc>
              <a:buNone/>
            </a:pPr>
            <a:r>
              <a:rPr lang="zh-CN" altLang="en-US" sz="1600" dirty="0">
                <a:solidFill>
                  <a:srgbClr val="6B85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学院</a:t>
            </a:r>
            <a:endParaRPr lang="zh-CN" sz="1600" dirty="0"/>
          </a:p>
        </p:txBody>
      </p:sp>
      <p:sp>
        <p:nvSpPr>
          <p:cNvPr id="10" name="Text 6"/>
          <p:cNvSpPr/>
          <p:nvPr/>
        </p:nvSpPr>
        <p:spPr>
          <a:xfrm>
            <a:off x="5253752" y="5097780"/>
            <a:ext cx="2751296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520"/>
              </a:lnSpc>
              <a:buNone/>
            </a:pPr>
            <a:r>
              <a:rPr lang="zh-CN" altLang="en-US" sz="1800" b="1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丽水学院 · 教学与科研演示</a:t>
            </a:r>
            <a:endParaRPr lang="zh-CN" sz="1800" dirty="0"/>
          </a:p>
        </p:txBody>
      </p:sp>
      <p:sp>
        <p:nvSpPr>
          <p:cNvPr id="11" name="Text 7"/>
          <p:cNvSpPr/>
          <p:nvPr/>
        </p:nvSpPr>
        <p:spPr>
          <a:xfrm>
            <a:off x="4186952" y="5524500"/>
            <a:ext cx="83820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indent="0" marL="0" eaLnBrk="1" latinLnBrk="0" hangingPunct="1">
              <a:lnSpc>
                <a:spcPts val="2240"/>
              </a:lnSpc>
              <a:buNone/>
            </a:pPr>
            <a:r>
              <a:rPr lang="zh-CN" altLang="en-US" sz="1600" dirty="0">
                <a:solidFill>
                  <a:srgbClr val="6B85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日期</a:t>
            </a:r>
            <a:endParaRPr lang="zh-CN" sz="1600" dirty="0"/>
          </a:p>
        </p:txBody>
      </p:sp>
      <p:sp>
        <p:nvSpPr>
          <p:cNvPr id="12" name="Text 8"/>
          <p:cNvSpPr/>
          <p:nvPr/>
        </p:nvSpPr>
        <p:spPr>
          <a:xfrm>
            <a:off x="5253752" y="5524500"/>
            <a:ext cx="2751296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520"/>
              </a:lnSpc>
              <a:buNone/>
            </a:pPr>
            <a:r>
              <a:rPr lang="zh-CN" altLang="en-US" sz="1800" b="1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年 10 月</a:t>
            </a:r>
            <a:endParaRPr lang="zh-CN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753600" cy="5334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753600" y="0"/>
            <a:ext cx="2438400" cy="5334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41960" y="259080"/>
            <a:ext cx="381000" cy="228600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80060" y="259080"/>
            <a:ext cx="3048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buNone/>
            </a:pPr>
            <a:r>
              <a:rPr lang="zh-CN" altLang="en-US" sz="1200" b="1" dirty="0">
                <a:solidFill>
                  <a:srgbClr val="0F66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目录</a:t>
            </a:r>
            <a:endParaRPr lang="zh-CN" sz="1200" dirty="0"/>
          </a:p>
        </p:txBody>
      </p:sp>
      <p:sp>
        <p:nvSpPr>
          <p:cNvPr id="7" name="Text 4"/>
          <p:cNvSpPr/>
          <p:nvPr/>
        </p:nvSpPr>
        <p:spPr>
          <a:xfrm>
            <a:off x="929640" y="235625"/>
            <a:ext cx="9677400" cy="275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70"/>
              </a:lnSpc>
              <a:buNone/>
            </a:pPr>
            <a:r>
              <a:rPr lang="zh-CN" altLang="en-US" sz="14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汇报概览</a:t>
            </a:r>
            <a:endParaRPr lang="zh-CN" sz="1400" dirty="0"/>
          </a:p>
        </p:txBody>
      </p:sp>
      <p:sp>
        <p:nvSpPr>
          <p:cNvPr id="8" name="Text 5"/>
          <p:cNvSpPr/>
          <p:nvPr/>
        </p:nvSpPr>
        <p:spPr>
          <a:xfrm>
            <a:off x="441960" y="609600"/>
            <a:ext cx="10165080" cy="433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3416"/>
              </a:lnSpc>
              <a:buNone/>
            </a:pPr>
            <a:r>
              <a:rPr lang="zh-CN" altLang="en-US" sz="28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从一页内容到完整演示</a:t>
            </a:r>
            <a:endParaRPr lang="zh-CN" sz="2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01930"/>
            <a:ext cx="914400" cy="9144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41960" y="1264920"/>
            <a:ext cx="11308080" cy="1524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41960" y="1463040"/>
            <a:ext cx="113080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按制作、编排、演示与交付四个环节组织内容，章节标题与过渡页保持同步。</a:t>
            </a:r>
            <a:endParaRPr lang="zh-CN" sz="1600" dirty="0"/>
          </a:p>
        </p:txBody>
      </p:sp>
      <p:sp>
        <p:nvSpPr>
          <p:cNvPr id="12" name="Shape 8"/>
          <p:cNvSpPr/>
          <p:nvPr/>
        </p:nvSpPr>
        <p:spPr>
          <a:xfrm>
            <a:off x="441960" y="1950720"/>
            <a:ext cx="5562600" cy="2019300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sp>
        <p:nvSpPr>
          <p:cNvPr id="13" name="Text 9">
            <a:hlinkClick r:id="rId2" tooltip="" action="ppaction://hlinksldjump"/>
          </p:cNvPr>
          <p:cNvSpPr/>
          <p:nvPr/>
        </p:nvSpPr>
        <p:spPr>
          <a:xfrm>
            <a:off x="579120" y="2072640"/>
            <a:ext cx="5288280" cy="330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600"/>
              </a:lnSpc>
              <a:buNone/>
            </a:pPr>
            <a:r>
              <a:rPr lang="zh-CN" altLang="en-US" sz="2000" b="1" u="sng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01 制作起步</a:t>
            </a:r>
            <a:endParaRPr lang="zh-CN" sz="2000" dirty="0"/>
          </a:p>
        </p:txBody>
      </p:sp>
      <p:sp>
        <p:nvSpPr>
          <p:cNvPr id="14" name="Text 10"/>
          <p:cNvSpPr/>
          <p:nvPr/>
        </p:nvSpPr>
        <p:spPr>
          <a:xfrm>
            <a:off x="579120" y="2509361"/>
            <a:ext cx="52882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明确受众、章节目标与材料来源。</a:t>
            </a:r>
            <a:endParaRPr lang="zh-CN" sz="1600" dirty="0"/>
          </a:p>
        </p:txBody>
      </p:sp>
      <p:sp>
        <p:nvSpPr>
          <p:cNvPr id="15" name="Text 11"/>
          <p:cNvSpPr/>
          <p:nvPr/>
        </p:nvSpPr>
        <p:spPr>
          <a:xfrm>
            <a:off x="579120" y="2900482"/>
            <a:ext cx="52882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统一主题、字号和页面信息层级。</a:t>
            </a:r>
            <a:endParaRPr lang="zh-CN" sz="1600" dirty="0"/>
          </a:p>
        </p:txBody>
      </p:sp>
      <p:sp>
        <p:nvSpPr>
          <p:cNvPr id="16" name="Text 12"/>
          <p:cNvSpPr/>
          <p:nvPr/>
        </p:nvSpPr>
        <p:spPr>
          <a:xfrm>
            <a:off x="579120" y="3291602"/>
            <a:ext cx="52882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用研究现状建立后续讨论背景。</a:t>
            </a:r>
            <a:endParaRPr lang="zh-CN" sz="1600" dirty="0"/>
          </a:p>
        </p:txBody>
      </p:sp>
      <p:sp>
        <p:nvSpPr>
          <p:cNvPr id="17" name="Text 13"/>
          <p:cNvSpPr/>
          <p:nvPr/>
        </p:nvSpPr>
        <p:spPr>
          <a:xfrm>
            <a:off x="5314355" y="3687366"/>
            <a:ext cx="522565" cy="1683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326"/>
              </a:lnSpc>
              <a:buNone/>
            </a:pPr>
            <a:r>
              <a:rPr lang="zh-CN" altLang="en-US" sz="1020" dirty="0">
                <a:solidFill>
                  <a:srgbClr val="0F66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 03–08</a:t>
            </a:r>
            <a:endParaRPr lang="zh-CN" sz="1020" dirty="0"/>
          </a:p>
        </p:txBody>
      </p:sp>
      <p:sp>
        <p:nvSpPr>
          <p:cNvPr id="18" name="Shape 14"/>
          <p:cNvSpPr/>
          <p:nvPr/>
        </p:nvSpPr>
        <p:spPr>
          <a:xfrm>
            <a:off x="6187440" y="1950720"/>
            <a:ext cx="5562600" cy="2019300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sp>
        <p:nvSpPr>
          <p:cNvPr id="19" name="Text 15">
            <a:hlinkClick r:id="rId3" tooltip="" action="ppaction://hlinksldjump"/>
          </p:cNvPr>
          <p:cNvSpPr/>
          <p:nvPr/>
        </p:nvSpPr>
        <p:spPr>
          <a:xfrm>
            <a:off x="6324600" y="2072640"/>
            <a:ext cx="5288280" cy="330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600"/>
              </a:lnSpc>
              <a:buNone/>
            </a:pPr>
            <a:r>
              <a:rPr lang="zh-CN" altLang="en-US" sz="2000" b="1" u="sng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02 模块与内容</a:t>
            </a:r>
            <a:endParaRPr lang="zh-CN" sz="2000" dirty="0"/>
          </a:p>
        </p:txBody>
      </p:sp>
      <p:sp>
        <p:nvSpPr>
          <p:cNvPr id="20" name="Text 16"/>
          <p:cNvSpPr/>
          <p:nvPr/>
        </p:nvSpPr>
        <p:spPr>
          <a:xfrm>
            <a:off x="6324600" y="2509361"/>
            <a:ext cx="52882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按问题选择文字、媒体和表格。</a:t>
            </a:r>
            <a:endParaRPr lang="zh-CN" sz="1600" dirty="0"/>
          </a:p>
        </p:txBody>
      </p:sp>
      <p:sp>
        <p:nvSpPr>
          <p:cNvPr id="21" name="Text 17"/>
          <p:cNvSpPr/>
          <p:nvPr/>
        </p:nvSpPr>
        <p:spPr>
          <a:xfrm>
            <a:off x="6324600" y="2900482"/>
            <a:ext cx="52882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通过公式与伪代码解释方法细节。</a:t>
            </a:r>
            <a:endParaRPr lang="zh-CN" sz="1600" dirty="0"/>
          </a:p>
        </p:txBody>
      </p:sp>
      <p:sp>
        <p:nvSpPr>
          <p:cNvPr id="22" name="Text 18"/>
          <p:cNvSpPr/>
          <p:nvPr/>
        </p:nvSpPr>
        <p:spPr>
          <a:xfrm>
            <a:off x="6324600" y="3291602"/>
            <a:ext cx="52882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对照证据，说明适用条件和限制。</a:t>
            </a:r>
            <a:endParaRPr lang="zh-CN" sz="1600" dirty="0"/>
          </a:p>
        </p:txBody>
      </p:sp>
      <p:sp>
        <p:nvSpPr>
          <p:cNvPr id="23" name="Text 19"/>
          <p:cNvSpPr/>
          <p:nvPr/>
        </p:nvSpPr>
        <p:spPr>
          <a:xfrm>
            <a:off x="11059835" y="3687366"/>
            <a:ext cx="522565" cy="1683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326"/>
              </a:lnSpc>
              <a:buNone/>
            </a:pPr>
            <a:r>
              <a:rPr lang="zh-CN" altLang="en-US" sz="1020" dirty="0">
                <a:solidFill>
                  <a:srgbClr val="0F66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 09–19</a:t>
            </a:r>
            <a:endParaRPr lang="zh-CN" sz="1020" dirty="0"/>
          </a:p>
        </p:txBody>
      </p:sp>
      <p:sp>
        <p:nvSpPr>
          <p:cNvPr id="24" name="Shape 20"/>
          <p:cNvSpPr/>
          <p:nvPr/>
        </p:nvSpPr>
        <p:spPr>
          <a:xfrm>
            <a:off x="441960" y="4152900"/>
            <a:ext cx="5562600" cy="2019300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sp>
        <p:nvSpPr>
          <p:cNvPr id="25" name="Text 21">
            <a:hlinkClick r:id="rId4" tooltip="" action="ppaction://hlinksldjump"/>
          </p:cNvPr>
          <p:cNvSpPr/>
          <p:nvPr/>
        </p:nvSpPr>
        <p:spPr>
          <a:xfrm>
            <a:off x="579120" y="4274820"/>
            <a:ext cx="5288280" cy="330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600"/>
              </a:lnSpc>
              <a:buNone/>
            </a:pPr>
            <a:r>
              <a:rPr lang="zh-CN" altLang="en-US" sz="2000" b="1" u="sng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03 预览与演示</a:t>
            </a:r>
            <a:endParaRPr lang="zh-CN" sz="2000" dirty="0"/>
          </a:p>
        </p:txBody>
      </p:sp>
      <p:sp>
        <p:nvSpPr>
          <p:cNvPr id="26" name="Text 22"/>
          <p:cNvSpPr/>
          <p:nvPr/>
        </p:nvSpPr>
        <p:spPr>
          <a:xfrm>
            <a:off x="579120" y="4711541"/>
            <a:ext cx="52882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用三种视图核查细节与阅读顺序。</a:t>
            </a:r>
            <a:endParaRPr lang="zh-CN" sz="1600" dirty="0"/>
          </a:p>
        </p:txBody>
      </p:sp>
      <p:sp>
        <p:nvSpPr>
          <p:cNvPr id="27" name="Text 23"/>
          <p:cNvSpPr/>
          <p:nvPr/>
        </p:nvSpPr>
        <p:spPr>
          <a:xfrm>
            <a:off x="579120" y="5102662"/>
            <a:ext cx="52882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为每页补充讲解提示和过渡备注。</a:t>
            </a:r>
            <a:endParaRPr lang="zh-CN" sz="1600" dirty="0"/>
          </a:p>
        </p:txBody>
      </p:sp>
      <p:sp>
        <p:nvSpPr>
          <p:cNvPr id="28" name="Text 24"/>
          <p:cNvSpPr/>
          <p:nvPr/>
        </p:nvSpPr>
        <p:spPr>
          <a:xfrm>
            <a:off x="579120" y="5493782"/>
            <a:ext cx="52882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试讲并检查双窗口的画面与翻页。</a:t>
            </a:r>
            <a:endParaRPr lang="zh-CN" sz="1600" dirty="0"/>
          </a:p>
        </p:txBody>
      </p:sp>
      <p:sp>
        <p:nvSpPr>
          <p:cNvPr id="29" name="Text 25"/>
          <p:cNvSpPr/>
          <p:nvPr/>
        </p:nvSpPr>
        <p:spPr>
          <a:xfrm>
            <a:off x="5314355" y="5889546"/>
            <a:ext cx="522565" cy="1683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326"/>
              </a:lnSpc>
              <a:buNone/>
            </a:pPr>
            <a:r>
              <a:rPr lang="zh-CN" altLang="en-US" sz="1020" dirty="0">
                <a:solidFill>
                  <a:srgbClr val="0F66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 20–24</a:t>
            </a:r>
            <a:endParaRPr lang="zh-CN" sz="1020" dirty="0"/>
          </a:p>
        </p:txBody>
      </p:sp>
      <p:sp>
        <p:nvSpPr>
          <p:cNvPr id="30" name="Shape 26"/>
          <p:cNvSpPr/>
          <p:nvPr/>
        </p:nvSpPr>
        <p:spPr>
          <a:xfrm>
            <a:off x="6187440" y="4152900"/>
            <a:ext cx="5562600" cy="2019300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sp>
        <p:nvSpPr>
          <p:cNvPr id="31" name="Text 27">
            <a:hlinkClick r:id="rId5" tooltip="" action="ppaction://hlinksldjump"/>
          </p:cNvPr>
          <p:cNvSpPr/>
          <p:nvPr/>
        </p:nvSpPr>
        <p:spPr>
          <a:xfrm>
            <a:off x="6324600" y="4274820"/>
            <a:ext cx="5288280" cy="330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600"/>
              </a:lnSpc>
              <a:buNone/>
            </a:pPr>
            <a:r>
              <a:rPr lang="zh-CN" altLang="en-US" sz="2000" b="1" u="sng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04 保存与交付</a:t>
            </a:r>
            <a:endParaRPr lang="zh-CN" sz="2000" dirty="0"/>
          </a:p>
        </p:txBody>
      </p:sp>
      <p:sp>
        <p:nvSpPr>
          <p:cNvPr id="32" name="Text 28"/>
          <p:cNvSpPr/>
          <p:nvPr/>
        </p:nvSpPr>
        <p:spPr>
          <a:xfrm>
            <a:off x="6324600" y="4711541"/>
            <a:ext cx="52882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保存可继续修改的 HTML 源稿。</a:t>
            </a:r>
            <a:endParaRPr lang="zh-CN" sz="1600" dirty="0"/>
          </a:p>
        </p:txBody>
      </p:sp>
      <p:sp>
        <p:nvSpPr>
          <p:cNvPr id="33" name="Text 29"/>
          <p:cNvSpPr/>
          <p:nvPr/>
        </p:nvSpPr>
        <p:spPr>
          <a:xfrm>
            <a:off x="6324600" y="5102662"/>
            <a:ext cx="52882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复查 PDF 与 PPTX 的实际效果。</a:t>
            </a:r>
            <a:endParaRPr lang="zh-CN" sz="1600" dirty="0"/>
          </a:p>
        </p:txBody>
      </p:sp>
      <p:sp>
        <p:nvSpPr>
          <p:cNvPr id="34" name="Text 30"/>
          <p:cNvSpPr/>
          <p:nvPr/>
        </p:nvSpPr>
        <p:spPr>
          <a:xfrm>
            <a:off x="6324600" y="5493782"/>
            <a:ext cx="52882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核对字体、媒体与引用链接。</a:t>
            </a:r>
            <a:endParaRPr lang="zh-CN" sz="1600" dirty="0"/>
          </a:p>
        </p:txBody>
      </p:sp>
      <p:sp>
        <p:nvSpPr>
          <p:cNvPr id="35" name="Text 31"/>
          <p:cNvSpPr/>
          <p:nvPr/>
        </p:nvSpPr>
        <p:spPr>
          <a:xfrm>
            <a:off x="11059835" y="5889546"/>
            <a:ext cx="522565" cy="1683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326"/>
              </a:lnSpc>
              <a:buNone/>
            </a:pPr>
            <a:r>
              <a:rPr lang="zh-CN" altLang="en-US" sz="1020" dirty="0">
                <a:solidFill>
                  <a:srgbClr val="0F66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 25–26</a:t>
            </a:r>
            <a:endParaRPr lang="zh-CN" sz="1020" dirty="0"/>
          </a:p>
        </p:txBody>
      </p:sp>
      <p:sp>
        <p:nvSpPr>
          <p:cNvPr id="36" name="Text 32"/>
          <p:cNvSpPr/>
          <p:nvPr/>
        </p:nvSpPr>
        <p:spPr>
          <a:xfrm>
            <a:off x="441960" y="6485334"/>
            <a:ext cx="2971800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丽水学院 · 科研汇报</a:t>
            </a:r>
            <a:endParaRPr lang="zh-CN" sz="1020" dirty="0"/>
          </a:p>
        </p:txBody>
      </p:sp>
      <p:sp>
        <p:nvSpPr>
          <p:cNvPr id="37" name="Text 33"/>
          <p:cNvSpPr/>
          <p:nvPr/>
        </p:nvSpPr>
        <p:spPr>
          <a:xfrm>
            <a:off x="11314152" y="6485334"/>
            <a:ext cx="435888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/ 30</a:t>
            </a:r>
            <a:endParaRPr lang="zh-CN" sz="1020" dirty="0"/>
          </a:p>
        </p:txBody>
      </p:sp>
      <p:sp>
        <p:nvSpPr>
          <p:cNvPr id="38" name="Shape 34"/>
          <p:cNvSpPr/>
          <p:nvPr/>
        </p:nvSpPr>
        <p:spPr>
          <a:xfrm>
            <a:off x="441960" y="6355080"/>
            <a:ext cx="11308080" cy="7620"/>
          </a:xfrm>
          <a:prstGeom prst="rect">
            <a:avLst/>
          </a:prstGeom>
          <a:solidFill>
            <a:srgbClr val="D8E2E9"/>
          </a:solidFill>
          <a:ln w="12700">
            <a:solidFill>
              <a:srgbClr val="D8E2E9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753600" cy="5334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753600" y="0"/>
            <a:ext cx="2438400" cy="5334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219200" y="2282428"/>
            <a:ext cx="9753600" cy="1005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7920"/>
              </a:lnSpc>
              <a:buNone/>
            </a:pPr>
            <a:r>
              <a:rPr lang="zh-CN" altLang="en-US" sz="72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zh-CN" sz="7200" dirty="0"/>
          </a:p>
        </p:txBody>
      </p:sp>
      <p:sp>
        <p:nvSpPr>
          <p:cNvPr id="6" name="Shape 3"/>
          <p:cNvSpPr/>
          <p:nvPr/>
        </p:nvSpPr>
        <p:spPr>
          <a:xfrm>
            <a:off x="5810250" y="3516868"/>
            <a:ext cx="571500" cy="3048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219200" y="3775948"/>
            <a:ext cx="9753600" cy="576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4536"/>
              </a:lnSpc>
              <a:buNone/>
            </a:pPr>
            <a:r>
              <a:rPr lang="zh-CN" altLang="en-US" sz="3360" b="1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制作起步</a:t>
            </a:r>
            <a:endParaRPr lang="zh-CN" sz="3360" dirty="0"/>
          </a:p>
        </p:txBody>
      </p:sp>
      <p:sp>
        <p:nvSpPr>
          <p:cNvPr id="8" name="Text 5"/>
          <p:cNvSpPr/>
          <p:nvPr/>
        </p:nvSpPr>
        <p:spPr>
          <a:xfrm>
            <a:off x="1219200" y="4489133"/>
            <a:ext cx="975360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607B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先统一主题与文字口径，再安排每页需要回答的问题。</a:t>
            </a:r>
            <a:endParaRPr lang="zh-CN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753600" cy="5334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753600" y="0"/>
            <a:ext cx="2438400" cy="5334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41960" y="259080"/>
            <a:ext cx="289560" cy="228600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80060" y="259080"/>
            <a:ext cx="2133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buNone/>
            </a:pPr>
            <a:r>
              <a:rPr lang="zh-CN" altLang="en-US" sz="1200" b="1" dirty="0">
                <a:solidFill>
                  <a:srgbClr val="0F66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zh-CN" sz="1200" dirty="0"/>
          </a:p>
        </p:txBody>
      </p:sp>
      <p:sp>
        <p:nvSpPr>
          <p:cNvPr id="7" name="Text 4"/>
          <p:cNvSpPr/>
          <p:nvPr/>
        </p:nvSpPr>
        <p:spPr>
          <a:xfrm>
            <a:off x="838200" y="235625"/>
            <a:ext cx="9768840" cy="275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70"/>
              </a:lnSpc>
              <a:buNone/>
            </a:pPr>
            <a:r>
              <a:rPr lang="zh-CN" altLang="en-US" sz="14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制作起步</a:t>
            </a:r>
            <a:endParaRPr lang="zh-CN" sz="1400" dirty="0"/>
          </a:p>
        </p:txBody>
      </p:sp>
      <p:sp>
        <p:nvSpPr>
          <p:cNvPr id="8" name="Text 5"/>
          <p:cNvSpPr/>
          <p:nvPr/>
        </p:nvSpPr>
        <p:spPr>
          <a:xfrm>
            <a:off x="441960" y="609600"/>
            <a:ext cx="10165080" cy="433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3416"/>
              </a:lnSpc>
              <a:buNone/>
            </a:pPr>
            <a:r>
              <a:rPr lang="zh-CN" altLang="en-US" sz="28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先讲清楚，再安排版式</a:t>
            </a:r>
            <a:endParaRPr lang="zh-CN" sz="2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01930"/>
            <a:ext cx="914400" cy="9144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41960" y="1264920"/>
            <a:ext cx="11308080" cy="1524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41960" y="1463040"/>
            <a:ext cx="113080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把一页内容压缩成一个问题、几条证据和一句结论，版式随信息结构选择。</a:t>
            </a:r>
            <a:endParaRPr lang="zh-CN" sz="1600" dirty="0"/>
          </a:p>
        </p:txBody>
      </p:sp>
      <p:sp>
        <p:nvSpPr>
          <p:cNvPr id="12" name="Shape 8"/>
          <p:cNvSpPr/>
          <p:nvPr/>
        </p:nvSpPr>
        <p:spPr>
          <a:xfrm>
            <a:off x="441960" y="1950720"/>
            <a:ext cx="3647361" cy="422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280" y="2072640"/>
            <a:ext cx="685800" cy="365760"/>
          </a:xfrm>
          <a:prstGeom prst="rect">
            <a:avLst/>
          </a:prstGeom>
        </p:spPr>
      </p:pic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072640"/>
            <a:ext cx="685800" cy="36576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85800" y="2090499"/>
            <a:ext cx="254079" cy="330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600"/>
              </a:lnSpc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01</a:t>
            </a:r>
            <a:endParaRPr lang="zh-CN" sz="2000" dirty="0"/>
          </a:p>
        </p:txBody>
      </p:sp>
      <p:sp>
        <p:nvSpPr>
          <p:cNvPr id="16" name="Text 10"/>
          <p:cNvSpPr/>
          <p:nvPr/>
        </p:nvSpPr>
        <p:spPr>
          <a:xfrm>
            <a:off x="1524000" y="2106930"/>
            <a:ext cx="2412921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明确本页任务</a:t>
            </a:r>
            <a:endParaRPr lang="zh-CN" sz="1800" dirty="0"/>
          </a:p>
        </p:txBody>
      </p:sp>
      <p:sp>
        <p:nvSpPr>
          <p:cNvPr id="17" name="Shape 11"/>
          <p:cNvSpPr/>
          <p:nvPr/>
        </p:nvSpPr>
        <p:spPr>
          <a:xfrm>
            <a:off x="594360" y="2430780"/>
            <a:ext cx="3342561" cy="762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>
            <a:off x="594360" y="2537460"/>
            <a:ext cx="3393361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先写清这一页回答什么；确定听众需要了解的背景。</a:t>
            </a:r>
            <a:endParaRPr lang="zh-CN" sz="1600" dirty="0"/>
          </a:p>
        </p:txBody>
      </p:sp>
      <p:sp>
        <p:nvSpPr>
          <p:cNvPr id="19" name="Text 13"/>
          <p:cNvSpPr/>
          <p:nvPr/>
        </p:nvSpPr>
        <p:spPr>
          <a:xfrm>
            <a:off x="594360" y="3243501"/>
            <a:ext cx="3393361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区分核心结论与补充说明；为每组材料设置分项标题。</a:t>
            </a:r>
            <a:endParaRPr lang="zh-CN" sz="1600" dirty="0"/>
          </a:p>
        </p:txBody>
      </p:sp>
      <p:sp>
        <p:nvSpPr>
          <p:cNvPr id="20" name="Text 14"/>
          <p:cNvSpPr/>
          <p:nvPr/>
        </p:nvSpPr>
        <p:spPr>
          <a:xfrm>
            <a:off x="594360" y="3949541"/>
            <a:ext cx="3393361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避免一页同时讨论多件事；保留能够支持结论的证据。</a:t>
            </a:r>
            <a:endParaRPr lang="zh-CN" sz="1600" dirty="0"/>
          </a:p>
        </p:txBody>
      </p:sp>
      <p:sp>
        <p:nvSpPr>
          <p:cNvPr id="21" name="Text 15"/>
          <p:cNvSpPr/>
          <p:nvPr/>
        </p:nvSpPr>
        <p:spPr>
          <a:xfrm>
            <a:off x="594360" y="4655582"/>
            <a:ext cx="3342561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将推导细节写进页面备注。</a:t>
            </a:r>
            <a:endParaRPr lang="zh-CN" sz="1600" dirty="0"/>
          </a:p>
        </p:txBody>
      </p:sp>
      <p:sp>
        <p:nvSpPr>
          <p:cNvPr id="22" name="Text 16"/>
          <p:cNvSpPr/>
          <p:nvPr/>
        </p:nvSpPr>
        <p:spPr>
          <a:xfrm>
            <a:off x="594360" y="5069562"/>
            <a:ext cx="3342561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b="1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从问题开始</a:t>
            </a:r>
            <a:endParaRPr lang="zh-CN" sz="1600" dirty="0"/>
          </a:p>
        </p:txBody>
      </p:sp>
      <p:sp>
        <p:nvSpPr>
          <p:cNvPr id="23" name="Text 17"/>
          <p:cNvSpPr/>
          <p:nvPr/>
        </p:nvSpPr>
        <p:spPr>
          <a:xfrm>
            <a:off x="594360" y="5483543"/>
            <a:ext cx="3342561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960"/>
              </a:lnSpc>
              <a:buNone/>
            </a:pPr>
            <a:r>
              <a:rPr lang="zh-CN" altLang="en-US" sz="14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正文固定 16 pt，先减内容再加密。</a:t>
            </a:r>
            <a:endParaRPr lang="zh-CN" sz="1400" dirty="0"/>
          </a:p>
        </p:txBody>
      </p:sp>
      <p:sp>
        <p:nvSpPr>
          <p:cNvPr id="24" name="Shape 18"/>
          <p:cNvSpPr/>
          <p:nvPr/>
        </p:nvSpPr>
        <p:spPr>
          <a:xfrm>
            <a:off x="4272201" y="1950720"/>
            <a:ext cx="3647480" cy="422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6521" y="2072640"/>
            <a:ext cx="685800" cy="365760"/>
          </a:xfrm>
          <a:prstGeom prst="rect">
            <a:avLst/>
          </a:prstGeom>
        </p:spPr>
      </p:pic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24601" y="2072640"/>
            <a:ext cx="685800" cy="36576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4516041" y="2090499"/>
            <a:ext cx="254079" cy="330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600"/>
              </a:lnSpc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02</a:t>
            </a:r>
            <a:endParaRPr lang="zh-CN" sz="2000" dirty="0"/>
          </a:p>
        </p:txBody>
      </p:sp>
      <p:sp>
        <p:nvSpPr>
          <p:cNvPr id="28" name="Text 20"/>
          <p:cNvSpPr/>
          <p:nvPr/>
        </p:nvSpPr>
        <p:spPr>
          <a:xfrm>
            <a:off x="5354241" y="2106930"/>
            <a:ext cx="241304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建立信息层级</a:t>
            </a:r>
            <a:endParaRPr lang="zh-CN" sz="1800" dirty="0"/>
          </a:p>
        </p:txBody>
      </p:sp>
      <p:sp>
        <p:nvSpPr>
          <p:cNvPr id="29" name="Shape 21"/>
          <p:cNvSpPr/>
          <p:nvPr/>
        </p:nvSpPr>
        <p:spPr>
          <a:xfrm>
            <a:off x="4424601" y="2430780"/>
            <a:ext cx="3342680" cy="762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30" name="Text 22"/>
          <p:cNvSpPr/>
          <p:nvPr/>
        </p:nvSpPr>
        <p:spPr>
          <a:xfrm>
            <a:off x="4424601" y="2537460"/>
            <a:ext cx="3393480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主标题指出当前研究主题；页首句交代阅读这页的线索。</a:t>
            </a:r>
            <a:endParaRPr lang="zh-CN" sz="1600" dirty="0"/>
          </a:p>
        </p:txBody>
      </p:sp>
      <p:sp>
        <p:nvSpPr>
          <p:cNvPr id="31" name="Text 23"/>
          <p:cNvSpPr/>
          <p:nvPr/>
        </p:nvSpPr>
        <p:spPr>
          <a:xfrm>
            <a:off x="4424601" y="3243501"/>
            <a:ext cx="3393480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分项标题概括各区域内容；正文逐条解释过程和证据。</a:t>
            </a:r>
            <a:endParaRPr lang="zh-CN" sz="1600" dirty="0"/>
          </a:p>
        </p:txBody>
      </p:sp>
      <p:sp>
        <p:nvSpPr>
          <p:cNvPr id="32" name="Text 24"/>
          <p:cNvSpPr/>
          <p:nvPr/>
        </p:nvSpPr>
        <p:spPr>
          <a:xfrm>
            <a:off x="4424601" y="3949541"/>
            <a:ext cx="3393480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图标题说明图像表达的对象；来源脚注保留可追踪的链接。</a:t>
            </a:r>
            <a:endParaRPr lang="zh-CN" sz="1600" dirty="0"/>
          </a:p>
        </p:txBody>
      </p:sp>
      <p:sp>
        <p:nvSpPr>
          <p:cNvPr id="33" name="Text 25"/>
          <p:cNvSpPr/>
          <p:nvPr/>
        </p:nvSpPr>
        <p:spPr>
          <a:xfrm>
            <a:off x="4424601" y="4655582"/>
            <a:ext cx="33426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总结条提炼这一页的发现。</a:t>
            </a:r>
            <a:endParaRPr lang="zh-CN" sz="1600" dirty="0"/>
          </a:p>
        </p:txBody>
      </p:sp>
      <p:sp>
        <p:nvSpPr>
          <p:cNvPr id="34" name="Text 26"/>
          <p:cNvSpPr/>
          <p:nvPr/>
        </p:nvSpPr>
        <p:spPr>
          <a:xfrm>
            <a:off x="4424601" y="5069562"/>
            <a:ext cx="33426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b="1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让层级可见</a:t>
            </a:r>
            <a:endParaRPr lang="zh-CN" sz="1600" dirty="0"/>
          </a:p>
        </p:txBody>
      </p:sp>
      <p:sp>
        <p:nvSpPr>
          <p:cNvPr id="35" name="Text 27"/>
          <p:cNvSpPr/>
          <p:nvPr/>
        </p:nvSpPr>
        <p:spPr>
          <a:xfrm>
            <a:off x="4424601" y="5483543"/>
            <a:ext cx="334268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960"/>
              </a:lnSpc>
              <a:buNone/>
            </a:pPr>
            <a:r>
              <a:rPr lang="zh-CN" altLang="en-US" sz="14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标题靠字号与位置分层，不只靠加粗。</a:t>
            </a:r>
            <a:endParaRPr lang="zh-CN" sz="1400" dirty="0"/>
          </a:p>
        </p:txBody>
      </p:sp>
      <p:sp>
        <p:nvSpPr>
          <p:cNvPr id="36" name="Shape 28"/>
          <p:cNvSpPr/>
          <p:nvPr/>
        </p:nvSpPr>
        <p:spPr>
          <a:xfrm>
            <a:off x="8102560" y="1950720"/>
            <a:ext cx="3647361" cy="422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76880" y="2072640"/>
            <a:ext cx="685800" cy="365760"/>
          </a:xfrm>
          <a:prstGeom prst="rect">
            <a:avLst/>
          </a:prstGeom>
        </p:spPr>
      </p:pic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54960" y="2072640"/>
            <a:ext cx="685800" cy="365760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8346400" y="2090499"/>
            <a:ext cx="254079" cy="330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600"/>
              </a:lnSpc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03</a:t>
            </a:r>
            <a:endParaRPr lang="zh-CN" sz="2000" dirty="0"/>
          </a:p>
        </p:txBody>
      </p:sp>
      <p:sp>
        <p:nvSpPr>
          <p:cNvPr id="40" name="Text 30"/>
          <p:cNvSpPr/>
          <p:nvPr/>
        </p:nvSpPr>
        <p:spPr>
          <a:xfrm>
            <a:off x="9184600" y="2106930"/>
            <a:ext cx="2412921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完成阅读检查</a:t>
            </a:r>
            <a:endParaRPr lang="zh-CN" sz="1800" dirty="0"/>
          </a:p>
        </p:txBody>
      </p:sp>
      <p:sp>
        <p:nvSpPr>
          <p:cNvPr id="41" name="Shape 31"/>
          <p:cNvSpPr/>
          <p:nvPr/>
        </p:nvSpPr>
        <p:spPr>
          <a:xfrm>
            <a:off x="8254960" y="2430780"/>
            <a:ext cx="3342561" cy="762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42" name="Text 32"/>
          <p:cNvSpPr/>
          <p:nvPr/>
        </p:nvSpPr>
        <p:spPr>
          <a:xfrm>
            <a:off x="8254960" y="2537460"/>
            <a:ext cx="3393361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检查标题是否清晰且简洁；确认并列段落的语义一致。</a:t>
            </a:r>
            <a:endParaRPr lang="zh-CN" sz="1600" dirty="0"/>
          </a:p>
        </p:txBody>
      </p:sp>
      <p:sp>
        <p:nvSpPr>
          <p:cNvPr id="43" name="Text 33"/>
          <p:cNvSpPr/>
          <p:nvPr/>
        </p:nvSpPr>
        <p:spPr>
          <a:xfrm>
            <a:off x="8254960" y="3243501"/>
            <a:ext cx="3393361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避免末行只剩少量孤字；复查图注与图像之间的距离。</a:t>
            </a:r>
            <a:endParaRPr lang="zh-CN" sz="1600" dirty="0"/>
          </a:p>
        </p:txBody>
      </p:sp>
      <p:sp>
        <p:nvSpPr>
          <p:cNvPr id="44" name="Text 34"/>
          <p:cNvSpPr/>
          <p:nvPr/>
        </p:nvSpPr>
        <p:spPr>
          <a:xfrm>
            <a:off x="8254960" y="3949541"/>
            <a:ext cx="3393361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确认模块没有遮挡和越界；把长解释转移到讲解备注。</a:t>
            </a:r>
            <a:endParaRPr lang="zh-CN" sz="1600" dirty="0"/>
          </a:p>
        </p:txBody>
      </p:sp>
      <p:sp>
        <p:nvSpPr>
          <p:cNvPr id="45" name="Text 35"/>
          <p:cNvSpPr/>
          <p:nvPr/>
        </p:nvSpPr>
        <p:spPr>
          <a:xfrm>
            <a:off x="8254960" y="4655582"/>
            <a:ext cx="3342561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最后预览一次完整的阅读顺序。</a:t>
            </a:r>
            <a:endParaRPr lang="zh-CN" sz="1600" dirty="0"/>
          </a:p>
        </p:txBody>
      </p:sp>
      <p:sp>
        <p:nvSpPr>
          <p:cNvPr id="46" name="Text 36"/>
          <p:cNvSpPr/>
          <p:nvPr/>
        </p:nvSpPr>
        <p:spPr>
          <a:xfrm>
            <a:off x="8254960" y="5069562"/>
            <a:ext cx="3342561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b="1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从听众出发</a:t>
            </a:r>
            <a:endParaRPr lang="zh-CN" sz="1600" dirty="0"/>
          </a:p>
        </p:txBody>
      </p:sp>
      <p:sp>
        <p:nvSpPr>
          <p:cNvPr id="47" name="Text 37"/>
          <p:cNvSpPr/>
          <p:nvPr/>
        </p:nvSpPr>
        <p:spPr>
          <a:xfrm>
            <a:off x="8254960" y="5483543"/>
            <a:ext cx="3342561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960"/>
              </a:lnSpc>
              <a:buNone/>
            </a:pPr>
            <a:r>
              <a:rPr lang="zh-CN" altLang="en-US" sz="14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每次改动后复查，避免只看局部。</a:t>
            </a:r>
            <a:endParaRPr lang="zh-CN" sz="1400" dirty="0"/>
          </a:p>
        </p:txBody>
      </p:sp>
      <p:sp>
        <p:nvSpPr>
          <p:cNvPr id="48" name="Text 38"/>
          <p:cNvSpPr/>
          <p:nvPr/>
        </p:nvSpPr>
        <p:spPr>
          <a:xfrm>
            <a:off x="441960" y="6485334"/>
            <a:ext cx="2971800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丽水学院 · Web Slide 使用示例</a:t>
            </a:r>
            <a:endParaRPr lang="zh-CN" sz="1020" dirty="0"/>
          </a:p>
        </p:txBody>
      </p:sp>
      <p:sp>
        <p:nvSpPr>
          <p:cNvPr id="49" name="Text 39"/>
          <p:cNvSpPr/>
          <p:nvPr/>
        </p:nvSpPr>
        <p:spPr>
          <a:xfrm>
            <a:off x="3596640" y="6485334"/>
            <a:ext cx="7534632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操作示例 · 内容与数据仅作演示</a:t>
            </a:r>
            <a:endParaRPr lang="zh-CN" sz="1020" dirty="0"/>
          </a:p>
        </p:txBody>
      </p:sp>
      <p:sp>
        <p:nvSpPr>
          <p:cNvPr id="50" name="Text 40"/>
          <p:cNvSpPr/>
          <p:nvPr/>
        </p:nvSpPr>
        <p:spPr>
          <a:xfrm>
            <a:off x="11314152" y="6485334"/>
            <a:ext cx="435888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/ 30</a:t>
            </a:r>
            <a:endParaRPr lang="zh-CN" sz="1020" dirty="0"/>
          </a:p>
        </p:txBody>
      </p:sp>
      <p:sp>
        <p:nvSpPr>
          <p:cNvPr id="51" name="Shape 41"/>
          <p:cNvSpPr/>
          <p:nvPr/>
        </p:nvSpPr>
        <p:spPr>
          <a:xfrm>
            <a:off x="441960" y="6355080"/>
            <a:ext cx="11308080" cy="7620"/>
          </a:xfrm>
          <a:prstGeom prst="rect">
            <a:avLst/>
          </a:prstGeom>
          <a:solidFill>
            <a:srgbClr val="D8E2E9"/>
          </a:solidFill>
          <a:ln w="12700">
            <a:solidFill>
              <a:srgbClr val="D8E2E9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753600" cy="5334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753600" y="0"/>
            <a:ext cx="2438400" cy="5334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41960" y="259080"/>
            <a:ext cx="289560" cy="228600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80060" y="259080"/>
            <a:ext cx="2133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buNone/>
            </a:pPr>
            <a:r>
              <a:rPr lang="zh-CN" altLang="en-US" sz="1200" b="1" dirty="0">
                <a:solidFill>
                  <a:srgbClr val="0F66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zh-CN" sz="1200" dirty="0"/>
          </a:p>
        </p:txBody>
      </p:sp>
      <p:sp>
        <p:nvSpPr>
          <p:cNvPr id="7" name="Text 4"/>
          <p:cNvSpPr/>
          <p:nvPr/>
        </p:nvSpPr>
        <p:spPr>
          <a:xfrm>
            <a:off x="838200" y="235625"/>
            <a:ext cx="9768840" cy="275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70"/>
              </a:lnSpc>
              <a:buNone/>
            </a:pPr>
            <a:r>
              <a:rPr lang="zh-CN" altLang="en-US" sz="14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制作起步</a:t>
            </a:r>
            <a:endParaRPr lang="zh-CN" sz="1400" dirty="0"/>
          </a:p>
        </p:txBody>
      </p:sp>
      <p:sp>
        <p:nvSpPr>
          <p:cNvPr id="8" name="Text 5"/>
          <p:cNvSpPr/>
          <p:nvPr/>
        </p:nvSpPr>
        <p:spPr>
          <a:xfrm>
            <a:off x="441960" y="609600"/>
            <a:ext cx="10165080" cy="433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3416"/>
              </a:lnSpc>
              <a:buNone/>
            </a:pPr>
            <a:r>
              <a:rPr lang="zh-CN" altLang="en-US" sz="28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主题色彩与字号口径</a:t>
            </a:r>
            <a:endParaRPr lang="zh-CN" sz="2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01930"/>
            <a:ext cx="914400" cy="9144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41960" y="1264920"/>
            <a:ext cx="11308080" cy="1524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41960" y="1463040"/>
            <a:ext cx="113080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以校徽中的青色作为唯一主题色，配合深色文字与同色浅底，统一标题、表头和强调区域。</a:t>
            </a:r>
            <a:endParaRPr lang="zh-CN" sz="1600" dirty="0"/>
          </a:p>
        </p:txBody>
      </p:sp>
      <p:sp>
        <p:nvSpPr>
          <p:cNvPr id="12" name="Shape 8"/>
          <p:cNvSpPr/>
          <p:nvPr/>
        </p:nvSpPr>
        <p:spPr>
          <a:xfrm>
            <a:off x="441960" y="1950720"/>
            <a:ext cx="2183130" cy="350401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41960" y="2293501"/>
            <a:ext cx="218313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2617470" y="1950720"/>
            <a:ext cx="7620" cy="35040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30781" y="2004060"/>
            <a:ext cx="200167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890"/>
              </a:lnSpc>
              <a:buNone/>
            </a:pPr>
            <a:r>
              <a:rPr lang="zh-CN" alt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文字角色</a:t>
            </a:r>
            <a:endParaRPr lang="zh-CN" sz="1400" dirty="0"/>
          </a:p>
        </p:txBody>
      </p:sp>
      <p:sp>
        <p:nvSpPr>
          <p:cNvPr id="16" name="Shape 12"/>
          <p:cNvSpPr/>
          <p:nvPr/>
        </p:nvSpPr>
        <p:spPr>
          <a:xfrm>
            <a:off x="2625090" y="1950720"/>
            <a:ext cx="2183130" cy="350401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2625090" y="2293501"/>
            <a:ext cx="218313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4800600" y="1950720"/>
            <a:ext cx="7620" cy="35040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2717721" y="2004060"/>
            <a:ext cx="199786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890"/>
              </a:lnSpc>
              <a:buNone/>
            </a:pPr>
            <a:r>
              <a:rPr lang="zh-CN" alt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PPT 字号</a:t>
            </a:r>
            <a:endParaRPr lang="zh-CN" sz="1400" dirty="0"/>
          </a:p>
        </p:txBody>
      </p:sp>
      <p:sp>
        <p:nvSpPr>
          <p:cNvPr id="20" name="Shape 16"/>
          <p:cNvSpPr/>
          <p:nvPr/>
        </p:nvSpPr>
        <p:spPr>
          <a:xfrm>
            <a:off x="4808220" y="1950720"/>
            <a:ext cx="2183130" cy="350401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4808220" y="2293501"/>
            <a:ext cx="218313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983730" y="1950720"/>
            <a:ext cx="7620" cy="35040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4900851" y="2004060"/>
            <a:ext cx="199786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890"/>
              </a:lnSpc>
              <a:buNone/>
            </a:pPr>
            <a:r>
              <a:rPr lang="zh-CN" alt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画布 px</a:t>
            </a:r>
            <a:endParaRPr lang="zh-CN" sz="1400" dirty="0"/>
          </a:p>
        </p:txBody>
      </p:sp>
      <p:sp>
        <p:nvSpPr>
          <p:cNvPr id="24" name="Shape 20"/>
          <p:cNvSpPr/>
          <p:nvPr/>
        </p:nvSpPr>
        <p:spPr>
          <a:xfrm>
            <a:off x="441960" y="2301121"/>
            <a:ext cx="2183130" cy="35421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441960" y="2647712"/>
            <a:ext cx="218313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2617470" y="2301121"/>
            <a:ext cx="7620" cy="354211"/>
          </a:xfrm>
          <a:prstGeom prst="rect">
            <a:avLst/>
          </a:prstGeom>
          <a:solidFill>
            <a:srgbClr val="A5B8C5"/>
          </a:solidFill>
          <a:ln w="12700">
            <a:solidFill>
              <a:srgbClr val="A5B8C5">
                <a:alpha val="0"/>
              </a:srgbClr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530781" y="2358271"/>
            <a:ext cx="200167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890"/>
              </a:lnSpc>
              <a:buNone/>
            </a:pPr>
            <a:r>
              <a:rPr lang="zh-CN" altLang="en-US" sz="14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封面与尾页标题</a:t>
            </a:r>
            <a:endParaRPr lang="zh-CN" sz="1400" dirty="0"/>
          </a:p>
        </p:txBody>
      </p:sp>
      <p:sp>
        <p:nvSpPr>
          <p:cNvPr id="28" name="Shape 24"/>
          <p:cNvSpPr/>
          <p:nvPr/>
        </p:nvSpPr>
        <p:spPr>
          <a:xfrm>
            <a:off x="2625090" y="2301121"/>
            <a:ext cx="2183130" cy="35421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2625090" y="2647712"/>
            <a:ext cx="218313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4800600" y="2301121"/>
            <a:ext cx="7620" cy="354211"/>
          </a:xfrm>
          <a:prstGeom prst="rect">
            <a:avLst/>
          </a:prstGeom>
          <a:solidFill>
            <a:srgbClr val="A5B8C5"/>
          </a:solidFill>
          <a:ln w="12700">
            <a:solidFill>
              <a:srgbClr val="A5B8C5">
                <a:alpha val="0"/>
              </a:srgbClr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2717721" y="2358271"/>
            <a:ext cx="199786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890"/>
              </a:lnSpc>
              <a:buNone/>
            </a:pPr>
            <a:r>
              <a:rPr lang="zh-CN" altLang="en-US" sz="14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 pt</a:t>
            </a:r>
            <a:endParaRPr lang="zh-CN" sz="1400" dirty="0"/>
          </a:p>
        </p:txBody>
      </p:sp>
      <p:sp>
        <p:nvSpPr>
          <p:cNvPr id="32" name="Shape 28"/>
          <p:cNvSpPr/>
          <p:nvPr/>
        </p:nvSpPr>
        <p:spPr>
          <a:xfrm>
            <a:off x="4808220" y="2301121"/>
            <a:ext cx="2183130" cy="35421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4808220" y="2647712"/>
            <a:ext cx="218313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6983730" y="2301121"/>
            <a:ext cx="7620" cy="354211"/>
          </a:xfrm>
          <a:prstGeom prst="rect">
            <a:avLst/>
          </a:prstGeom>
          <a:solidFill>
            <a:srgbClr val="A5B8C5"/>
          </a:solidFill>
          <a:ln w="12700">
            <a:solidFill>
              <a:srgbClr val="A5B8C5">
                <a:alpha val="0"/>
              </a:srgbClr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4900851" y="2358271"/>
            <a:ext cx="199786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890"/>
              </a:lnSpc>
              <a:buNone/>
            </a:pPr>
            <a:r>
              <a:rPr lang="zh-CN" altLang="en-US" sz="14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67 px</a:t>
            </a:r>
            <a:endParaRPr lang="zh-CN" sz="1400" dirty="0"/>
          </a:p>
        </p:txBody>
      </p:sp>
      <p:sp>
        <p:nvSpPr>
          <p:cNvPr id="36" name="Shape 32"/>
          <p:cNvSpPr/>
          <p:nvPr/>
        </p:nvSpPr>
        <p:spPr>
          <a:xfrm>
            <a:off x="441960" y="2655332"/>
            <a:ext cx="2183130" cy="354211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441960" y="3001923"/>
            <a:ext cx="218313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2617470" y="2655332"/>
            <a:ext cx="7620" cy="354211"/>
          </a:xfrm>
          <a:prstGeom prst="rect">
            <a:avLst/>
          </a:prstGeom>
          <a:solidFill>
            <a:srgbClr val="A5B8C5"/>
          </a:solidFill>
          <a:ln w="12700">
            <a:solidFill>
              <a:srgbClr val="A5B8C5">
                <a:alpha val="0"/>
              </a:srgbClr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530781" y="2712482"/>
            <a:ext cx="200167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890"/>
              </a:lnSpc>
              <a:buNone/>
            </a:pPr>
            <a:r>
              <a:rPr lang="zh-CN" altLang="en-US" sz="14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正文页主标题</a:t>
            </a:r>
            <a:endParaRPr lang="zh-CN" sz="1400" dirty="0"/>
          </a:p>
        </p:txBody>
      </p:sp>
      <p:sp>
        <p:nvSpPr>
          <p:cNvPr id="40" name="Shape 36"/>
          <p:cNvSpPr/>
          <p:nvPr/>
        </p:nvSpPr>
        <p:spPr>
          <a:xfrm>
            <a:off x="2625090" y="2655332"/>
            <a:ext cx="2183130" cy="354211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2625090" y="3001923"/>
            <a:ext cx="218313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42" name="Shape 38"/>
          <p:cNvSpPr/>
          <p:nvPr/>
        </p:nvSpPr>
        <p:spPr>
          <a:xfrm>
            <a:off x="4800600" y="2655332"/>
            <a:ext cx="7620" cy="354211"/>
          </a:xfrm>
          <a:prstGeom prst="rect">
            <a:avLst/>
          </a:prstGeom>
          <a:solidFill>
            <a:srgbClr val="A5B8C5"/>
          </a:solidFill>
          <a:ln w="12700">
            <a:solidFill>
              <a:srgbClr val="A5B8C5">
                <a:alpha val="0"/>
              </a:srgbClr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2717721" y="2712482"/>
            <a:ext cx="199786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890"/>
              </a:lnSpc>
              <a:buNone/>
            </a:pPr>
            <a:r>
              <a:rPr lang="zh-CN" altLang="en-US" sz="14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28 pt</a:t>
            </a:r>
            <a:endParaRPr lang="zh-CN" sz="1400" dirty="0"/>
          </a:p>
        </p:txBody>
      </p:sp>
      <p:sp>
        <p:nvSpPr>
          <p:cNvPr id="44" name="Shape 40"/>
          <p:cNvSpPr/>
          <p:nvPr/>
        </p:nvSpPr>
        <p:spPr>
          <a:xfrm>
            <a:off x="4808220" y="2655332"/>
            <a:ext cx="2183130" cy="354211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sp>
        <p:nvSpPr>
          <p:cNvPr id="45" name="Shape 41"/>
          <p:cNvSpPr/>
          <p:nvPr/>
        </p:nvSpPr>
        <p:spPr>
          <a:xfrm>
            <a:off x="4808220" y="3001923"/>
            <a:ext cx="218313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46" name="Shape 42"/>
          <p:cNvSpPr/>
          <p:nvPr/>
        </p:nvSpPr>
        <p:spPr>
          <a:xfrm>
            <a:off x="6983730" y="2655332"/>
            <a:ext cx="7620" cy="354211"/>
          </a:xfrm>
          <a:prstGeom prst="rect">
            <a:avLst/>
          </a:prstGeom>
          <a:solidFill>
            <a:srgbClr val="A5B8C5"/>
          </a:solidFill>
          <a:ln w="12700">
            <a:solidFill>
              <a:srgbClr val="A5B8C5">
                <a:alpha val="0"/>
              </a:srgbClr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4900851" y="2712482"/>
            <a:ext cx="199786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890"/>
              </a:lnSpc>
              <a:buNone/>
            </a:pPr>
            <a:r>
              <a:rPr lang="zh-CN" altLang="en-US" sz="14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47 px</a:t>
            </a:r>
            <a:endParaRPr lang="zh-CN" sz="1400" dirty="0"/>
          </a:p>
        </p:txBody>
      </p:sp>
      <p:sp>
        <p:nvSpPr>
          <p:cNvPr id="48" name="Shape 44"/>
          <p:cNvSpPr/>
          <p:nvPr/>
        </p:nvSpPr>
        <p:spPr>
          <a:xfrm>
            <a:off x="441960" y="3009543"/>
            <a:ext cx="2183130" cy="35421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" name="Shape 45"/>
          <p:cNvSpPr/>
          <p:nvPr/>
        </p:nvSpPr>
        <p:spPr>
          <a:xfrm>
            <a:off x="441960" y="3356134"/>
            <a:ext cx="218313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50" name="Shape 46"/>
          <p:cNvSpPr/>
          <p:nvPr/>
        </p:nvSpPr>
        <p:spPr>
          <a:xfrm>
            <a:off x="2617470" y="3009543"/>
            <a:ext cx="7620" cy="354211"/>
          </a:xfrm>
          <a:prstGeom prst="rect">
            <a:avLst/>
          </a:prstGeom>
          <a:solidFill>
            <a:srgbClr val="A5B8C5"/>
          </a:solidFill>
          <a:ln w="12700">
            <a:solidFill>
              <a:srgbClr val="A5B8C5">
                <a:alpha val="0"/>
              </a:srgbClr>
            </a:solidFill>
            <a:prstDash val="solid"/>
          </a:ln>
        </p:spPr>
      </p:sp>
      <p:sp>
        <p:nvSpPr>
          <p:cNvPr id="51" name="Text 47"/>
          <p:cNvSpPr/>
          <p:nvPr/>
        </p:nvSpPr>
        <p:spPr>
          <a:xfrm>
            <a:off x="530781" y="3066693"/>
            <a:ext cx="200167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890"/>
              </a:lnSpc>
              <a:buNone/>
            </a:pPr>
            <a:r>
              <a:rPr lang="zh-CN" altLang="en-US" sz="14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模块大标题 / C3 序号</a:t>
            </a:r>
            <a:endParaRPr lang="zh-CN" sz="1400" dirty="0"/>
          </a:p>
        </p:txBody>
      </p:sp>
      <p:sp>
        <p:nvSpPr>
          <p:cNvPr id="52" name="Shape 48"/>
          <p:cNvSpPr/>
          <p:nvPr/>
        </p:nvSpPr>
        <p:spPr>
          <a:xfrm>
            <a:off x="2625090" y="3009543"/>
            <a:ext cx="2183130" cy="35421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Shape 49"/>
          <p:cNvSpPr/>
          <p:nvPr/>
        </p:nvSpPr>
        <p:spPr>
          <a:xfrm>
            <a:off x="2625090" y="3356134"/>
            <a:ext cx="218313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54" name="Shape 50"/>
          <p:cNvSpPr/>
          <p:nvPr/>
        </p:nvSpPr>
        <p:spPr>
          <a:xfrm>
            <a:off x="4800600" y="3009543"/>
            <a:ext cx="7620" cy="354211"/>
          </a:xfrm>
          <a:prstGeom prst="rect">
            <a:avLst/>
          </a:prstGeom>
          <a:solidFill>
            <a:srgbClr val="A5B8C5"/>
          </a:solidFill>
          <a:ln w="12700">
            <a:solidFill>
              <a:srgbClr val="A5B8C5">
                <a:alpha val="0"/>
              </a:srgbClr>
            </a:solidFill>
            <a:prstDash val="solid"/>
          </a:ln>
        </p:spPr>
      </p:sp>
      <p:sp>
        <p:nvSpPr>
          <p:cNvPr id="55" name="Text 51"/>
          <p:cNvSpPr/>
          <p:nvPr/>
        </p:nvSpPr>
        <p:spPr>
          <a:xfrm>
            <a:off x="2717721" y="3066693"/>
            <a:ext cx="199786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890"/>
              </a:lnSpc>
              <a:buNone/>
            </a:pPr>
            <a:r>
              <a:rPr lang="zh-CN" altLang="en-US" sz="14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 pt</a:t>
            </a:r>
            <a:endParaRPr lang="zh-CN" sz="1400" dirty="0"/>
          </a:p>
        </p:txBody>
      </p:sp>
      <p:sp>
        <p:nvSpPr>
          <p:cNvPr id="56" name="Shape 52"/>
          <p:cNvSpPr/>
          <p:nvPr/>
        </p:nvSpPr>
        <p:spPr>
          <a:xfrm>
            <a:off x="4808220" y="3009543"/>
            <a:ext cx="2183130" cy="35421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" name="Shape 53"/>
          <p:cNvSpPr/>
          <p:nvPr/>
        </p:nvSpPr>
        <p:spPr>
          <a:xfrm>
            <a:off x="4808220" y="3356134"/>
            <a:ext cx="218313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58" name="Shape 54"/>
          <p:cNvSpPr/>
          <p:nvPr/>
        </p:nvSpPr>
        <p:spPr>
          <a:xfrm>
            <a:off x="6983730" y="3009543"/>
            <a:ext cx="7620" cy="354211"/>
          </a:xfrm>
          <a:prstGeom prst="rect">
            <a:avLst/>
          </a:prstGeom>
          <a:solidFill>
            <a:srgbClr val="A5B8C5"/>
          </a:solidFill>
          <a:ln w="12700">
            <a:solidFill>
              <a:srgbClr val="A5B8C5">
                <a:alpha val="0"/>
              </a:srgbClr>
            </a:solidFill>
            <a:prstDash val="solid"/>
          </a:ln>
        </p:spPr>
      </p:sp>
      <p:sp>
        <p:nvSpPr>
          <p:cNvPr id="59" name="Text 55"/>
          <p:cNvSpPr/>
          <p:nvPr/>
        </p:nvSpPr>
        <p:spPr>
          <a:xfrm>
            <a:off x="4900851" y="3066693"/>
            <a:ext cx="199786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890"/>
              </a:lnSpc>
              <a:buNone/>
            </a:pPr>
            <a:r>
              <a:rPr lang="zh-CN" altLang="en-US" sz="14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33 px</a:t>
            </a:r>
            <a:endParaRPr lang="zh-CN" sz="1400" dirty="0"/>
          </a:p>
        </p:txBody>
      </p:sp>
      <p:sp>
        <p:nvSpPr>
          <p:cNvPr id="60" name="Shape 56"/>
          <p:cNvSpPr/>
          <p:nvPr/>
        </p:nvSpPr>
        <p:spPr>
          <a:xfrm>
            <a:off x="441960" y="3363754"/>
            <a:ext cx="2183130" cy="354211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sp>
        <p:nvSpPr>
          <p:cNvPr id="61" name="Shape 57"/>
          <p:cNvSpPr/>
          <p:nvPr/>
        </p:nvSpPr>
        <p:spPr>
          <a:xfrm>
            <a:off x="441960" y="3710345"/>
            <a:ext cx="218313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62" name="Shape 58"/>
          <p:cNvSpPr/>
          <p:nvPr/>
        </p:nvSpPr>
        <p:spPr>
          <a:xfrm>
            <a:off x="2617470" y="3363754"/>
            <a:ext cx="7620" cy="354211"/>
          </a:xfrm>
          <a:prstGeom prst="rect">
            <a:avLst/>
          </a:prstGeom>
          <a:solidFill>
            <a:srgbClr val="A5B8C5"/>
          </a:solidFill>
          <a:ln w="12700">
            <a:solidFill>
              <a:srgbClr val="A5B8C5">
                <a:alpha val="0"/>
              </a:srgbClr>
            </a:solidFill>
            <a:prstDash val="solid"/>
          </a:ln>
        </p:spPr>
      </p:sp>
      <p:sp>
        <p:nvSpPr>
          <p:cNvPr id="63" name="Text 59"/>
          <p:cNvSpPr/>
          <p:nvPr/>
        </p:nvSpPr>
        <p:spPr>
          <a:xfrm>
            <a:off x="530781" y="3420904"/>
            <a:ext cx="200167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890"/>
              </a:lnSpc>
              <a:buNone/>
            </a:pPr>
            <a:r>
              <a:rPr lang="zh-CN" altLang="en-US" sz="14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分项标题</a:t>
            </a:r>
            <a:endParaRPr lang="zh-CN" sz="1400" dirty="0"/>
          </a:p>
        </p:txBody>
      </p:sp>
      <p:sp>
        <p:nvSpPr>
          <p:cNvPr id="64" name="Shape 60"/>
          <p:cNvSpPr/>
          <p:nvPr/>
        </p:nvSpPr>
        <p:spPr>
          <a:xfrm>
            <a:off x="2625090" y="3363754"/>
            <a:ext cx="2183130" cy="354211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sp>
        <p:nvSpPr>
          <p:cNvPr id="65" name="Shape 61"/>
          <p:cNvSpPr/>
          <p:nvPr/>
        </p:nvSpPr>
        <p:spPr>
          <a:xfrm>
            <a:off x="2625090" y="3710345"/>
            <a:ext cx="218313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66" name="Shape 62"/>
          <p:cNvSpPr/>
          <p:nvPr/>
        </p:nvSpPr>
        <p:spPr>
          <a:xfrm>
            <a:off x="4800600" y="3363754"/>
            <a:ext cx="7620" cy="354211"/>
          </a:xfrm>
          <a:prstGeom prst="rect">
            <a:avLst/>
          </a:prstGeom>
          <a:solidFill>
            <a:srgbClr val="A5B8C5"/>
          </a:solidFill>
          <a:ln w="12700">
            <a:solidFill>
              <a:srgbClr val="A5B8C5">
                <a:alpha val="0"/>
              </a:srgbClr>
            </a:solidFill>
            <a:prstDash val="solid"/>
          </a:ln>
        </p:spPr>
      </p:sp>
      <p:sp>
        <p:nvSpPr>
          <p:cNvPr id="67" name="Text 63"/>
          <p:cNvSpPr/>
          <p:nvPr/>
        </p:nvSpPr>
        <p:spPr>
          <a:xfrm>
            <a:off x="2717721" y="3420904"/>
            <a:ext cx="199786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890"/>
              </a:lnSpc>
              <a:buNone/>
            </a:pPr>
            <a:r>
              <a:rPr lang="zh-CN" altLang="en-US" sz="14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 pt</a:t>
            </a:r>
            <a:endParaRPr lang="zh-CN" sz="1400" dirty="0"/>
          </a:p>
        </p:txBody>
      </p:sp>
      <p:sp>
        <p:nvSpPr>
          <p:cNvPr id="68" name="Shape 64"/>
          <p:cNvSpPr/>
          <p:nvPr/>
        </p:nvSpPr>
        <p:spPr>
          <a:xfrm>
            <a:off x="4808220" y="3363754"/>
            <a:ext cx="2183130" cy="354211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sp>
        <p:nvSpPr>
          <p:cNvPr id="69" name="Shape 65"/>
          <p:cNvSpPr/>
          <p:nvPr/>
        </p:nvSpPr>
        <p:spPr>
          <a:xfrm>
            <a:off x="4808220" y="3710345"/>
            <a:ext cx="218313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70" name="Shape 66"/>
          <p:cNvSpPr/>
          <p:nvPr/>
        </p:nvSpPr>
        <p:spPr>
          <a:xfrm>
            <a:off x="6983730" y="3363754"/>
            <a:ext cx="7620" cy="354211"/>
          </a:xfrm>
          <a:prstGeom prst="rect">
            <a:avLst/>
          </a:prstGeom>
          <a:solidFill>
            <a:srgbClr val="A5B8C5"/>
          </a:solidFill>
          <a:ln w="12700">
            <a:solidFill>
              <a:srgbClr val="A5B8C5">
                <a:alpha val="0"/>
              </a:srgbClr>
            </a:solidFill>
            <a:prstDash val="solid"/>
          </a:ln>
        </p:spPr>
      </p:sp>
      <p:sp>
        <p:nvSpPr>
          <p:cNvPr id="71" name="Text 67"/>
          <p:cNvSpPr/>
          <p:nvPr/>
        </p:nvSpPr>
        <p:spPr>
          <a:xfrm>
            <a:off x="4900851" y="3420904"/>
            <a:ext cx="199786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890"/>
              </a:lnSpc>
              <a:buNone/>
            </a:pPr>
            <a:r>
              <a:rPr lang="zh-CN" altLang="en-US" sz="14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 px</a:t>
            </a:r>
            <a:endParaRPr lang="zh-CN" sz="1400" dirty="0"/>
          </a:p>
        </p:txBody>
      </p:sp>
      <p:sp>
        <p:nvSpPr>
          <p:cNvPr id="72" name="Shape 68"/>
          <p:cNvSpPr/>
          <p:nvPr/>
        </p:nvSpPr>
        <p:spPr>
          <a:xfrm>
            <a:off x="441960" y="3717965"/>
            <a:ext cx="2183130" cy="35421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3" name="Shape 69"/>
          <p:cNvSpPr/>
          <p:nvPr/>
        </p:nvSpPr>
        <p:spPr>
          <a:xfrm>
            <a:off x="441960" y="4064556"/>
            <a:ext cx="218313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74" name="Shape 70"/>
          <p:cNvSpPr/>
          <p:nvPr/>
        </p:nvSpPr>
        <p:spPr>
          <a:xfrm>
            <a:off x="2617470" y="3717965"/>
            <a:ext cx="7620" cy="354211"/>
          </a:xfrm>
          <a:prstGeom prst="rect">
            <a:avLst/>
          </a:prstGeom>
          <a:solidFill>
            <a:srgbClr val="A5B8C5"/>
          </a:solidFill>
          <a:ln w="12700">
            <a:solidFill>
              <a:srgbClr val="A5B8C5">
                <a:alpha val="0"/>
              </a:srgbClr>
            </a:solidFill>
            <a:prstDash val="solid"/>
          </a:ln>
        </p:spPr>
      </p:sp>
      <p:sp>
        <p:nvSpPr>
          <p:cNvPr id="75" name="Text 71"/>
          <p:cNvSpPr/>
          <p:nvPr/>
        </p:nvSpPr>
        <p:spPr>
          <a:xfrm>
            <a:off x="530781" y="3775115"/>
            <a:ext cx="200167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890"/>
              </a:lnSpc>
              <a:buNone/>
            </a:pPr>
            <a:r>
              <a:rPr lang="zh-CN" altLang="en-US" sz="14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普通正文 / 总结条</a:t>
            </a:r>
            <a:endParaRPr lang="zh-CN" sz="1400" dirty="0"/>
          </a:p>
        </p:txBody>
      </p:sp>
      <p:sp>
        <p:nvSpPr>
          <p:cNvPr id="76" name="Shape 72"/>
          <p:cNvSpPr/>
          <p:nvPr/>
        </p:nvSpPr>
        <p:spPr>
          <a:xfrm>
            <a:off x="2625090" y="3717965"/>
            <a:ext cx="2183130" cy="35421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7" name="Shape 73"/>
          <p:cNvSpPr/>
          <p:nvPr/>
        </p:nvSpPr>
        <p:spPr>
          <a:xfrm>
            <a:off x="2625090" y="4064556"/>
            <a:ext cx="218313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78" name="Shape 74"/>
          <p:cNvSpPr/>
          <p:nvPr/>
        </p:nvSpPr>
        <p:spPr>
          <a:xfrm>
            <a:off x="4800600" y="3717965"/>
            <a:ext cx="7620" cy="354211"/>
          </a:xfrm>
          <a:prstGeom prst="rect">
            <a:avLst/>
          </a:prstGeom>
          <a:solidFill>
            <a:srgbClr val="A5B8C5"/>
          </a:solidFill>
          <a:ln w="12700">
            <a:solidFill>
              <a:srgbClr val="A5B8C5">
                <a:alpha val="0"/>
              </a:srgbClr>
            </a:solidFill>
            <a:prstDash val="solid"/>
          </a:ln>
        </p:spPr>
      </p:sp>
      <p:sp>
        <p:nvSpPr>
          <p:cNvPr id="79" name="Text 75"/>
          <p:cNvSpPr/>
          <p:nvPr/>
        </p:nvSpPr>
        <p:spPr>
          <a:xfrm>
            <a:off x="2717721" y="3775115"/>
            <a:ext cx="199786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890"/>
              </a:lnSpc>
              <a:buNone/>
            </a:pPr>
            <a:r>
              <a:rPr lang="zh-CN" altLang="en-US" sz="14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 pt</a:t>
            </a:r>
            <a:endParaRPr lang="zh-CN" sz="1400" dirty="0"/>
          </a:p>
        </p:txBody>
      </p:sp>
      <p:sp>
        <p:nvSpPr>
          <p:cNvPr id="80" name="Shape 76"/>
          <p:cNvSpPr/>
          <p:nvPr/>
        </p:nvSpPr>
        <p:spPr>
          <a:xfrm>
            <a:off x="4808220" y="3717965"/>
            <a:ext cx="2183130" cy="35421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1" name="Shape 77"/>
          <p:cNvSpPr/>
          <p:nvPr/>
        </p:nvSpPr>
        <p:spPr>
          <a:xfrm>
            <a:off x="4808220" y="4064556"/>
            <a:ext cx="218313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82" name="Shape 78"/>
          <p:cNvSpPr/>
          <p:nvPr/>
        </p:nvSpPr>
        <p:spPr>
          <a:xfrm>
            <a:off x="6983730" y="3717965"/>
            <a:ext cx="7620" cy="354211"/>
          </a:xfrm>
          <a:prstGeom prst="rect">
            <a:avLst/>
          </a:prstGeom>
          <a:solidFill>
            <a:srgbClr val="A5B8C5"/>
          </a:solidFill>
          <a:ln w="12700">
            <a:solidFill>
              <a:srgbClr val="A5B8C5">
                <a:alpha val="0"/>
              </a:srgbClr>
            </a:solidFill>
            <a:prstDash val="solid"/>
          </a:ln>
        </p:spPr>
      </p:sp>
      <p:sp>
        <p:nvSpPr>
          <p:cNvPr id="83" name="Text 79"/>
          <p:cNvSpPr/>
          <p:nvPr/>
        </p:nvSpPr>
        <p:spPr>
          <a:xfrm>
            <a:off x="4900851" y="3775115"/>
            <a:ext cx="199786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890"/>
              </a:lnSpc>
              <a:buNone/>
            </a:pPr>
            <a:r>
              <a:rPr lang="zh-CN" altLang="en-US" sz="14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27 px</a:t>
            </a:r>
            <a:endParaRPr lang="zh-CN" sz="1400" dirty="0"/>
          </a:p>
        </p:txBody>
      </p:sp>
      <p:sp>
        <p:nvSpPr>
          <p:cNvPr id="84" name="Shape 80"/>
          <p:cNvSpPr/>
          <p:nvPr/>
        </p:nvSpPr>
        <p:spPr>
          <a:xfrm>
            <a:off x="441960" y="4072176"/>
            <a:ext cx="2183130" cy="354211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sp>
        <p:nvSpPr>
          <p:cNvPr id="85" name="Shape 81"/>
          <p:cNvSpPr/>
          <p:nvPr/>
        </p:nvSpPr>
        <p:spPr>
          <a:xfrm>
            <a:off x="441960" y="4418767"/>
            <a:ext cx="218313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86" name="Shape 82"/>
          <p:cNvSpPr/>
          <p:nvPr/>
        </p:nvSpPr>
        <p:spPr>
          <a:xfrm>
            <a:off x="2617470" y="4072176"/>
            <a:ext cx="7620" cy="354211"/>
          </a:xfrm>
          <a:prstGeom prst="rect">
            <a:avLst/>
          </a:prstGeom>
          <a:solidFill>
            <a:srgbClr val="A5B8C5"/>
          </a:solidFill>
          <a:ln w="12700">
            <a:solidFill>
              <a:srgbClr val="A5B8C5">
                <a:alpha val="0"/>
              </a:srgbClr>
            </a:solidFill>
            <a:prstDash val="solid"/>
          </a:ln>
        </p:spPr>
      </p:sp>
      <p:sp>
        <p:nvSpPr>
          <p:cNvPr id="87" name="Text 83"/>
          <p:cNvSpPr/>
          <p:nvPr/>
        </p:nvSpPr>
        <p:spPr>
          <a:xfrm>
            <a:off x="530781" y="4129326"/>
            <a:ext cx="200167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890"/>
              </a:lnSpc>
              <a:buNone/>
            </a:pPr>
            <a:r>
              <a:rPr lang="zh-CN" altLang="en-US" sz="14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图标题 / 章节名称</a:t>
            </a:r>
            <a:endParaRPr lang="zh-CN" sz="1400" dirty="0"/>
          </a:p>
        </p:txBody>
      </p:sp>
      <p:sp>
        <p:nvSpPr>
          <p:cNvPr id="88" name="Shape 84"/>
          <p:cNvSpPr/>
          <p:nvPr/>
        </p:nvSpPr>
        <p:spPr>
          <a:xfrm>
            <a:off x="2625090" y="4072176"/>
            <a:ext cx="2183130" cy="354211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sp>
        <p:nvSpPr>
          <p:cNvPr id="89" name="Shape 85"/>
          <p:cNvSpPr/>
          <p:nvPr/>
        </p:nvSpPr>
        <p:spPr>
          <a:xfrm>
            <a:off x="2625090" y="4418767"/>
            <a:ext cx="218313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90" name="Shape 86"/>
          <p:cNvSpPr/>
          <p:nvPr/>
        </p:nvSpPr>
        <p:spPr>
          <a:xfrm>
            <a:off x="4800600" y="4072176"/>
            <a:ext cx="7620" cy="354211"/>
          </a:xfrm>
          <a:prstGeom prst="rect">
            <a:avLst/>
          </a:prstGeom>
          <a:solidFill>
            <a:srgbClr val="A5B8C5"/>
          </a:solidFill>
          <a:ln w="12700">
            <a:solidFill>
              <a:srgbClr val="A5B8C5">
                <a:alpha val="0"/>
              </a:srgbClr>
            </a:solidFill>
            <a:prstDash val="solid"/>
          </a:ln>
        </p:spPr>
      </p:sp>
      <p:sp>
        <p:nvSpPr>
          <p:cNvPr id="91" name="Text 87"/>
          <p:cNvSpPr/>
          <p:nvPr/>
        </p:nvSpPr>
        <p:spPr>
          <a:xfrm>
            <a:off x="2717721" y="4129326"/>
            <a:ext cx="199786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890"/>
              </a:lnSpc>
              <a:buNone/>
            </a:pPr>
            <a:r>
              <a:rPr lang="zh-CN" altLang="en-US" sz="14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 pt</a:t>
            </a:r>
            <a:endParaRPr lang="zh-CN" sz="1400" dirty="0"/>
          </a:p>
        </p:txBody>
      </p:sp>
      <p:sp>
        <p:nvSpPr>
          <p:cNvPr id="92" name="Shape 88"/>
          <p:cNvSpPr/>
          <p:nvPr/>
        </p:nvSpPr>
        <p:spPr>
          <a:xfrm>
            <a:off x="4808220" y="4072176"/>
            <a:ext cx="2183130" cy="354211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sp>
        <p:nvSpPr>
          <p:cNvPr id="93" name="Shape 89"/>
          <p:cNvSpPr/>
          <p:nvPr/>
        </p:nvSpPr>
        <p:spPr>
          <a:xfrm>
            <a:off x="4808220" y="4418767"/>
            <a:ext cx="218313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94" name="Shape 90"/>
          <p:cNvSpPr/>
          <p:nvPr/>
        </p:nvSpPr>
        <p:spPr>
          <a:xfrm>
            <a:off x="6983730" y="4072176"/>
            <a:ext cx="7620" cy="354211"/>
          </a:xfrm>
          <a:prstGeom prst="rect">
            <a:avLst/>
          </a:prstGeom>
          <a:solidFill>
            <a:srgbClr val="A5B8C5"/>
          </a:solidFill>
          <a:ln w="12700">
            <a:solidFill>
              <a:srgbClr val="A5B8C5">
                <a:alpha val="0"/>
              </a:srgbClr>
            </a:solidFill>
            <a:prstDash val="solid"/>
          </a:ln>
        </p:spPr>
      </p:sp>
      <p:sp>
        <p:nvSpPr>
          <p:cNvPr id="95" name="Text 91"/>
          <p:cNvSpPr/>
          <p:nvPr/>
        </p:nvSpPr>
        <p:spPr>
          <a:xfrm>
            <a:off x="4900851" y="4129326"/>
            <a:ext cx="199786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890"/>
              </a:lnSpc>
              <a:buNone/>
            </a:pPr>
            <a:r>
              <a:rPr lang="zh-CN" altLang="en-US" sz="14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 px</a:t>
            </a:r>
            <a:endParaRPr lang="zh-CN" sz="1400" dirty="0"/>
          </a:p>
        </p:txBody>
      </p:sp>
      <p:sp>
        <p:nvSpPr>
          <p:cNvPr id="96" name="Shape 92"/>
          <p:cNvSpPr/>
          <p:nvPr/>
        </p:nvSpPr>
        <p:spPr>
          <a:xfrm>
            <a:off x="441960" y="4426387"/>
            <a:ext cx="2183130" cy="35421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7" name="Shape 93"/>
          <p:cNvSpPr/>
          <p:nvPr/>
        </p:nvSpPr>
        <p:spPr>
          <a:xfrm>
            <a:off x="441960" y="4772978"/>
            <a:ext cx="218313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98" name="Shape 94"/>
          <p:cNvSpPr/>
          <p:nvPr/>
        </p:nvSpPr>
        <p:spPr>
          <a:xfrm>
            <a:off x="2617470" y="4426387"/>
            <a:ext cx="7620" cy="354211"/>
          </a:xfrm>
          <a:prstGeom prst="rect">
            <a:avLst/>
          </a:prstGeom>
          <a:solidFill>
            <a:srgbClr val="A5B8C5"/>
          </a:solidFill>
          <a:ln w="12700">
            <a:solidFill>
              <a:srgbClr val="A5B8C5">
                <a:alpha val="0"/>
              </a:srgbClr>
            </a:solidFill>
            <a:prstDash val="solid"/>
          </a:ln>
        </p:spPr>
      </p:sp>
      <p:sp>
        <p:nvSpPr>
          <p:cNvPr id="99" name="Text 95"/>
          <p:cNvSpPr/>
          <p:nvPr/>
        </p:nvSpPr>
        <p:spPr>
          <a:xfrm>
            <a:off x="530781" y="4483537"/>
            <a:ext cx="200167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890"/>
              </a:lnSpc>
              <a:buNone/>
            </a:pPr>
            <a:r>
              <a:rPr lang="zh-CN" altLang="en-US" sz="14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图注补充说明</a:t>
            </a:r>
            <a:endParaRPr lang="zh-CN" sz="1400" dirty="0"/>
          </a:p>
        </p:txBody>
      </p:sp>
      <p:sp>
        <p:nvSpPr>
          <p:cNvPr id="100" name="Shape 96"/>
          <p:cNvSpPr/>
          <p:nvPr/>
        </p:nvSpPr>
        <p:spPr>
          <a:xfrm>
            <a:off x="2625090" y="4426387"/>
            <a:ext cx="2183130" cy="35421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1" name="Shape 97"/>
          <p:cNvSpPr/>
          <p:nvPr/>
        </p:nvSpPr>
        <p:spPr>
          <a:xfrm>
            <a:off x="2625090" y="4772978"/>
            <a:ext cx="218313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02" name="Shape 98"/>
          <p:cNvSpPr/>
          <p:nvPr/>
        </p:nvSpPr>
        <p:spPr>
          <a:xfrm>
            <a:off x="4800600" y="4426387"/>
            <a:ext cx="7620" cy="354211"/>
          </a:xfrm>
          <a:prstGeom prst="rect">
            <a:avLst/>
          </a:prstGeom>
          <a:solidFill>
            <a:srgbClr val="A5B8C5"/>
          </a:solidFill>
          <a:ln w="12700">
            <a:solidFill>
              <a:srgbClr val="A5B8C5">
                <a:alpha val="0"/>
              </a:srgbClr>
            </a:solidFill>
            <a:prstDash val="solid"/>
          </a:ln>
        </p:spPr>
      </p:sp>
      <p:sp>
        <p:nvSpPr>
          <p:cNvPr id="103" name="Text 99"/>
          <p:cNvSpPr/>
          <p:nvPr/>
        </p:nvSpPr>
        <p:spPr>
          <a:xfrm>
            <a:off x="2717721" y="4483537"/>
            <a:ext cx="199786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890"/>
              </a:lnSpc>
              <a:buNone/>
            </a:pPr>
            <a:r>
              <a:rPr lang="zh-CN" altLang="en-US" sz="14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pt</a:t>
            </a:r>
            <a:endParaRPr lang="zh-CN" sz="1400" dirty="0"/>
          </a:p>
        </p:txBody>
      </p:sp>
      <p:sp>
        <p:nvSpPr>
          <p:cNvPr id="104" name="Shape 100"/>
          <p:cNvSpPr/>
          <p:nvPr/>
        </p:nvSpPr>
        <p:spPr>
          <a:xfrm>
            <a:off x="4808220" y="4426387"/>
            <a:ext cx="2183130" cy="35421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5" name="Shape 101"/>
          <p:cNvSpPr/>
          <p:nvPr/>
        </p:nvSpPr>
        <p:spPr>
          <a:xfrm>
            <a:off x="4808220" y="4772978"/>
            <a:ext cx="218313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06" name="Shape 102"/>
          <p:cNvSpPr/>
          <p:nvPr/>
        </p:nvSpPr>
        <p:spPr>
          <a:xfrm>
            <a:off x="6983730" y="4426387"/>
            <a:ext cx="7620" cy="354211"/>
          </a:xfrm>
          <a:prstGeom prst="rect">
            <a:avLst/>
          </a:prstGeom>
          <a:solidFill>
            <a:srgbClr val="A5B8C5"/>
          </a:solidFill>
          <a:ln w="12700">
            <a:solidFill>
              <a:srgbClr val="A5B8C5">
                <a:alpha val="0"/>
              </a:srgbClr>
            </a:solidFill>
            <a:prstDash val="solid"/>
          </a:ln>
        </p:spPr>
      </p:sp>
      <p:sp>
        <p:nvSpPr>
          <p:cNvPr id="107" name="Text 103"/>
          <p:cNvSpPr/>
          <p:nvPr/>
        </p:nvSpPr>
        <p:spPr>
          <a:xfrm>
            <a:off x="4900851" y="4483537"/>
            <a:ext cx="199786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890"/>
              </a:lnSpc>
              <a:buNone/>
            </a:pPr>
            <a:r>
              <a:rPr lang="zh-CN" altLang="en-US" sz="14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 px</a:t>
            </a:r>
            <a:endParaRPr lang="zh-CN" sz="1400" dirty="0"/>
          </a:p>
        </p:txBody>
      </p:sp>
      <p:sp>
        <p:nvSpPr>
          <p:cNvPr id="108" name="Shape 104"/>
          <p:cNvSpPr/>
          <p:nvPr/>
        </p:nvSpPr>
        <p:spPr>
          <a:xfrm>
            <a:off x="441960" y="4780598"/>
            <a:ext cx="2183130" cy="354211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sp>
        <p:nvSpPr>
          <p:cNvPr id="109" name="Shape 105"/>
          <p:cNvSpPr/>
          <p:nvPr/>
        </p:nvSpPr>
        <p:spPr>
          <a:xfrm>
            <a:off x="441960" y="5127188"/>
            <a:ext cx="218313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10" name="Shape 106"/>
          <p:cNvSpPr/>
          <p:nvPr/>
        </p:nvSpPr>
        <p:spPr>
          <a:xfrm>
            <a:off x="2617470" y="4780598"/>
            <a:ext cx="7620" cy="354211"/>
          </a:xfrm>
          <a:prstGeom prst="rect">
            <a:avLst/>
          </a:prstGeom>
          <a:solidFill>
            <a:srgbClr val="A5B8C5"/>
          </a:solidFill>
          <a:ln w="12700">
            <a:solidFill>
              <a:srgbClr val="A5B8C5">
                <a:alpha val="0"/>
              </a:srgbClr>
            </a:solidFill>
            <a:prstDash val="solid"/>
          </a:ln>
        </p:spPr>
      </p:sp>
      <p:sp>
        <p:nvSpPr>
          <p:cNvPr id="111" name="Text 107"/>
          <p:cNvSpPr/>
          <p:nvPr/>
        </p:nvSpPr>
        <p:spPr>
          <a:xfrm>
            <a:off x="530781" y="4837748"/>
            <a:ext cx="200167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890"/>
              </a:lnSpc>
              <a:buNone/>
            </a:pPr>
            <a:r>
              <a:rPr lang="zh-CN" altLang="en-US" sz="14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脚注与页码</a:t>
            </a:r>
            <a:endParaRPr lang="zh-CN" sz="1400" dirty="0"/>
          </a:p>
        </p:txBody>
      </p:sp>
      <p:sp>
        <p:nvSpPr>
          <p:cNvPr id="112" name="Shape 108"/>
          <p:cNvSpPr/>
          <p:nvPr/>
        </p:nvSpPr>
        <p:spPr>
          <a:xfrm>
            <a:off x="2625090" y="4780598"/>
            <a:ext cx="2183130" cy="354211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sp>
        <p:nvSpPr>
          <p:cNvPr id="113" name="Shape 109"/>
          <p:cNvSpPr/>
          <p:nvPr/>
        </p:nvSpPr>
        <p:spPr>
          <a:xfrm>
            <a:off x="2625090" y="5127188"/>
            <a:ext cx="218313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14" name="Shape 110"/>
          <p:cNvSpPr/>
          <p:nvPr/>
        </p:nvSpPr>
        <p:spPr>
          <a:xfrm>
            <a:off x="4800600" y="4780598"/>
            <a:ext cx="7620" cy="354211"/>
          </a:xfrm>
          <a:prstGeom prst="rect">
            <a:avLst/>
          </a:prstGeom>
          <a:solidFill>
            <a:srgbClr val="A5B8C5"/>
          </a:solidFill>
          <a:ln w="12700">
            <a:solidFill>
              <a:srgbClr val="A5B8C5">
                <a:alpha val="0"/>
              </a:srgbClr>
            </a:solidFill>
            <a:prstDash val="solid"/>
          </a:ln>
        </p:spPr>
      </p:sp>
      <p:sp>
        <p:nvSpPr>
          <p:cNvPr id="115" name="Text 111"/>
          <p:cNvSpPr/>
          <p:nvPr/>
        </p:nvSpPr>
        <p:spPr>
          <a:xfrm>
            <a:off x="2717721" y="4837748"/>
            <a:ext cx="199786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890"/>
              </a:lnSpc>
              <a:buNone/>
            </a:pPr>
            <a:r>
              <a:rPr lang="zh-CN" altLang="en-US" sz="14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pt</a:t>
            </a:r>
            <a:endParaRPr lang="zh-CN" sz="1400" dirty="0"/>
          </a:p>
        </p:txBody>
      </p:sp>
      <p:sp>
        <p:nvSpPr>
          <p:cNvPr id="116" name="Shape 112"/>
          <p:cNvSpPr/>
          <p:nvPr/>
        </p:nvSpPr>
        <p:spPr>
          <a:xfrm>
            <a:off x="4808220" y="4780598"/>
            <a:ext cx="2183130" cy="354211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sp>
        <p:nvSpPr>
          <p:cNvPr id="117" name="Shape 113"/>
          <p:cNvSpPr/>
          <p:nvPr/>
        </p:nvSpPr>
        <p:spPr>
          <a:xfrm>
            <a:off x="4808220" y="5127188"/>
            <a:ext cx="218313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18" name="Shape 114"/>
          <p:cNvSpPr/>
          <p:nvPr/>
        </p:nvSpPr>
        <p:spPr>
          <a:xfrm>
            <a:off x="6983730" y="4780598"/>
            <a:ext cx="7620" cy="354211"/>
          </a:xfrm>
          <a:prstGeom prst="rect">
            <a:avLst/>
          </a:prstGeom>
          <a:solidFill>
            <a:srgbClr val="A5B8C5"/>
          </a:solidFill>
          <a:ln w="12700">
            <a:solidFill>
              <a:srgbClr val="A5B8C5">
                <a:alpha val="0"/>
              </a:srgbClr>
            </a:solidFill>
            <a:prstDash val="solid"/>
          </a:ln>
        </p:spPr>
      </p:sp>
      <p:sp>
        <p:nvSpPr>
          <p:cNvPr id="119" name="Text 115"/>
          <p:cNvSpPr/>
          <p:nvPr/>
        </p:nvSpPr>
        <p:spPr>
          <a:xfrm>
            <a:off x="4900851" y="4837748"/>
            <a:ext cx="199786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890"/>
              </a:lnSpc>
              <a:buNone/>
            </a:pPr>
            <a:r>
              <a:rPr lang="zh-CN" altLang="en-US" sz="14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 px</a:t>
            </a:r>
            <a:endParaRPr lang="zh-CN" sz="1400" dirty="0"/>
          </a:p>
        </p:txBody>
      </p:sp>
      <p:sp>
        <p:nvSpPr>
          <p:cNvPr id="120" name="Shape 116"/>
          <p:cNvSpPr/>
          <p:nvPr/>
        </p:nvSpPr>
        <p:spPr>
          <a:xfrm>
            <a:off x="441960" y="5134808"/>
            <a:ext cx="2183130" cy="35421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1" name="Shape 117"/>
          <p:cNvSpPr/>
          <p:nvPr/>
        </p:nvSpPr>
        <p:spPr>
          <a:xfrm>
            <a:off x="441960" y="5481399"/>
            <a:ext cx="218313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22" name="Shape 118"/>
          <p:cNvSpPr/>
          <p:nvPr/>
        </p:nvSpPr>
        <p:spPr>
          <a:xfrm>
            <a:off x="2617470" y="5134808"/>
            <a:ext cx="7620" cy="354211"/>
          </a:xfrm>
          <a:prstGeom prst="rect">
            <a:avLst/>
          </a:prstGeom>
          <a:solidFill>
            <a:srgbClr val="A5B8C5"/>
          </a:solidFill>
          <a:ln w="12700">
            <a:solidFill>
              <a:srgbClr val="A5B8C5">
                <a:alpha val="0"/>
              </a:srgbClr>
            </a:solidFill>
            <a:prstDash val="solid"/>
          </a:ln>
        </p:spPr>
      </p:sp>
      <p:sp>
        <p:nvSpPr>
          <p:cNvPr id="123" name="Text 119"/>
          <p:cNvSpPr/>
          <p:nvPr/>
        </p:nvSpPr>
        <p:spPr>
          <a:xfrm>
            <a:off x="530781" y="5191958"/>
            <a:ext cx="200167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890"/>
              </a:lnSpc>
              <a:buNone/>
            </a:pPr>
            <a:r>
              <a:rPr lang="zh-CN" altLang="en-US" sz="14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表格内部文字</a:t>
            </a:r>
            <a:endParaRPr lang="zh-CN" sz="1400" dirty="0"/>
          </a:p>
        </p:txBody>
      </p:sp>
      <p:sp>
        <p:nvSpPr>
          <p:cNvPr id="124" name="Shape 120"/>
          <p:cNvSpPr/>
          <p:nvPr/>
        </p:nvSpPr>
        <p:spPr>
          <a:xfrm>
            <a:off x="2625090" y="5134808"/>
            <a:ext cx="2183130" cy="35421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5" name="Shape 121"/>
          <p:cNvSpPr/>
          <p:nvPr/>
        </p:nvSpPr>
        <p:spPr>
          <a:xfrm>
            <a:off x="2625090" y="5481399"/>
            <a:ext cx="218313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26" name="Shape 122"/>
          <p:cNvSpPr/>
          <p:nvPr/>
        </p:nvSpPr>
        <p:spPr>
          <a:xfrm>
            <a:off x="4800600" y="5134808"/>
            <a:ext cx="7620" cy="354211"/>
          </a:xfrm>
          <a:prstGeom prst="rect">
            <a:avLst/>
          </a:prstGeom>
          <a:solidFill>
            <a:srgbClr val="A5B8C5"/>
          </a:solidFill>
          <a:ln w="12700">
            <a:solidFill>
              <a:srgbClr val="A5B8C5">
                <a:alpha val="0"/>
              </a:srgbClr>
            </a:solidFill>
            <a:prstDash val="solid"/>
          </a:ln>
        </p:spPr>
      </p:sp>
      <p:sp>
        <p:nvSpPr>
          <p:cNvPr id="127" name="Text 123"/>
          <p:cNvSpPr/>
          <p:nvPr/>
        </p:nvSpPr>
        <p:spPr>
          <a:xfrm>
            <a:off x="2717721" y="5191958"/>
            <a:ext cx="199786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890"/>
              </a:lnSpc>
              <a:buNone/>
            </a:pPr>
            <a:r>
              <a:rPr lang="zh-CN" altLang="en-US" sz="14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8–14 pt</a:t>
            </a:r>
            <a:endParaRPr lang="zh-CN" sz="1400" dirty="0"/>
          </a:p>
        </p:txBody>
      </p:sp>
      <p:sp>
        <p:nvSpPr>
          <p:cNvPr id="128" name="Shape 124"/>
          <p:cNvSpPr/>
          <p:nvPr/>
        </p:nvSpPr>
        <p:spPr>
          <a:xfrm>
            <a:off x="4808220" y="5134808"/>
            <a:ext cx="2183130" cy="35421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9" name="Shape 125"/>
          <p:cNvSpPr/>
          <p:nvPr/>
        </p:nvSpPr>
        <p:spPr>
          <a:xfrm>
            <a:off x="4808220" y="5481399"/>
            <a:ext cx="218313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30" name="Shape 126"/>
          <p:cNvSpPr/>
          <p:nvPr/>
        </p:nvSpPr>
        <p:spPr>
          <a:xfrm>
            <a:off x="6983730" y="5134808"/>
            <a:ext cx="7620" cy="354211"/>
          </a:xfrm>
          <a:prstGeom prst="rect">
            <a:avLst/>
          </a:prstGeom>
          <a:solidFill>
            <a:srgbClr val="A5B8C5"/>
          </a:solidFill>
          <a:ln w="12700">
            <a:solidFill>
              <a:srgbClr val="A5B8C5">
                <a:alpha val="0"/>
              </a:srgbClr>
            </a:solidFill>
            <a:prstDash val="solid"/>
          </a:ln>
        </p:spPr>
      </p:sp>
      <p:sp>
        <p:nvSpPr>
          <p:cNvPr id="131" name="Text 127"/>
          <p:cNvSpPr/>
          <p:nvPr/>
        </p:nvSpPr>
        <p:spPr>
          <a:xfrm>
            <a:off x="4900851" y="5191958"/>
            <a:ext cx="199786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890"/>
              </a:lnSpc>
              <a:buNone/>
            </a:pPr>
            <a:r>
              <a:rPr lang="zh-CN" altLang="en-US" sz="14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13–23 px</a:t>
            </a:r>
            <a:endParaRPr lang="zh-CN" sz="1400" dirty="0"/>
          </a:p>
        </p:txBody>
      </p:sp>
      <p:sp>
        <p:nvSpPr>
          <p:cNvPr id="132" name="Text 128"/>
          <p:cNvSpPr/>
          <p:nvPr/>
        </p:nvSpPr>
        <p:spPr>
          <a:xfrm>
            <a:off x="441960" y="5584269"/>
            <a:ext cx="6553200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530"/>
              </a:lnSpc>
              <a:buNone/>
            </a:pPr>
            <a:r>
              <a:rPr lang="zh-CN" alt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此处可以输入表格注释，表格字号根据高度可自适应调整</a:t>
            </a:r>
            <a:endParaRPr lang="zh-CN" sz="1020" dirty="0"/>
          </a:p>
        </p:txBody>
      </p:sp>
      <p:sp>
        <p:nvSpPr>
          <p:cNvPr id="133" name="Shape 129"/>
          <p:cNvSpPr/>
          <p:nvPr/>
        </p:nvSpPr>
        <p:spPr>
          <a:xfrm>
            <a:off x="7178040" y="1950720"/>
            <a:ext cx="4572000" cy="4221480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sp>
        <p:nvSpPr>
          <p:cNvPr id="134" name="Text 130"/>
          <p:cNvSpPr/>
          <p:nvPr/>
        </p:nvSpPr>
        <p:spPr>
          <a:xfrm>
            <a:off x="7315200" y="2072640"/>
            <a:ext cx="429768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配色说明</a:t>
            </a:r>
            <a:endParaRPr lang="zh-CN" sz="1800" dirty="0"/>
          </a:p>
        </p:txBody>
      </p:sp>
      <p:sp>
        <p:nvSpPr>
          <p:cNvPr id="135" name="Text 131"/>
          <p:cNvSpPr/>
          <p:nvPr/>
        </p:nvSpPr>
        <p:spPr>
          <a:xfrm>
            <a:off x="7315200" y="2476500"/>
            <a:ext cx="4348480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标题、表头与重点线条统一使用主题青色，浅青底用于分组；不另设第二种强调色。</a:t>
            </a:r>
            <a:endParaRPr lang="zh-CN" sz="1600" dirty="0"/>
          </a:p>
        </p:txBody>
      </p:sp>
      <p:sp>
        <p:nvSpPr>
          <p:cNvPr id="136" name="Shape 132"/>
          <p:cNvSpPr/>
          <p:nvPr/>
        </p:nvSpPr>
        <p:spPr>
          <a:xfrm>
            <a:off x="7330440" y="3350181"/>
            <a:ext cx="4267200" cy="7620"/>
          </a:xfrm>
          <a:prstGeom prst="rect">
            <a:avLst/>
          </a:prstGeom>
          <a:solidFill>
            <a:srgbClr val="9EA8AE"/>
          </a:solidFill>
          <a:ln w="12700">
            <a:solidFill>
              <a:srgbClr val="9EA8AE">
                <a:alpha val="0"/>
              </a:srgbClr>
            </a:solidFill>
            <a:prstDash val="solid"/>
          </a:ln>
        </p:spPr>
      </p:sp>
      <p:sp>
        <p:nvSpPr>
          <p:cNvPr id="137" name="Text 133"/>
          <p:cNvSpPr/>
          <p:nvPr/>
        </p:nvSpPr>
        <p:spPr>
          <a:xfrm>
            <a:off x="7315200" y="3479721"/>
            <a:ext cx="429768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换算说明</a:t>
            </a:r>
            <a:endParaRPr lang="zh-CN" sz="1800" dirty="0"/>
          </a:p>
        </p:txBody>
      </p:sp>
      <p:sp>
        <p:nvSpPr>
          <p:cNvPr id="138" name="Text 134"/>
          <p:cNvSpPr/>
          <p:nvPr/>
        </p:nvSpPr>
        <p:spPr>
          <a:xfrm>
            <a:off x="7315200" y="3883581"/>
            <a:ext cx="4348480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PPT pt＝画布 px×0.6；CSS pt＝px×0.75，两者口径有差异。</a:t>
            </a:r>
            <a:endParaRPr lang="zh-CN" sz="1600" dirty="0"/>
          </a:p>
        </p:txBody>
      </p:sp>
      <p:sp>
        <p:nvSpPr>
          <p:cNvPr id="139" name="Shape 135"/>
          <p:cNvSpPr/>
          <p:nvPr/>
        </p:nvSpPr>
        <p:spPr>
          <a:xfrm>
            <a:off x="7330440" y="4757380"/>
            <a:ext cx="4267200" cy="7620"/>
          </a:xfrm>
          <a:prstGeom prst="rect">
            <a:avLst/>
          </a:prstGeom>
          <a:solidFill>
            <a:srgbClr val="9EA8AE"/>
          </a:solidFill>
          <a:ln w="12700">
            <a:solidFill>
              <a:srgbClr val="9EA8AE">
                <a:alpha val="0"/>
              </a:srgbClr>
            </a:solidFill>
            <a:prstDash val="solid"/>
          </a:ln>
        </p:spPr>
      </p:sp>
      <p:sp>
        <p:nvSpPr>
          <p:cNvPr id="140" name="Text 136"/>
          <p:cNvSpPr/>
          <p:nvPr/>
        </p:nvSpPr>
        <p:spPr>
          <a:xfrm>
            <a:off x="7315200" y="4886920"/>
            <a:ext cx="429768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使用原则</a:t>
            </a:r>
            <a:endParaRPr lang="zh-CN" sz="1800" dirty="0"/>
          </a:p>
        </p:txBody>
      </p:sp>
      <p:sp>
        <p:nvSpPr>
          <p:cNvPr id="141" name="Text 137"/>
          <p:cNvSpPr/>
          <p:nvPr/>
        </p:nvSpPr>
        <p:spPr>
          <a:xfrm>
            <a:off x="7315200" y="5290780"/>
            <a:ext cx="4348480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正文不因拥挤而自动变小。表格可在 8–14 pt 内自适应。</a:t>
            </a:r>
            <a:endParaRPr lang="zh-CN" sz="1600" dirty="0"/>
          </a:p>
        </p:txBody>
      </p:sp>
      <p:sp>
        <p:nvSpPr>
          <p:cNvPr id="142" name="Text 138"/>
          <p:cNvSpPr/>
          <p:nvPr/>
        </p:nvSpPr>
        <p:spPr>
          <a:xfrm>
            <a:off x="441960" y="6485334"/>
            <a:ext cx="2971800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丽水学院 · Web Slide 使用示例</a:t>
            </a:r>
            <a:endParaRPr lang="zh-CN" sz="1020" dirty="0"/>
          </a:p>
        </p:txBody>
      </p:sp>
      <p:sp>
        <p:nvSpPr>
          <p:cNvPr id="143" name="Text 139"/>
          <p:cNvSpPr/>
          <p:nvPr/>
        </p:nvSpPr>
        <p:spPr>
          <a:xfrm>
            <a:off x="3596640" y="6485334"/>
            <a:ext cx="7534632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操作示例 · 内容与数据仅作演示</a:t>
            </a:r>
            <a:endParaRPr lang="zh-CN" sz="1020" dirty="0"/>
          </a:p>
        </p:txBody>
      </p:sp>
      <p:sp>
        <p:nvSpPr>
          <p:cNvPr id="144" name="Text 140"/>
          <p:cNvSpPr/>
          <p:nvPr/>
        </p:nvSpPr>
        <p:spPr>
          <a:xfrm>
            <a:off x="11314152" y="6485334"/>
            <a:ext cx="435888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/ 30</a:t>
            </a:r>
            <a:endParaRPr lang="zh-CN" sz="1020" dirty="0"/>
          </a:p>
        </p:txBody>
      </p:sp>
      <p:sp>
        <p:nvSpPr>
          <p:cNvPr id="145" name="Shape 141"/>
          <p:cNvSpPr/>
          <p:nvPr/>
        </p:nvSpPr>
        <p:spPr>
          <a:xfrm>
            <a:off x="441960" y="6355080"/>
            <a:ext cx="11308080" cy="7620"/>
          </a:xfrm>
          <a:prstGeom prst="rect">
            <a:avLst/>
          </a:prstGeom>
          <a:solidFill>
            <a:srgbClr val="D8E2E9"/>
          </a:solidFill>
          <a:ln w="12700">
            <a:solidFill>
              <a:srgbClr val="D8E2E9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753600" cy="5334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753600" y="0"/>
            <a:ext cx="2438400" cy="5334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41960" y="259080"/>
            <a:ext cx="289560" cy="228600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80060" y="259080"/>
            <a:ext cx="2133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buNone/>
            </a:pPr>
            <a:r>
              <a:rPr lang="zh-CN" altLang="en-US" sz="1200" b="1" dirty="0">
                <a:solidFill>
                  <a:srgbClr val="0F66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zh-CN" sz="1200" dirty="0"/>
          </a:p>
        </p:txBody>
      </p:sp>
      <p:sp>
        <p:nvSpPr>
          <p:cNvPr id="7" name="Text 4"/>
          <p:cNvSpPr/>
          <p:nvPr/>
        </p:nvSpPr>
        <p:spPr>
          <a:xfrm>
            <a:off x="838200" y="235625"/>
            <a:ext cx="9768840" cy="275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70"/>
              </a:lnSpc>
              <a:buNone/>
            </a:pPr>
            <a:r>
              <a:rPr lang="zh-CN" altLang="en-US" sz="14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制作起步</a:t>
            </a:r>
            <a:endParaRPr lang="zh-CN" sz="1400" dirty="0"/>
          </a:p>
        </p:txBody>
      </p:sp>
      <p:sp>
        <p:nvSpPr>
          <p:cNvPr id="8" name="Text 5"/>
          <p:cNvSpPr/>
          <p:nvPr/>
        </p:nvSpPr>
        <p:spPr>
          <a:xfrm>
            <a:off x="441960" y="609600"/>
            <a:ext cx="10165080" cy="433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3416"/>
              </a:lnSpc>
              <a:buNone/>
            </a:pPr>
            <a:r>
              <a:rPr lang="zh-CN" altLang="en-US" sz="28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页面结构：引导、证据与结论</a:t>
            </a:r>
            <a:endParaRPr lang="zh-CN" sz="2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01930"/>
            <a:ext cx="914400" cy="9144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41960" y="1264920"/>
            <a:ext cx="11308080" cy="1524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41960" y="1463040"/>
            <a:ext cx="113080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页首句可以省略；需要总结时，使用独立的主题色总结条，避免压住正文。</a:t>
            </a:r>
            <a:endParaRPr lang="zh-CN" sz="16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960" y="1950720"/>
            <a:ext cx="5562600" cy="2697480"/>
          </a:xfrm>
          <a:prstGeom prst="rect">
            <a:avLst/>
          </a:prstGeom>
        </p:spPr>
      </p:pic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950720"/>
            <a:ext cx="4677132" cy="464820"/>
          </a:xfrm>
          <a:prstGeom prst="rect">
            <a:avLst/>
          </a:prstGeom>
        </p:spPr>
      </p:pic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2415540"/>
            <a:ext cx="106680" cy="13716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716280" y="2034540"/>
            <a:ext cx="4158972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页眉与首句</a:t>
            </a:r>
            <a:endParaRPr lang="zh-CN" sz="1800" dirty="0"/>
          </a:p>
        </p:txBody>
      </p:sp>
      <p:sp>
        <p:nvSpPr>
          <p:cNvPr id="16" name="Text 9"/>
          <p:cNvSpPr/>
          <p:nvPr/>
        </p:nvSpPr>
        <p:spPr>
          <a:xfrm>
            <a:off x="716280" y="2567940"/>
            <a:ext cx="5156200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过渡页决定后续内容页的章节；左上角章节名称保持单行显示。</a:t>
            </a:r>
            <a:endParaRPr lang="zh-CN" sz="1600" dirty="0"/>
          </a:p>
        </p:txBody>
      </p:sp>
      <p:sp>
        <p:nvSpPr>
          <p:cNvPr id="17" name="Text 10"/>
          <p:cNvSpPr/>
          <p:nvPr/>
        </p:nvSpPr>
        <p:spPr>
          <a:xfrm>
            <a:off x="716280" y="3273981"/>
            <a:ext cx="510540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正文主标题使用当前主题色。</a:t>
            </a:r>
            <a:endParaRPr lang="zh-CN" sz="1600" dirty="0"/>
          </a:p>
        </p:txBody>
      </p:sp>
      <p:sp>
        <p:nvSpPr>
          <p:cNvPr id="18" name="Text 11"/>
          <p:cNvSpPr/>
          <p:nvPr/>
        </p:nvSpPr>
        <p:spPr>
          <a:xfrm>
            <a:off x="716280" y="3665101"/>
            <a:ext cx="510540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页首句补充阅读线索；没有合适内容时可以留空。</a:t>
            </a:r>
            <a:endParaRPr lang="zh-CN" sz="1600" dirty="0"/>
          </a:p>
        </p:txBody>
      </p:sp>
      <p:sp>
        <p:nvSpPr>
          <p:cNvPr id="19" name="Text 12"/>
          <p:cNvSpPr/>
          <p:nvPr/>
        </p:nvSpPr>
        <p:spPr>
          <a:xfrm>
            <a:off x="716280" y="4056221"/>
            <a:ext cx="510540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正文与分割线之间保留呼吸。</a:t>
            </a:r>
            <a:endParaRPr lang="zh-CN" sz="16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7440" y="1950720"/>
            <a:ext cx="5562600" cy="2697480"/>
          </a:xfrm>
          <a:prstGeom prst="rect">
            <a:avLst/>
          </a:prstGeom>
        </p:spPr>
      </p:pic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8400" y="1950720"/>
            <a:ext cx="4677132" cy="464820"/>
          </a:xfrm>
          <a:prstGeom prst="rect">
            <a:avLst/>
          </a:prstGeom>
        </p:spPr>
      </p:pic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8400" y="2415540"/>
            <a:ext cx="106680" cy="137160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6461760" y="2034540"/>
            <a:ext cx="4158972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总结与来源</a:t>
            </a:r>
            <a:endParaRPr lang="zh-CN" sz="1800" dirty="0"/>
          </a:p>
        </p:txBody>
      </p:sp>
      <p:sp>
        <p:nvSpPr>
          <p:cNvPr id="24" name="Text 14"/>
          <p:cNvSpPr/>
          <p:nvPr/>
        </p:nvSpPr>
        <p:spPr>
          <a:xfrm>
            <a:off x="6461760" y="2567940"/>
            <a:ext cx="510540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总结条提炼关键判断；启用前应给底部预留空间。</a:t>
            </a:r>
            <a:endParaRPr lang="zh-CN" sz="1600" dirty="0"/>
          </a:p>
        </p:txBody>
      </p:sp>
      <p:sp>
        <p:nvSpPr>
          <p:cNvPr id="25" name="Text 15"/>
          <p:cNvSpPr/>
          <p:nvPr/>
        </p:nvSpPr>
        <p:spPr>
          <a:xfrm>
            <a:off x="6461760" y="2959060"/>
            <a:ext cx="510540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左下角脚注可改为团队名称。</a:t>
            </a:r>
            <a:endParaRPr lang="zh-CN" sz="1600" dirty="0"/>
          </a:p>
        </p:txBody>
      </p:sp>
      <p:sp>
        <p:nvSpPr>
          <p:cNvPr id="26" name="Text 16"/>
          <p:cNvSpPr/>
          <p:nvPr/>
        </p:nvSpPr>
        <p:spPr>
          <a:xfrm>
            <a:off x="6461760" y="3350181"/>
            <a:ext cx="5156200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右侧来源应说明材料出自何处；引用网页时保留可点击的链接。</a:t>
            </a:r>
            <a:endParaRPr lang="zh-CN" sz="1600" dirty="0"/>
          </a:p>
        </p:txBody>
      </p:sp>
      <p:sp>
        <p:nvSpPr>
          <p:cNvPr id="27" name="Text 17"/>
          <p:cNvSpPr/>
          <p:nvPr/>
        </p:nvSpPr>
        <p:spPr>
          <a:xfrm>
            <a:off x="6461760" y="4056221"/>
            <a:ext cx="510540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备注承载无需印在页内的细节。</a:t>
            </a:r>
            <a:endParaRPr lang="zh-CN" sz="1600" dirty="0"/>
          </a:p>
        </p:txBody>
      </p:sp>
      <p:sp>
        <p:nvSpPr>
          <p:cNvPr id="28" name="Shape 18"/>
          <p:cNvSpPr/>
          <p:nvPr/>
        </p:nvSpPr>
        <p:spPr>
          <a:xfrm>
            <a:off x="441960" y="4876800"/>
            <a:ext cx="5547360" cy="609600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sp>
        <p:nvSpPr>
          <p:cNvPr id="29" name="Shape 19"/>
          <p:cNvSpPr/>
          <p:nvPr/>
        </p:nvSpPr>
        <p:spPr>
          <a:xfrm>
            <a:off x="441960" y="4876800"/>
            <a:ext cx="45720" cy="60960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30" name="Text 20"/>
          <p:cNvSpPr/>
          <p:nvPr/>
        </p:nvSpPr>
        <p:spPr>
          <a:xfrm>
            <a:off x="563880" y="5024080"/>
            <a:ext cx="530352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按完整语义组织内容，明确本段的证据与结论。</a:t>
            </a:r>
            <a:endParaRPr lang="zh-CN" sz="1600" dirty="0"/>
          </a:p>
        </p:txBody>
      </p:sp>
      <p:sp>
        <p:nvSpPr>
          <p:cNvPr id="31" name="Shape 21"/>
          <p:cNvSpPr/>
          <p:nvPr/>
        </p:nvSpPr>
        <p:spPr>
          <a:xfrm>
            <a:off x="6172200" y="4876800"/>
            <a:ext cx="5547360" cy="609600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sp>
        <p:nvSpPr>
          <p:cNvPr id="32" name="Shape 22"/>
          <p:cNvSpPr/>
          <p:nvPr/>
        </p:nvSpPr>
        <p:spPr>
          <a:xfrm>
            <a:off x="6172200" y="4876800"/>
            <a:ext cx="45720" cy="60960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33" name="Text 23"/>
          <p:cNvSpPr/>
          <p:nvPr/>
        </p:nvSpPr>
        <p:spPr>
          <a:xfrm>
            <a:off x="6294120" y="5024080"/>
            <a:ext cx="530352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按完整语义组织内容，明确本段的证据与结论。</a:t>
            </a:r>
            <a:endParaRPr lang="zh-CN" sz="1600" dirty="0"/>
          </a:p>
        </p:txBody>
      </p:sp>
      <p:sp>
        <p:nvSpPr>
          <p:cNvPr id="34" name="Shape 24"/>
          <p:cNvSpPr/>
          <p:nvPr/>
        </p:nvSpPr>
        <p:spPr>
          <a:xfrm>
            <a:off x="441960" y="5715000"/>
            <a:ext cx="11308080" cy="45720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609600" y="5791200"/>
            <a:ext cx="109728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400"/>
              </a:lnSpc>
              <a:buNone/>
            </a:pPr>
            <a:r>
              <a:rPr lang="zh-CN" alt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先给阅读线索，再呈现证据；用页尾判断收束内容，让来源与备注各司其职。</a:t>
            </a:r>
            <a:endParaRPr lang="zh-CN" sz="1600" dirty="0"/>
          </a:p>
        </p:txBody>
      </p:sp>
      <p:sp>
        <p:nvSpPr>
          <p:cNvPr id="36" name="Text 26"/>
          <p:cNvSpPr/>
          <p:nvPr/>
        </p:nvSpPr>
        <p:spPr>
          <a:xfrm>
            <a:off x="441960" y="6485334"/>
            <a:ext cx="2971800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丽水学院 · Web Slide 使用示例</a:t>
            </a:r>
            <a:endParaRPr lang="zh-CN" sz="1020" dirty="0"/>
          </a:p>
        </p:txBody>
      </p:sp>
      <p:sp>
        <p:nvSpPr>
          <p:cNvPr id="37" name="Text 27"/>
          <p:cNvSpPr/>
          <p:nvPr/>
        </p:nvSpPr>
        <p:spPr>
          <a:xfrm>
            <a:off x="3596640" y="6485334"/>
            <a:ext cx="7534632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操作示例 · 内容与数据仅作演示</a:t>
            </a:r>
            <a:endParaRPr lang="zh-CN" sz="1020" dirty="0"/>
          </a:p>
        </p:txBody>
      </p:sp>
      <p:sp>
        <p:nvSpPr>
          <p:cNvPr id="38" name="Text 28"/>
          <p:cNvSpPr/>
          <p:nvPr/>
        </p:nvSpPr>
        <p:spPr>
          <a:xfrm>
            <a:off x="11314152" y="6485334"/>
            <a:ext cx="435888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/ 30</a:t>
            </a:r>
            <a:endParaRPr lang="zh-CN" sz="1020" dirty="0"/>
          </a:p>
        </p:txBody>
      </p:sp>
      <p:sp>
        <p:nvSpPr>
          <p:cNvPr id="39" name="Shape 29"/>
          <p:cNvSpPr/>
          <p:nvPr/>
        </p:nvSpPr>
        <p:spPr>
          <a:xfrm>
            <a:off x="441960" y="6355080"/>
            <a:ext cx="11308080" cy="7620"/>
          </a:xfrm>
          <a:prstGeom prst="rect">
            <a:avLst/>
          </a:prstGeom>
          <a:solidFill>
            <a:srgbClr val="D8E2E9"/>
          </a:solidFill>
          <a:ln w="12700">
            <a:solidFill>
              <a:srgbClr val="D8E2E9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753600" cy="5334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753600" y="0"/>
            <a:ext cx="2438400" cy="5334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41960" y="259080"/>
            <a:ext cx="289560" cy="228600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80060" y="259080"/>
            <a:ext cx="2133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buNone/>
            </a:pPr>
            <a:r>
              <a:rPr lang="zh-CN" altLang="en-US" sz="1200" b="1" dirty="0">
                <a:solidFill>
                  <a:srgbClr val="0F66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zh-CN" sz="1200" dirty="0"/>
          </a:p>
        </p:txBody>
      </p:sp>
      <p:sp>
        <p:nvSpPr>
          <p:cNvPr id="7" name="Text 4"/>
          <p:cNvSpPr/>
          <p:nvPr/>
        </p:nvSpPr>
        <p:spPr>
          <a:xfrm>
            <a:off x="838200" y="235625"/>
            <a:ext cx="9768840" cy="275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70"/>
              </a:lnSpc>
              <a:buNone/>
            </a:pPr>
            <a:r>
              <a:rPr lang="zh-CN" altLang="en-US" sz="14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制作起步</a:t>
            </a:r>
            <a:endParaRPr lang="zh-CN" sz="1400" dirty="0"/>
          </a:p>
        </p:txBody>
      </p:sp>
      <p:sp>
        <p:nvSpPr>
          <p:cNvPr id="8" name="Text 5"/>
          <p:cNvSpPr/>
          <p:nvPr/>
        </p:nvSpPr>
        <p:spPr>
          <a:xfrm>
            <a:off x="441960" y="609600"/>
            <a:ext cx="10165080" cy="433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3416"/>
              </a:lnSpc>
              <a:buNone/>
            </a:pPr>
            <a:r>
              <a:rPr lang="zh-CN" altLang="en-US" sz="28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生成结构，人工完成精修</a:t>
            </a:r>
            <a:endParaRPr lang="zh-CN" sz="2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01930"/>
            <a:ext cx="914400" cy="9144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41960" y="1264920"/>
            <a:ext cx="11308080" cy="1524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41960" y="1463040"/>
            <a:ext cx="113080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负责内容组织与初始布局，人工负责专业判断与最后一轮阅读检查；两端使用同一份 HTML。</a:t>
            </a:r>
            <a:endParaRPr lang="zh-CN" sz="1600" dirty="0"/>
          </a:p>
        </p:txBody>
      </p:sp>
      <p:sp>
        <p:nvSpPr>
          <p:cNvPr id="12" name="Shape 8"/>
          <p:cNvSpPr/>
          <p:nvPr/>
        </p:nvSpPr>
        <p:spPr>
          <a:xfrm>
            <a:off x="441960" y="1950720"/>
            <a:ext cx="3647361" cy="3581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280" y="2072640"/>
            <a:ext cx="685800" cy="365760"/>
          </a:xfrm>
          <a:prstGeom prst="rect">
            <a:avLst/>
          </a:prstGeom>
        </p:spPr>
      </p:pic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072640"/>
            <a:ext cx="685800" cy="36576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85800" y="2090499"/>
            <a:ext cx="254079" cy="330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600"/>
              </a:lnSpc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01</a:t>
            </a:r>
            <a:endParaRPr lang="zh-CN" sz="2000" dirty="0"/>
          </a:p>
        </p:txBody>
      </p:sp>
      <p:sp>
        <p:nvSpPr>
          <p:cNvPr id="16" name="Text 10"/>
          <p:cNvSpPr/>
          <p:nvPr/>
        </p:nvSpPr>
        <p:spPr>
          <a:xfrm>
            <a:off x="1524000" y="2106930"/>
            <a:ext cx="2412921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整理输入资料</a:t>
            </a:r>
            <a:endParaRPr lang="zh-CN" sz="1800" dirty="0"/>
          </a:p>
        </p:txBody>
      </p:sp>
      <p:sp>
        <p:nvSpPr>
          <p:cNvPr id="17" name="Shape 11"/>
          <p:cNvSpPr/>
          <p:nvPr/>
        </p:nvSpPr>
        <p:spPr>
          <a:xfrm>
            <a:off x="594360" y="2430780"/>
            <a:ext cx="3342561" cy="762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>
            <a:off x="594360" y="2537460"/>
            <a:ext cx="3342561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明确受众、汇报时长与章节目标。</a:t>
            </a:r>
            <a:endParaRPr lang="zh-CN" sz="1600" dirty="0"/>
          </a:p>
        </p:txBody>
      </p:sp>
      <p:sp>
        <p:nvSpPr>
          <p:cNvPr id="19" name="Text 13"/>
          <p:cNvSpPr/>
          <p:nvPr/>
        </p:nvSpPr>
        <p:spPr>
          <a:xfrm>
            <a:off x="594360" y="2928580"/>
            <a:ext cx="3342561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提供图表、公式与可核验来源。</a:t>
            </a:r>
            <a:endParaRPr lang="zh-CN" sz="1600" dirty="0"/>
          </a:p>
        </p:txBody>
      </p:sp>
      <p:sp>
        <p:nvSpPr>
          <p:cNvPr id="20" name="Text 14"/>
          <p:cNvSpPr/>
          <p:nvPr/>
        </p:nvSpPr>
        <p:spPr>
          <a:xfrm>
            <a:off x="594360" y="3319701"/>
            <a:ext cx="3342561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标出必须保留的内容和已知限制。</a:t>
            </a:r>
            <a:endParaRPr lang="zh-CN" sz="1600" dirty="0"/>
          </a:p>
        </p:txBody>
      </p:sp>
      <p:sp>
        <p:nvSpPr>
          <p:cNvPr id="21" name="Text 15"/>
          <p:cNvSpPr/>
          <p:nvPr/>
        </p:nvSpPr>
        <p:spPr>
          <a:xfrm>
            <a:off x="594360" y="3710821"/>
            <a:ext cx="3342561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已有 HTML 可直接交给 AI 修改。</a:t>
            </a:r>
            <a:endParaRPr lang="zh-CN" sz="1600" dirty="0"/>
          </a:p>
        </p:txBody>
      </p:sp>
      <p:sp>
        <p:nvSpPr>
          <p:cNvPr id="22" name="Text 16"/>
          <p:cNvSpPr/>
          <p:nvPr/>
        </p:nvSpPr>
        <p:spPr>
          <a:xfrm>
            <a:off x="594360" y="4251722"/>
            <a:ext cx="3342561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b="1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本环节交付</a:t>
            </a:r>
            <a:endParaRPr lang="zh-CN" sz="1600" dirty="0"/>
          </a:p>
        </p:txBody>
      </p:sp>
      <p:sp>
        <p:nvSpPr>
          <p:cNvPr id="23" name="Text 17"/>
          <p:cNvSpPr/>
          <p:nvPr/>
        </p:nvSpPr>
        <p:spPr>
          <a:xfrm>
            <a:off x="594360" y="4665702"/>
            <a:ext cx="3387011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 eaLnBrk="1" latinLnBrk="0" hangingPunct="1">
              <a:lnSpc>
                <a:spcPts val="1960"/>
              </a:lnSpc>
              <a:buNone/>
            </a:pPr>
            <a:r>
              <a:rPr lang="zh-CN" altLang="en-US" sz="14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交付材料清单，写明来源、版本及缺失信息；区分必须展示与只供查阅的资料。</a:t>
            </a:r>
            <a:endParaRPr lang="zh-CN" sz="1400" dirty="0"/>
          </a:p>
        </p:txBody>
      </p:sp>
      <p:sp>
        <p:nvSpPr>
          <p:cNvPr id="24" name="Shape 18"/>
          <p:cNvSpPr/>
          <p:nvPr/>
        </p:nvSpPr>
        <p:spPr>
          <a:xfrm>
            <a:off x="4272201" y="1950720"/>
            <a:ext cx="3647480" cy="3581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6521" y="2072640"/>
            <a:ext cx="685800" cy="365760"/>
          </a:xfrm>
          <a:prstGeom prst="rect">
            <a:avLst/>
          </a:prstGeom>
        </p:spPr>
      </p:pic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24601" y="2072640"/>
            <a:ext cx="685800" cy="36576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4516041" y="2090499"/>
            <a:ext cx="254079" cy="330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600"/>
              </a:lnSpc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02</a:t>
            </a:r>
            <a:endParaRPr lang="zh-CN" sz="2000" dirty="0"/>
          </a:p>
        </p:txBody>
      </p:sp>
      <p:sp>
        <p:nvSpPr>
          <p:cNvPr id="28" name="Text 20"/>
          <p:cNvSpPr/>
          <p:nvPr/>
        </p:nvSpPr>
        <p:spPr>
          <a:xfrm>
            <a:off x="5354241" y="2106930"/>
            <a:ext cx="241304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生成并逐页审查</a:t>
            </a:r>
            <a:endParaRPr lang="zh-CN" sz="1800" dirty="0"/>
          </a:p>
        </p:txBody>
      </p:sp>
      <p:sp>
        <p:nvSpPr>
          <p:cNvPr id="29" name="Shape 21"/>
          <p:cNvSpPr/>
          <p:nvPr/>
        </p:nvSpPr>
        <p:spPr>
          <a:xfrm>
            <a:off x="4424601" y="2430780"/>
            <a:ext cx="3342680" cy="762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30" name="Text 22"/>
          <p:cNvSpPr/>
          <p:nvPr/>
        </p:nvSpPr>
        <p:spPr>
          <a:xfrm>
            <a:off x="4424601" y="2537460"/>
            <a:ext cx="33426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先确定本页问题与信息层级。</a:t>
            </a:r>
            <a:endParaRPr lang="zh-CN" sz="1600" dirty="0"/>
          </a:p>
        </p:txBody>
      </p:sp>
      <p:sp>
        <p:nvSpPr>
          <p:cNvPr id="31" name="Text 23"/>
          <p:cNvSpPr/>
          <p:nvPr/>
        </p:nvSpPr>
        <p:spPr>
          <a:xfrm>
            <a:off x="4424601" y="2928580"/>
            <a:ext cx="33426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每个板块通常不超过四点。</a:t>
            </a:r>
            <a:endParaRPr lang="zh-CN" sz="1600" dirty="0"/>
          </a:p>
        </p:txBody>
      </p:sp>
      <p:sp>
        <p:nvSpPr>
          <p:cNvPr id="32" name="Text 24"/>
          <p:cNvSpPr/>
          <p:nvPr/>
        </p:nvSpPr>
        <p:spPr>
          <a:xfrm>
            <a:off x="4424601" y="3319701"/>
            <a:ext cx="33426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按内容选择公式或图表版式。</a:t>
            </a:r>
            <a:endParaRPr lang="zh-CN" sz="1600" dirty="0"/>
          </a:p>
        </p:txBody>
      </p:sp>
      <p:sp>
        <p:nvSpPr>
          <p:cNvPr id="33" name="Text 25"/>
          <p:cNvSpPr/>
          <p:nvPr/>
        </p:nvSpPr>
        <p:spPr>
          <a:xfrm>
            <a:off x="4424601" y="3710821"/>
            <a:ext cx="33426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复查对齐、孤字与文字遮挡。</a:t>
            </a:r>
            <a:endParaRPr lang="zh-CN" sz="1600" dirty="0"/>
          </a:p>
        </p:txBody>
      </p:sp>
      <p:sp>
        <p:nvSpPr>
          <p:cNvPr id="34" name="Text 26"/>
          <p:cNvSpPr/>
          <p:nvPr/>
        </p:nvSpPr>
        <p:spPr>
          <a:xfrm>
            <a:off x="4424601" y="4251722"/>
            <a:ext cx="33426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b="1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本环节交付</a:t>
            </a:r>
            <a:endParaRPr lang="zh-CN" sz="1600" dirty="0"/>
          </a:p>
        </p:txBody>
      </p:sp>
      <p:sp>
        <p:nvSpPr>
          <p:cNvPr id="35" name="Text 27"/>
          <p:cNvSpPr/>
          <p:nvPr/>
        </p:nvSpPr>
        <p:spPr>
          <a:xfrm>
            <a:off x="4424601" y="4665702"/>
            <a:ext cx="3387130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 eaLnBrk="1" latinLnBrk="0" hangingPunct="1">
              <a:lnSpc>
                <a:spcPts val="1960"/>
              </a:lnSpc>
              <a:buNone/>
            </a:pPr>
            <a:r>
              <a:rPr lang="zh-CN" altLang="en-US" sz="14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交付初版 HTML，核对章节顺序与页码；标明证据位置和需人工确认的问题。</a:t>
            </a:r>
            <a:endParaRPr lang="zh-CN" sz="1400" dirty="0"/>
          </a:p>
        </p:txBody>
      </p:sp>
      <p:sp>
        <p:nvSpPr>
          <p:cNvPr id="36" name="Shape 28"/>
          <p:cNvSpPr/>
          <p:nvPr/>
        </p:nvSpPr>
        <p:spPr>
          <a:xfrm>
            <a:off x="8102560" y="1950720"/>
            <a:ext cx="3647361" cy="3581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76880" y="2072640"/>
            <a:ext cx="685800" cy="365760"/>
          </a:xfrm>
          <a:prstGeom prst="rect">
            <a:avLst/>
          </a:prstGeom>
        </p:spPr>
      </p:pic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54960" y="2072640"/>
            <a:ext cx="685800" cy="365760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8346400" y="2090499"/>
            <a:ext cx="254079" cy="330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600"/>
              </a:lnSpc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03</a:t>
            </a:r>
            <a:endParaRPr lang="zh-CN" sz="2000" dirty="0"/>
          </a:p>
        </p:txBody>
      </p:sp>
      <p:sp>
        <p:nvSpPr>
          <p:cNvPr id="40" name="Text 30"/>
          <p:cNvSpPr/>
          <p:nvPr/>
        </p:nvSpPr>
        <p:spPr>
          <a:xfrm>
            <a:off x="9184600" y="2106930"/>
            <a:ext cx="2412921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打开 HTML 继续编辑</a:t>
            </a:r>
            <a:endParaRPr lang="zh-CN" sz="1800" dirty="0"/>
          </a:p>
        </p:txBody>
      </p:sp>
      <p:sp>
        <p:nvSpPr>
          <p:cNvPr id="41" name="Shape 31"/>
          <p:cNvSpPr/>
          <p:nvPr/>
        </p:nvSpPr>
        <p:spPr>
          <a:xfrm>
            <a:off x="8254960" y="2430780"/>
            <a:ext cx="3342561" cy="762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42" name="Text 32"/>
          <p:cNvSpPr/>
          <p:nvPr/>
        </p:nvSpPr>
        <p:spPr>
          <a:xfrm>
            <a:off x="8254960" y="2537460"/>
            <a:ext cx="3342561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手动调整加粗、颜色与行距。</a:t>
            </a:r>
            <a:endParaRPr lang="zh-CN" sz="1600" dirty="0"/>
          </a:p>
        </p:txBody>
      </p:sp>
      <p:sp>
        <p:nvSpPr>
          <p:cNvPr id="43" name="Text 33"/>
          <p:cNvSpPr/>
          <p:nvPr/>
        </p:nvSpPr>
        <p:spPr>
          <a:xfrm>
            <a:off x="8254960" y="2928580"/>
            <a:ext cx="3342561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换图后检查裁剪比例与取景。</a:t>
            </a:r>
            <a:endParaRPr lang="zh-CN" sz="1600" dirty="0"/>
          </a:p>
        </p:txBody>
      </p:sp>
      <p:sp>
        <p:nvSpPr>
          <p:cNvPr id="44" name="Text 34"/>
          <p:cNvSpPr/>
          <p:nvPr/>
        </p:nvSpPr>
        <p:spPr>
          <a:xfrm>
            <a:off x="8254960" y="3319701"/>
            <a:ext cx="3342561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补充每页讲解备注并试讲一遍。</a:t>
            </a:r>
            <a:endParaRPr lang="zh-CN" sz="1600" dirty="0"/>
          </a:p>
        </p:txBody>
      </p:sp>
      <p:sp>
        <p:nvSpPr>
          <p:cNvPr id="45" name="Text 35"/>
          <p:cNvSpPr/>
          <p:nvPr/>
        </p:nvSpPr>
        <p:spPr>
          <a:xfrm>
            <a:off x="8254960" y="3710821"/>
            <a:ext cx="3342561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保存源稿，再导出 PDF 与 PPTX。</a:t>
            </a:r>
            <a:endParaRPr lang="zh-CN" sz="1600" dirty="0"/>
          </a:p>
        </p:txBody>
      </p:sp>
      <p:sp>
        <p:nvSpPr>
          <p:cNvPr id="46" name="Text 36"/>
          <p:cNvSpPr/>
          <p:nvPr/>
        </p:nvSpPr>
        <p:spPr>
          <a:xfrm>
            <a:off x="8254960" y="4251722"/>
            <a:ext cx="3342561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b="1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本环节交付</a:t>
            </a:r>
            <a:endParaRPr lang="zh-CN" sz="1600" dirty="0"/>
          </a:p>
        </p:txBody>
      </p:sp>
      <p:sp>
        <p:nvSpPr>
          <p:cNvPr id="47" name="Text 37"/>
          <p:cNvSpPr/>
          <p:nvPr/>
        </p:nvSpPr>
        <p:spPr>
          <a:xfrm>
            <a:off x="8254960" y="4665702"/>
            <a:ext cx="3387011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 eaLnBrk="1" latinLnBrk="0" hangingPunct="1">
              <a:lnSpc>
                <a:spcPts val="1960"/>
              </a:lnSpc>
              <a:buNone/>
            </a:pPr>
            <a:r>
              <a:rPr lang="zh-CN" altLang="en-US" sz="14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交付确认后的源稿与导出文件；逐页试讲，核对字体、媒体播放及引用链接。</a:t>
            </a:r>
            <a:endParaRPr lang="zh-CN" sz="1400" dirty="0"/>
          </a:p>
        </p:txBody>
      </p:sp>
      <p:sp>
        <p:nvSpPr>
          <p:cNvPr id="48" name="Shape 38"/>
          <p:cNvSpPr/>
          <p:nvPr/>
        </p:nvSpPr>
        <p:spPr>
          <a:xfrm>
            <a:off x="441960" y="5715000"/>
            <a:ext cx="11308080" cy="45720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49" name="Text 39"/>
          <p:cNvSpPr/>
          <p:nvPr/>
        </p:nvSpPr>
        <p:spPr>
          <a:xfrm>
            <a:off x="609600" y="5791200"/>
            <a:ext cx="109728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400"/>
              </a:lnSpc>
              <a:buNone/>
            </a:pPr>
            <a:r>
              <a:rPr lang="zh-CN" alt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协作成果是一份可继续编辑的 HTML：材料可追踪，版式可调整，交付前逐页复核。</a:t>
            </a:r>
            <a:endParaRPr lang="zh-CN" sz="1600" dirty="0"/>
          </a:p>
        </p:txBody>
      </p:sp>
      <p:sp>
        <p:nvSpPr>
          <p:cNvPr id="50" name="Text 40"/>
          <p:cNvSpPr/>
          <p:nvPr/>
        </p:nvSpPr>
        <p:spPr>
          <a:xfrm>
            <a:off x="441960" y="6485334"/>
            <a:ext cx="2971800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丽水学院 · Web Slide 示例</a:t>
            </a:r>
            <a:endParaRPr lang="zh-CN" sz="1020" dirty="0"/>
          </a:p>
        </p:txBody>
      </p:sp>
      <p:sp>
        <p:nvSpPr>
          <p:cNvPr id="51" name="Text 41"/>
          <p:cNvSpPr/>
          <p:nvPr/>
        </p:nvSpPr>
        <p:spPr>
          <a:xfrm>
            <a:off x="3596640" y="6485334"/>
            <a:ext cx="7534632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版式及操作示例，使用真实材料时请核对数据与来源。</a:t>
            </a:r>
            <a:endParaRPr lang="zh-CN" sz="1020" dirty="0"/>
          </a:p>
        </p:txBody>
      </p:sp>
      <p:sp>
        <p:nvSpPr>
          <p:cNvPr id="52" name="Text 42"/>
          <p:cNvSpPr/>
          <p:nvPr/>
        </p:nvSpPr>
        <p:spPr>
          <a:xfrm>
            <a:off x="11314152" y="6485334"/>
            <a:ext cx="435888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/ 30</a:t>
            </a:r>
            <a:endParaRPr lang="zh-CN" sz="1020" dirty="0"/>
          </a:p>
        </p:txBody>
      </p:sp>
      <p:sp>
        <p:nvSpPr>
          <p:cNvPr id="53" name="Shape 43"/>
          <p:cNvSpPr/>
          <p:nvPr/>
        </p:nvSpPr>
        <p:spPr>
          <a:xfrm>
            <a:off x="441960" y="6355080"/>
            <a:ext cx="11308080" cy="7620"/>
          </a:xfrm>
          <a:prstGeom prst="rect">
            <a:avLst/>
          </a:prstGeom>
          <a:solidFill>
            <a:srgbClr val="D8E2E9"/>
          </a:solidFill>
          <a:ln w="12700">
            <a:solidFill>
              <a:srgbClr val="D8E2E9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753600" cy="5334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753600" y="0"/>
            <a:ext cx="2438400" cy="5334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41960" y="259080"/>
            <a:ext cx="289560" cy="228600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80060" y="259080"/>
            <a:ext cx="2133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buNone/>
            </a:pPr>
            <a:r>
              <a:rPr lang="zh-CN" altLang="en-US" sz="1200" b="1" dirty="0">
                <a:solidFill>
                  <a:srgbClr val="0F66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zh-CN" sz="1200" dirty="0"/>
          </a:p>
        </p:txBody>
      </p:sp>
      <p:sp>
        <p:nvSpPr>
          <p:cNvPr id="7" name="Text 4"/>
          <p:cNvSpPr/>
          <p:nvPr/>
        </p:nvSpPr>
        <p:spPr>
          <a:xfrm>
            <a:off x="838200" y="235625"/>
            <a:ext cx="9768840" cy="275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70"/>
              </a:lnSpc>
              <a:buNone/>
            </a:pPr>
            <a:r>
              <a:rPr lang="zh-CN" altLang="en-US" sz="14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制作起步</a:t>
            </a:r>
            <a:endParaRPr lang="zh-CN" sz="1400" dirty="0"/>
          </a:p>
        </p:txBody>
      </p:sp>
      <p:sp>
        <p:nvSpPr>
          <p:cNvPr id="8" name="Text 5"/>
          <p:cNvSpPr/>
          <p:nvPr/>
        </p:nvSpPr>
        <p:spPr>
          <a:xfrm>
            <a:off x="441960" y="609600"/>
            <a:ext cx="10165080" cy="433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3416"/>
              </a:lnSpc>
              <a:buNone/>
            </a:pPr>
            <a:r>
              <a:rPr lang="zh-CN" altLang="en-US" sz="28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学校概况与办学沿革</a:t>
            </a:r>
            <a:endParaRPr lang="zh-CN" sz="2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01930"/>
            <a:ext cx="914400" cy="9144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41960" y="1264920"/>
            <a:ext cx="11308080" cy="1524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41960" y="1463040"/>
            <a:ext cx="11308080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从处州师范学堂到丽水学院，学校坚持“明德笃行”，在师范教育基础上拓展多学科办学，面向地方需求推进应用型人才培养与科研服务。</a:t>
            </a:r>
            <a:endParaRPr lang="zh-CN" sz="16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960" y="5730240"/>
            <a:ext cx="11308080" cy="47244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685800" y="2331720"/>
            <a:ext cx="2613660" cy="3276600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685800" y="2331720"/>
            <a:ext cx="2613660" cy="44196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807720" y="2377440"/>
            <a:ext cx="2369820" cy="350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760"/>
              </a:lnSpc>
              <a:buNone/>
            </a:pPr>
            <a:r>
              <a:rPr lang="zh-CN" alt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1907年</a:t>
            </a:r>
            <a:endParaRPr lang="zh-CN" sz="24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720" y="2895600"/>
            <a:ext cx="2369820" cy="115597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07720" y="4173498"/>
            <a:ext cx="2414270" cy="13433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 eaLnBrk="1" latinLnBrk="0" hangingPunct="1">
              <a:lnSpc>
                <a:spcPts val="2100"/>
              </a:lnSpc>
              <a:buNone/>
            </a:pPr>
            <a:r>
              <a:rPr lang="zh-CN" altLang="en-US" sz="14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办学源流可追溯至1907年创办的处州师范学堂。以师范教育为起点，逐步形成服务地方教育发展的办学传统。</a:t>
            </a:r>
            <a:endParaRPr lang="zh-CN" sz="1400" dirty="0"/>
          </a:p>
        </p:txBody>
      </p:sp>
      <p:sp>
        <p:nvSpPr>
          <p:cNvPr id="18" name="Text 12"/>
          <p:cNvSpPr/>
          <p:nvPr/>
        </p:nvSpPr>
        <p:spPr>
          <a:xfrm>
            <a:off x="838200" y="5823585"/>
            <a:ext cx="13716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250"/>
              </a:lnSpc>
              <a:buNone/>
            </a:pPr>
            <a:r>
              <a:rPr lang="zh-CN" altLang="en-US" sz="18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师范薪火初传</a:t>
            </a:r>
            <a:endParaRPr lang="zh-CN" sz="180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560" y="2331720"/>
            <a:ext cx="30480" cy="3634740"/>
          </a:xfrm>
          <a:prstGeom prst="rect">
            <a:avLst/>
          </a:prstGeom>
        </p:spPr>
      </p:pic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5875020"/>
            <a:ext cx="182880" cy="182880"/>
          </a:xfrm>
          <a:prstGeom prst="rect">
            <a:avLst/>
          </a:prstGeom>
        </p:spPr>
      </p:pic>
      <p:sp>
        <p:nvSpPr>
          <p:cNvPr id="21" name="Shape 13"/>
          <p:cNvSpPr/>
          <p:nvPr/>
        </p:nvSpPr>
        <p:spPr>
          <a:xfrm>
            <a:off x="3421380" y="2331720"/>
            <a:ext cx="2613660" cy="3276600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sp>
        <p:nvSpPr>
          <p:cNvPr id="22" name="Shape 14"/>
          <p:cNvSpPr/>
          <p:nvPr/>
        </p:nvSpPr>
        <p:spPr>
          <a:xfrm>
            <a:off x="3421380" y="2331720"/>
            <a:ext cx="2613660" cy="44196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23" name="Text 15"/>
          <p:cNvSpPr/>
          <p:nvPr/>
        </p:nvSpPr>
        <p:spPr>
          <a:xfrm>
            <a:off x="3543300" y="2377440"/>
            <a:ext cx="2369820" cy="350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760"/>
              </a:lnSpc>
              <a:buNone/>
            </a:pPr>
            <a:r>
              <a:rPr lang="zh-CN" alt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1946年</a:t>
            </a:r>
            <a:endParaRPr lang="zh-CN" sz="2400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43300" y="2895600"/>
            <a:ext cx="2369820" cy="1155978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3543300" y="4173498"/>
            <a:ext cx="2414270" cy="13433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 eaLnBrk="1" latinLnBrk="0" hangingPunct="1">
              <a:lnSpc>
                <a:spcPts val="2100"/>
              </a:lnSpc>
              <a:buNone/>
            </a:pPr>
            <a:r>
              <a:rPr lang="zh-CN" altLang="en-US" sz="14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抗战胜利后，在云和重建浙江省处州师范学校。此后迁回丽水，在办学条件恢复中延续师范教育传统与人才培养。</a:t>
            </a:r>
            <a:endParaRPr lang="zh-CN" sz="1400" dirty="0"/>
          </a:p>
        </p:txBody>
      </p:sp>
      <p:sp>
        <p:nvSpPr>
          <p:cNvPr id="26" name="Text 17"/>
          <p:cNvSpPr/>
          <p:nvPr/>
        </p:nvSpPr>
        <p:spPr>
          <a:xfrm>
            <a:off x="3573780" y="5823585"/>
            <a:ext cx="13716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250"/>
              </a:lnSpc>
              <a:buNone/>
            </a:pPr>
            <a:r>
              <a:rPr lang="zh-CN" altLang="en-US" sz="18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重建延续文脉</a:t>
            </a:r>
            <a:endParaRPr lang="zh-CN" sz="1800" dirty="0"/>
          </a:p>
        </p:txBody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06140" y="2331720"/>
            <a:ext cx="30480" cy="3634740"/>
          </a:xfrm>
          <a:prstGeom prst="rect">
            <a:avLst/>
          </a:prstGeom>
        </p:spPr>
      </p:pic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29940" y="5875020"/>
            <a:ext cx="182880" cy="182880"/>
          </a:xfrm>
          <a:prstGeom prst="rect">
            <a:avLst/>
          </a:prstGeom>
        </p:spPr>
      </p:pic>
      <p:sp>
        <p:nvSpPr>
          <p:cNvPr id="29" name="Shape 18"/>
          <p:cNvSpPr/>
          <p:nvPr/>
        </p:nvSpPr>
        <p:spPr>
          <a:xfrm>
            <a:off x="6156960" y="2331720"/>
            <a:ext cx="2613660" cy="3276600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sp>
        <p:nvSpPr>
          <p:cNvPr id="30" name="Shape 19"/>
          <p:cNvSpPr/>
          <p:nvPr/>
        </p:nvSpPr>
        <p:spPr>
          <a:xfrm>
            <a:off x="6156960" y="2331720"/>
            <a:ext cx="2613660" cy="44196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31" name="Text 20"/>
          <p:cNvSpPr/>
          <p:nvPr/>
        </p:nvSpPr>
        <p:spPr>
          <a:xfrm>
            <a:off x="6278880" y="2377440"/>
            <a:ext cx="2369820" cy="350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760"/>
              </a:lnSpc>
              <a:buNone/>
            </a:pPr>
            <a:r>
              <a:rPr lang="zh-CN" alt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2004年</a:t>
            </a:r>
            <a:endParaRPr lang="zh-CN" sz="2400" dirty="0"/>
          </a:p>
        </p:txBody>
      </p:sp>
      <p:pic>
        <p:nvPicPr>
          <p:cNvPr id="3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78880" y="2895600"/>
            <a:ext cx="2369820" cy="1155978"/>
          </a:xfrm>
          <a:prstGeom prst="rect">
            <a:avLst/>
          </a:prstGeom>
        </p:spPr>
      </p:pic>
      <p:sp>
        <p:nvSpPr>
          <p:cNvPr id="33" name="Text 21"/>
          <p:cNvSpPr/>
          <p:nvPr/>
        </p:nvSpPr>
        <p:spPr>
          <a:xfrm>
            <a:off x="6278880" y="4173498"/>
            <a:ext cx="2414270" cy="13433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 eaLnBrk="1" latinLnBrk="0" hangingPunct="1">
              <a:lnSpc>
                <a:spcPts val="2100"/>
              </a:lnSpc>
              <a:buNone/>
            </a:pPr>
            <a:r>
              <a:rPr lang="zh-CN" altLang="en-US" sz="14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经教育部批准，学校升格更名为丽水学院。在原有办学基础上拓展本科教育，逐步形成多学科协调发展的格局。</a:t>
            </a:r>
            <a:endParaRPr lang="zh-CN" sz="1400" dirty="0"/>
          </a:p>
        </p:txBody>
      </p:sp>
      <p:sp>
        <p:nvSpPr>
          <p:cNvPr id="34" name="Text 22"/>
          <p:cNvSpPr/>
          <p:nvPr/>
        </p:nvSpPr>
        <p:spPr>
          <a:xfrm>
            <a:off x="6309360" y="5823585"/>
            <a:ext cx="13716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250"/>
              </a:lnSpc>
              <a:buNone/>
            </a:pPr>
            <a:r>
              <a:rPr lang="zh-CN" altLang="en-US" sz="18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升本拓展格局</a:t>
            </a:r>
            <a:endParaRPr lang="zh-CN" sz="1800" dirty="0"/>
          </a:p>
        </p:txBody>
      </p:sp>
      <p:pic>
        <p:nvPicPr>
          <p:cNvPr id="3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41720" y="2331720"/>
            <a:ext cx="30480" cy="3634740"/>
          </a:xfrm>
          <a:prstGeom prst="rect">
            <a:avLst/>
          </a:prstGeom>
        </p:spPr>
      </p:pic>
      <p:pic>
        <p:nvPicPr>
          <p:cNvPr id="3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65520" y="5875020"/>
            <a:ext cx="182880" cy="182880"/>
          </a:xfrm>
          <a:prstGeom prst="rect">
            <a:avLst/>
          </a:prstGeom>
        </p:spPr>
      </p:pic>
      <p:sp>
        <p:nvSpPr>
          <p:cNvPr id="37" name="Shape 23"/>
          <p:cNvSpPr/>
          <p:nvPr/>
        </p:nvSpPr>
        <p:spPr>
          <a:xfrm>
            <a:off x="8892540" y="2331720"/>
            <a:ext cx="2613660" cy="3276600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sp>
        <p:nvSpPr>
          <p:cNvPr id="38" name="Shape 24"/>
          <p:cNvSpPr/>
          <p:nvPr/>
        </p:nvSpPr>
        <p:spPr>
          <a:xfrm>
            <a:off x="8892540" y="2331720"/>
            <a:ext cx="2613660" cy="44196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39" name="Text 25"/>
          <p:cNvSpPr/>
          <p:nvPr/>
        </p:nvSpPr>
        <p:spPr>
          <a:xfrm>
            <a:off x="9014460" y="2377440"/>
            <a:ext cx="2369820" cy="350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760"/>
              </a:lnSpc>
              <a:buNone/>
            </a:pPr>
            <a:r>
              <a:rPr lang="zh-CN" alt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新时代</a:t>
            </a:r>
            <a:endParaRPr lang="zh-CN" sz="2400" dirty="0"/>
          </a:p>
        </p:txBody>
      </p:sp>
      <p:pic>
        <p:nvPicPr>
          <p:cNvPr id="40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014460" y="2895600"/>
            <a:ext cx="2369820" cy="1155978"/>
          </a:xfrm>
          <a:prstGeom prst="rect">
            <a:avLst/>
          </a:prstGeom>
        </p:spPr>
      </p:pic>
      <p:sp>
        <p:nvSpPr>
          <p:cNvPr id="41" name="Text 26"/>
          <p:cNvSpPr/>
          <p:nvPr/>
        </p:nvSpPr>
        <p:spPr>
          <a:xfrm>
            <a:off x="9014460" y="4173498"/>
            <a:ext cx="2414270" cy="13433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 eaLnBrk="1" latinLnBrk="0" hangingPunct="1">
              <a:lnSpc>
                <a:spcPts val="2100"/>
              </a:lnSpc>
              <a:buNone/>
            </a:pPr>
            <a:r>
              <a:rPr lang="zh-CN" altLang="en-US" sz="14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坚持应用型办学方向，立足丽水、面向区域发展需要。围绕人才培养与科研服务，推进学科建设与产教协同发展。</a:t>
            </a:r>
            <a:endParaRPr lang="zh-CN" sz="1400" dirty="0"/>
          </a:p>
        </p:txBody>
      </p:sp>
      <p:sp>
        <p:nvSpPr>
          <p:cNvPr id="42" name="Text 27"/>
          <p:cNvSpPr/>
          <p:nvPr/>
        </p:nvSpPr>
        <p:spPr>
          <a:xfrm>
            <a:off x="9044940" y="5823585"/>
            <a:ext cx="13716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250"/>
              </a:lnSpc>
              <a:buNone/>
            </a:pPr>
            <a:r>
              <a:rPr lang="zh-CN" altLang="en-US" sz="18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服务地方发展</a:t>
            </a:r>
            <a:endParaRPr lang="zh-CN" sz="1800" dirty="0"/>
          </a:p>
        </p:txBody>
      </p:sp>
      <p:pic>
        <p:nvPicPr>
          <p:cNvPr id="43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877300" y="2331720"/>
            <a:ext cx="30480" cy="3634740"/>
          </a:xfrm>
          <a:prstGeom prst="rect">
            <a:avLst/>
          </a:prstGeom>
        </p:spPr>
      </p:pic>
      <p:pic>
        <p:nvPicPr>
          <p:cNvPr id="44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801100" y="5875020"/>
            <a:ext cx="182880" cy="182880"/>
          </a:xfrm>
          <a:prstGeom prst="rect">
            <a:avLst/>
          </a:prstGeom>
        </p:spPr>
      </p:pic>
      <p:sp>
        <p:nvSpPr>
          <p:cNvPr id="45" name="Text 28"/>
          <p:cNvSpPr/>
          <p:nvPr/>
        </p:nvSpPr>
        <p:spPr>
          <a:xfrm>
            <a:off x="441960" y="6485334"/>
            <a:ext cx="2971800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丽水学院 · 科研汇报模板</a:t>
            </a:r>
            <a:endParaRPr lang="zh-CN" sz="1020" dirty="0"/>
          </a:p>
        </p:txBody>
      </p:sp>
      <p:sp>
        <p:nvSpPr>
          <p:cNvPr id="46" name="Text 29">
            <a:hlinkClick r:id="rId15" tooltip=""/>
          </p:cNvPr>
          <p:cNvSpPr/>
          <p:nvPr/>
        </p:nvSpPr>
        <p:spPr>
          <a:xfrm>
            <a:off x="3596640" y="6485334"/>
            <a:ext cx="7534632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u="sng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来源：丽水学院官网·学校概况与历史沿革；配图为校史／校园资料，非逐年实景</a:t>
            </a:r>
            <a:endParaRPr lang="zh-CN" sz="1020" dirty="0"/>
          </a:p>
        </p:txBody>
      </p:sp>
      <p:sp>
        <p:nvSpPr>
          <p:cNvPr id="47" name="Text 30"/>
          <p:cNvSpPr/>
          <p:nvPr/>
        </p:nvSpPr>
        <p:spPr>
          <a:xfrm>
            <a:off x="11314152" y="6485334"/>
            <a:ext cx="435888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/ 30</a:t>
            </a:r>
            <a:endParaRPr lang="zh-CN" sz="1020" dirty="0"/>
          </a:p>
        </p:txBody>
      </p:sp>
      <p:sp>
        <p:nvSpPr>
          <p:cNvPr id="48" name="Shape 31"/>
          <p:cNvSpPr/>
          <p:nvPr/>
        </p:nvSpPr>
        <p:spPr>
          <a:xfrm>
            <a:off x="441960" y="6355080"/>
            <a:ext cx="11308080" cy="7620"/>
          </a:xfrm>
          <a:prstGeom prst="rect">
            <a:avLst/>
          </a:prstGeom>
          <a:solidFill>
            <a:srgbClr val="D8E2E9"/>
          </a:solidFill>
          <a:ln w="12700">
            <a:solidFill>
              <a:srgbClr val="D8E2E9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753600" cy="5334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753600" y="0"/>
            <a:ext cx="2438400" cy="5334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219200" y="2282428"/>
            <a:ext cx="9753600" cy="1005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7920"/>
              </a:lnSpc>
              <a:buNone/>
            </a:pPr>
            <a:r>
              <a:rPr lang="zh-CN" altLang="en-US" sz="72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zh-CN" sz="7200" dirty="0"/>
          </a:p>
        </p:txBody>
      </p:sp>
      <p:sp>
        <p:nvSpPr>
          <p:cNvPr id="6" name="Shape 3"/>
          <p:cNvSpPr/>
          <p:nvPr/>
        </p:nvSpPr>
        <p:spPr>
          <a:xfrm>
            <a:off x="5810250" y="3516868"/>
            <a:ext cx="571500" cy="3048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219200" y="3775948"/>
            <a:ext cx="9753600" cy="576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4536"/>
              </a:lnSpc>
              <a:buNone/>
            </a:pPr>
            <a:r>
              <a:rPr lang="zh-CN" altLang="en-US" sz="3360" b="1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模块与内容</a:t>
            </a:r>
            <a:endParaRPr lang="zh-CN" sz="3360" dirty="0"/>
          </a:p>
        </p:txBody>
      </p:sp>
      <p:sp>
        <p:nvSpPr>
          <p:cNvPr id="8" name="Text 5"/>
          <p:cNvSpPr/>
          <p:nvPr/>
        </p:nvSpPr>
        <p:spPr>
          <a:xfrm>
            <a:off x="1219200" y="4489133"/>
            <a:ext cx="975360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607B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按信息类型插入模块，再按阅读顺序分配空间。</a:t>
            </a:r>
            <a:endParaRPr lang="zh-CN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753600" cy="5334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753600" y="0"/>
            <a:ext cx="2438400" cy="5334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41960" y="259080"/>
            <a:ext cx="289560" cy="228600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80060" y="259080"/>
            <a:ext cx="2133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buNone/>
            </a:pPr>
            <a:r>
              <a:rPr lang="zh-CN" altLang="en-US" sz="1200" b="1" dirty="0">
                <a:solidFill>
                  <a:srgbClr val="0F66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zh-CN" sz="1200" dirty="0"/>
          </a:p>
        </p:txBody>
      </p:sp>
      <p:sp>
        <p:nvSpPr>
          <p:cNvPr id="7" name="Text 4"/>
          <p:cNvSpPr/>
          <p:nvPr/>
        </p:nvSpPr>
        <p:spPr>
          <a:xfrm>
            <a:off x="838200" y="235625"/>
            <a:ext cx="9768840" cy="275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70"/>
              </a:lnSpc>
              <a:buNone/>
            </a:pPr>
            <a:r>
              <a:rPr lang="zh-CN" altLang="en-US" sz="14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模块与内容</a:t>
            </a:r>
            <a:endParaRPr lang="zh-CN" sz="1400" dirty="0"/>
          </a:p>
        </p:txBody>
      </p:sp>
      <p:sp>
        <p:nvSpPr>
          <p:cNvPr id="8" name="Text 5"/>
          <p:cNvSpPr/>
          <p:nvPr/>
        </p:nvSpPr>
        <p:spPr>
          <a:xfrm>
            <a:off x="441960" y="609600"/>
            <a:ext cx="10165080" cy="433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3416"/>
              </a:lnSpc>
              <a:buNone/>
            </a:pPr>
            <a:r>
              <a:rPr lang="zh-CN" altLang="en-US" sz="28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四类模块，各有自己的任务</a:t>
            </a:r>
            <a:endParaRPr lang="zh-CN" sz="2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01930"/>
            <a:ext cx="914400" cy="9144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41960" y="1264920"/>
            <a:ext cx="11308080" cy="1524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41960" y="1463040"/>
            <a:ext cx="113080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编辑内容与编辑模块分开进行：先决定区域结构，再填写文字、图像和数据。</a:t>
            </a:r>
            <a:endParaRPr lang="zh-CN" sz="1600" dirty="0"/>
          </a:p>
        </p:txBody>
      </p:sp>
      <p:sp>
        <p:nvSpPr>
          <p:cNvPr id="12" name="Shape 8"/>
          <p:cNvSpPr/>
          <p:nvPr/>
        </p:nvSpPr>
        <p:spPr>
          <a:xfrm>
            <a:off x="441960" y="1950720"/>
            <a:ext cx="5516880" cy="2019300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79120" y="2072640"/>
            <a:ext cx="524256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文字模块</a:t>
            </a:r>
            <a:endParaRPr lang="zh-CN" sz="1800" dirty="0"/>
          </a:p>
        </p:txBody>
      </p:sp>
      <p:sp>
        <p:nvSpPr>
          <p:cNvPr id="14" name="Text 10"/>
          <p:cNvSpPr/>
          <p:nvPr/>
        </p:nvSpPr>
        <p:spPr>
          <a:xfrm>
            <a:off x="579120" y="2476500"/>
            <a:ext cx="524256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概述问题、解释方法、列出研究结论。</a:t>
            </a:r>
            <a:endParaRPr lang="zh-CN" sz="1600" dirty="0"/>
          </a:p>
        </p:txBody>
      </p:sp>
      <p:sp>
        <p:nvSpPr>
          <p:cNvPr id="15" name="Text 11"/>
          <p:cNvSpPr/>
          <p:nvPr/>
        </p:nvSpPr>
        <p:spPr>
          <a:xfrm>
            <a:off x="579120" y="2867620"/>
            <a:ext cx="524256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可设置子区域、列数与列表前导符。</a:t>
            </a:r>
            <a:endParaRPr lang="zh-CN" sz="1600" dirty="0"/>
          </a:p>
        </p:txBody>
      </p:sp>
      <p:sp>
        <p:nvSpPr>
          <p:cNvPr id="16" name="Text 12"/>
          <p:cNvSpPr/>
          <p:nvPr/>
        </p:nvSpPr>
        <p:spPr>
          <a:xfrm>
            <a:off x="579120" y="3258741"/>
            <a:ext cx="524256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样式切换保留原有标题和正文。</a:t>
            </a:r>
            <a:endParaRPr lang="zh-CN" sz="1600" dirty="0"/>
          </a:p>
        </p:txBody>
      </p:sp>
      <p:sp>
        <p:nvSpPr>
          <p:cNvPr id="17" name="Shape 13"/>
          <p:cNvSpPr/>
          <p:nvPr/>
        </p:nvSpPr>
        <p:spPr>
          <a:xfrm>
            <a:off x="6141720" y="1950720"/>
            <a:ext cx="5608320" cy="2019300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278880" y="2072640"/>
            <a:ext cx="533400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表格模块</a:t>
            </a:r>
            <a:endParaRPr lang="zh-CN" sz="1800" dirty="0"/>
          </a:p>
        </p:txBody>
      </p:sp>
      <p:sp>
        <p:nvSpPr>
          <p:cNvPr id="19" name="Text 15"/>
          <p:cNvSpPr/>
          <p:nvPr/>
        </p:nvSpPr>
        <p:spPr>
          <a:xfrm>
            <a:off x="6278880" y="2476500"/>
            <a:ext cx="533400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 Excel、CSV 或粘贴表格数据。</a:t>
            </a:r>
            <a:endParaRPr lang="zh-CN" sz="1600" dirty="0"/>
          </a:p>
        </p:txBody>
      </p:sp>
      <p:sp>
        <p:nvSpPr>
          <p:cNvPr id="20" name="Text 16"/>
          <p:cNvSpPr/>
          <p:nvPr/>
        </p:nvSpPr>
        <p:spPr>
          <a:xfrm>
            <a:off x="6278880" y="2867620"/>
            <a:ext cx="533400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表头深底白字，数值保持必要间距。</a:t>
            </a:r>
            <a:endParaRPr lang="zh-CN" sz="1600" dirty="0"/>
          </a:p>
        </p:txBody>
      </p:sp>
      <p:sp>
        <p:nvSpPr>
          <p:cNvPr id="21" name="Text 17"/>
          <p:cNvSpPr/>
          <p:nvPr/>
        </p:nvSpPr>
        <p:spPr>
          <a:xfrm>
            <a:off x="6278880" y="3258741"/>
            <a:ext cx="533400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表格过密时应扩大区域或拆成两页。</a:t>
            </a:r>
            <a:endParaRPr lang="zh-CN" sz="1600" dirty="0"/>
          </a:p>
        </p:txBody>
      </p:sp>
      <p:sp>
        <p:nvSpPr>
          <p:cNvPr id="22" name="Shape 18"/>
          <p:cNvSpPr/>
          <p:nvPr/>
        </p:nvSpPr>
        <p:spPr>
          <a:xfrm>
            <a:off x="441960" y="4152900"/>
            <a:ext cx="5516880" cy="2019300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441960" y="4152900"/>
            <a:ext cx="5516880" cy="44958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94360" y="4229100"/>
            <a:ext cx="521208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图片／视频模块</a:t>
            </a:r>
            <a:endParaRPr lang="zh-CN" sz="1800" dirty="0"/>
          </a:p>
        </p:txBody>
      </p:sp>
      <p:sp>
        <p:nvSpPr>
          <p:cNvPr id="25" name="Text 21"/>
          <p:cNvSpPr/>
          <p:nvPr/>
        </p:nvSpPr>
        <p:spPr>
          <a:xfrm>
            <a:off x="594360" y="4724400"/>
            <a:ext cx="52120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双击占位区域上传图片或视频。</a:t>
            </a:r>
            <a:endParaRPr lang="zh-CN" sz="1600" dirty="0"/>
          </a:p>
        </p:txBody>
      </p:sp>
      <p:sp>
        <p:nvSpPr>
          <p:cNvPr id="26" name="Text 22"/>
          <p:cNvSpPr/>
          <p:nvPr/>
        </p:nvSpPr>
        <p:spPr>
          <a:xfrm>
            <a:off x="594360" y="5115520"/>
            <a:ext cx="52120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先选裁剪比例，再调整取景位置。</a:t>
            </a:r>
            <a:endParaRPr lang="zh-CN" sz="1600" dirty="0"/>
          </a:p>
        </p:txBody>
      </p:sp>
      <p:sp>
        <p:nvSpPr>
          <p:cNvPr id="27" name="Text 23"/>
          <p:cNvSpPr/>
          <p:nvPr/>
        </p:nvSpPr>
        <p:spPr>
          <a:xfrm>
            <a:off x="594360" y="5506641"/>
            <a:ext cx="52120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图标题和说明在画面下方独立排布。</a:t>
            </a:r>
            <a:endParaRPr lang="zh-CN" sz="1600" dirty="0"/>
          </a:p>
        </p:txBody>
      </p:sp>
      <p:sp>
        <p:nvSpPr>
          <p:cNvPr id="28" name="Shape 24"/>
          <p:cNvSpPr/>
          <p:nvPr/>
        </p:nvSpPr>
        <p:spPr>
          <a:xfrm>
            <a:off x="6141720" y="4152900"/>
            <a:ext cx="5608320" cy="20193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6324600" y="4320540"/>
            <a:ext cx="524256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几何图形模块</a:t>
            </a:r>
            <a:endParaRPr lang="zh-CN" sz="1800" dirty="0"/>
          </a:p>
        </p:txBody>
      </p:sp>
      <p:sp>
        <p:nvSpPr>
          <p:cNvPr id="30" name="Text 26"/>
          <p:cNvSpPr/>
          <p:nvPr/>
        </p:nvSpPr>
        <p:spPr>
          <a:xfrm>
            <a:off x="6324600" y="4724400"/>
            <a:ext cx="524256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用于表达方向或提供适量强调。</a:t>
            </a:r>
            <a:endParaRPr lang="zh-CN" sz="1600" dirty="0"/>
          </a:p>
        </p:txBody>
      </p:sp>
      <p:sp>
        <p:nvSpPr>
          <p:cNvPr id="31" name="Text 27"/>
          <p:cNvSpPr/>
          <p:nvPr/>
        </p:nvSpPr>
        <p:spPr>
          <a:xfrm>
            <a:off x="6324600" y="5115520"/>
            <a:ext cx="524256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几何箭头可按网格单向伸缩。</a:t>
            </a:r>
            <a:endParaRPr lang="zh-CN" sz="1600" dirty="0"/>
          </a:p>
        </p:txBody>
      </p:sp>
      <p:sp>
        <p:nvSpPr>
          <p:cNvPr id="32" name="Text 28"/>
          <p:cNvSpPr/>
          <p:nvPr/>
        </p:nvSpPr>
        <p:spPr>
          <a:xfrm>
            <a:off x="6324600" y="5506641"/>
            <a:ext cx="524256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图片始终等比缩放，不能强行拉长。</a:t>
            </a:r>
            <a:endParaRPr lang="zh-CN" sz="1600" dirty="0"/>
          </a:p>
        </p:txBody>
      </p:sp>
      <p:sp>
        <p:nvSpPr>
          <p:cNvPr id="33" name="Text 29"/>
          <p:cNvSpPr/>
          <p:nvPr/>
        </p:nvSpPr>
        <p:spPr>
          <a:xfrm>
            <a:off x="441960" y="6485334"/>
            <a:ext cx="2971800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丽水学院 · Web Slide 使用示例</a:t>
            </a:r>
            <a:endParaRPr lang="zh-CN" sz="1020" dirty="0"/>
          </a:p>
        </p:txBody>
      </p:sp>
      <p:sp>
        <p:nvSpPr>
          <p:cNvPr id="34" name="Text 30"/>
          <p:cNvSpPr/>
          <p:nvPr/>
        </p:nvSpPr>
        <p:spPr>
          <a:xfrm>
            <a:off x="3596640" y="6485334"/>
            <a:ext cx="7534632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操作示例 · 内容与数据仅作演示</a:t>
            </a:r>
            <a:endParaRPr lang="zh-CN" sz="1020" dirty="0"/>
          </a:p>
        </p:txBody>
      </p:sp>
      <p:sp>
        <p:nvSpPr>
          <p:cNvPr id="35" name="Text 31"/>
          <p:cNvSpPr/>
          <p:nvPr/>
        </p:nvSpPr>
        <p:spPr>
          <a:xfrm>
            <a:off x="11314152" y="6485334"/>
            <a:ext cx="435888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/ 30</a:t>
            </a:r>
            <a:endParaRPr lang="zh-CN" sz="1020" dirty="0"/>
          </a:p>
        </p:txBody>
      </p:sp>
      <p:sp>
        <p:nvSpPr>
          <p:cNvPr id="36" name="Shape 32"/>
          <p:cNvSpPr/>
          <p:nvPr/>
        </p:nvSpPr>
        <p:spPr>
          <a:xfrm>
            <a:off x="441960" y="6355080"/>
            <a:ext cx="11308080" cy="7620"/>
          </a:xfrm>
          <a:prstGeom prst="rect">
            <a:avLst/>
          </a:prstGeom>
          <a:solidFill>
            <a:srgbClr val="D8E2E9"/>
          </a:solidFill>
          <a:ln w="12700">
            <a:solidFill>
              <a:srgbClr val="D8E2E9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753600" cy="5334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753600" y="0"/>
            <a:ext cx="2438400" cy="5334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41960" y="259080"/>
            <a:ext cx="289560" cy="228600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80060" y="259080"/>
            <a:ext cx="2133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buNone/>
            </a:pPr>
            <a:r>
              <a:rPr lang="zh-CN" altLang="en-US" sz="1200" b="1" dirty="0">
                <a:solidFill>
                  <a:srgbClr val="0F66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zh-CN" sz="1200" dirty="0"/>
          </a:p>
        </p:txBody>
      </p:sp>
      <p:sp>
        <p:nvSpPr>
          <p:cNvPr id="7" name="Text 4"/>
          <p:cNvSpPr/>
          <p:nvPr/>
        </p:nvSpPr>
        <p:spPr>
          <a:xfrm>
            <a:off x="838200" y="235625"/>
            <a:ext cx="9768840" cy="275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70"/>
              </a:lnSpc>
              <a:buNone/>
            </a:pPr>
            <a:r>
              <a:rPr lang="zh-CN" altLang="en-US" sz="14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模块与内容</a:t>
            </a:r>
            <a:endParaRPr lang="zh-CN" sz="1400" dirty="0"/>
          </a:p>
        </p:txBody>
      </p:sp>
      <p:sp>
        <p:nvSpPr>
          <p:cNvPr id="8" name="Text 5"/>
          <p:cNvSpPr/>
          <p:nvPr/>
        </p:nvSpPr>
        <p:spPr>
          <a:xfrm>
            <a:off x="441960" y="609600"/>
            <a:ext cx="10165080" cy="433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3416"/>
              </a:lnSpc>
              <a:buNone/>
            </a:pPr>
            <a:r>
              <a:rPr lang="zh-CN" altLang="en-US" sz="28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标题装饰要服务内容层级</a:t>
            </a:r>
            <a:endParaRPr lang="zh-CN" sz="2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01930"/>
            <a:ext cx="914400" cy="9144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41960" y="1264920"/>
            <a:ext cx="11308080" cy="1524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41960" y="1463040"/>
            <a:ext cx="113080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样式编号便于复用：双击文本模块空白处，悬停预览，确认后再应用。</a:t>
            </a:r>
            <a:endParaRPr lang="zh-CN" sz="16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960" y="1950720"/>
            <a:ext cx="5516880" cy="2019300"/>
          </a:xfrm>
          <a:prstGeom prst="rect">
            <a:avLst/>
          </a:prstGeom>
        </p:spPr>
      </p:pic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950720"/>
            <a:ext cx="4635937" cy="464820"/>
          </a:xfrm>
          <a:prstGeom prst="rect">
            <a:avLst/>
          </a:prstGeom>
        </p:spPr>
      </p:pic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2415540"/>
            <a:ext cx="106680" cy="13716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716280" y="2034540"/>
            <a:ext cx="4117777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B1 折角飘带</a:t>
            </a:r>
            <a:endParaRPr lang="zh-CN" sz="1800" dirty="0"/>
          </a:p>
        </p:txBody>
      </p:sp>
      <p:sp>
        <p:nvSpPr>
          <p:cNvPr id="16" name="Text 9"/>
          <p:cNvSpPr/>
          <p:nvPr/>
        </p:nvSpPr>
        <p:spPr>
          <a:xfrm>
            <a:off x="716280" y="2567940"/>
            <a:ext cx="50596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适合概括一组证据或关键步骤。</a:t>
            </a:r>
            <a:endParaRPr lang="zh-CN" sz="1600" dirty="0"/>
          </a:p>
        </p:txBody>
      </p:sp>
      <p:sp>
        <p:nvSpPr>
          <p:cNvPr id="17" name="Text 10"/>
          <p:cNvSpPr/>
          <p:nvPr/>
        </p:nvSpPr>
        <p:spPr>
          <a:xfrm>
            <a:off x="716280" y="2959060"/>
            <a:ext cx="50596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白底文字框与折角边缘保持对齐。</a:t>
            </a:r>
            <a:endParaRPr lang="zh-CN" sz="1600" dirty="0"/>
          </a:p>
        </p:txBody>
      </p:sp>
      <p:sp>
        <p:nvSpPr>
          <p:cNvPr id="18" name="Text 11"/>
          <p:cNvSpPr/>
          <p:nvPr/>
        </p:nvSpPr>
        <p:spPr>
          <a:xfrm>
            <a:off x="716280" y="3350181"/>
            <a:ext cx="50596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标题长度可调，正文仍按标准字号。</a:t>
            </a:r>
            <a:endParaRPr lang="zh-CN" sz="1600" dirty="0"/>
          </a:p>
        </p:txBody>
      </p:sp>
      <p:sp>
        <p:nvSpPr>
          <p:cNvPr id="19" name="Shape 12"/>
          <p:cNvSpPr/>
          <p:nvPr/>
        </p:nvSpPr>
        <p:spPr>
          <a:xfrm>
            <a:off x="6141720" y="1950720"/>
            <a:ext cx="5608320" cy="20193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6776" y="2103120"/>
            <a:ext cx="4718209" cy="45720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6937296" y="2179320"/>
            <a:ext cx="4017169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B2 圆角标题</a:t>
            </a:r>
            <a:endParaRPr lang="zh-CN" sz="1800" dirty="0"/>
          </a:p>
        </p:txBody>
      </p:sp>
      <p:sp>
        <p:nvSpPr>
          <p:cNvPr id="22" name="Text 14"/>
          <p:cNvSpPr/>
          <p:nvPr/>
        </p:nvSpPr>
        <p:spPr>
          <a:xfrm>
            <a:off x="6324600" y="2727960"/>
            <a:ext cx="524256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适合并列的研究方向或工作任务。</a:t>
            </a:r>
            <a:endParaRPr lang="zh-CN" sz="1600" dirty="0"/>
          </a:p>
        </p:txBody>
      </p:sp>
      <p:sp>
        <p:nvSpPr>
          <p:cNvPr id="23" name="Text 15"/>
          <p:cNvSpPr/>
          <p:nvPr/>
        </p:nvSpPr>
        <p:spPr>
          <a:xfrm>
            <a:off x="6324600" y="3119080"/>
            <a:ext cx="524256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深色标题建立清晰的视觉入口。</a:t>
            </a:r>
            <a:endParaRPr lang="zh-CN" sz="1600" dirty="0"/>
          </a:p>
        </p:txBody>
      </p:sp>
      <p:sp>
        <p:nvSpPr>
          <p:cNvPr id="24" name="Text 16"/>
          <p:cNvSpPr/>
          <p:nvPr/>
        </p:nvSpPr>
        <p:spPr>
          <a:xfrm>
            <a:off x="6324600" y="3510201"/>
            <a:ext cx="524256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并列区域应保持相同层级与间隙。</a:t>
            </a:r>
            <a:endParaRPr lang="zh-CN" sz="1600" dirty="0"/>
          </a:p>
        </p:txBody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1960" y="4152900"/>
            <a:ext cx="5516880" cy="2019300"/>
          </a:xfrm>
          <a:prstGeom prst="rect">
            <a:avLst/>
          </a:prstGeom>
        </p:spPr>
      </p:pic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" y="4152900"/>
            <a:ext cx="4635937" cy="464820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716280" y="4236720"/>
            <a:ext cx="4117777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B3 五角箭头</a:t>
            </a:r>
            <a:endParaRPr lang="zh-CN" sz="1800" dirty="0"/>
          </a:p>
        </p:txBody>
      </p:sp>
      <p:sp>
        <p:nvSpPr>
          <p:cNvPr id="28" name="Text 18"/>
          <p:cNvSpPr/>
          <p:nvPr/>
        </p:nvSpPr>
        <p:spPr>
          <a:xfrm>
            <a:off x="624840" y="4770120"/>
            <a:ext cx="515112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适合描述推进过程或方法路径。</a:t>
            </a:r>
            <a:endParaRPr lang="zh-CN" sz="1600" dirty="0"/>
          </a:p>
        </p:txBody>
      </p:sp>
      <p:sp>
        <p:nvSpPr>
          <p:cNvPr id="29" name="Text 19"/>
          <p:cNvSpPr/>
          <p:nvPr/>
        </p:nvSpPr>
        <p:spPr>
          <a:xfrm>
            <a:off x="624840" y="5161240"/>
            <a:ext cx="515112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箭头表达方向，不替代文字说明。</a:t>
            </a:r>
            <a:endParaRPr lang="zh-CN" sz="1600" dirty="0"/>
          </a:p>
        </p:txBody>
      </p:sp>
      <p:sp>
        <p:nvSpPr>
          <p:cNvPr id="30" name="Text 20"/>
          <p:cNvSpPr/>
          <p:nvPr/>
        </p:nvSpPr>
        <p:spPr>
          <a:xfrm>
            <a:off x="624840" y="5552361"/>
            <a:ext cx="515112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控制装饰范围，避免压住正文内容。</a:t>
            </a:r>
            <a:endParaRPr lang="zh-CN" sz="1600" dirty="0"/>
          </a:p>
        </p:txBody>
      </p:sp>
      <p:sp>
        <p:nvSpPr>
          <p:cNvPr id="31" name="Shape 21"/>
          <p:cNvSpPr/>
          <p:nvPr/>
        </p:nvSpPr>
        <p:spPr>
          <a:xfrm>
            <a:off x="6141720" y="4152900"/>
            <a:ext cx="5608320" cy="20193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16040" y="4274820"/>
            <a:ext cx="685800" cy="365760"/>
          </a:xfrm>
          <a:prstGeom prst="rect">
            <a:avLst/>
          </a:prstGeom>
        </p:spPr>
      </p:pic>
      <p:pic>
        <p:nvPicPr>
          <p:cNvPr id="3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94120" y="4274820"/>
            <a:ext cx="685800" cy="365760"/>
          </a:xfrm>
          <a:prstGeom prst="rect">
            <a:avLst/>
          </a:prstGeom>
        </p:spPr>
      </p:pic>
      <p:sp>
        <p:nvSpPr>
          <p:cNvPr id="34" name="Text 22"/>
          <p:cNvSpPr/>
          <p:nvPr/>
        </p:nvSpPr>
        <p:spPr>
          <a:xfrm>
            <a:off x="6385560" y="4292679"/>
            <a:ext cx="254079" cy="330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600"/>
              </a:lnSpc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01</a:t>
            </a:r>
            <a:endParaRPr lang="zh-CN" sz="2000" dirty="0"/>
          </a:p>
        </p:txBody>
      </p:sp>
      <p:sp>
        <p:nvSpPr>
          <p:cNvPr id="35" name="Text 23"/>
          <p:cNvSpPr/>
          <p:nvPr/>
        </p:nvSpPr>
        <p:spPr>
          <a:xfrm>
            <a:off x="7223760" y="4309110"/>
            <a:ext cx="437388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C3 序号标题</a:t>
            </a:r>
            <a:endParaRPr lang="zh-CN" sz="1800" dirty="0"/>
          </a:p>
        </p:txBody>
      </p:sp>
      <p:sp>
        <p:nvSpPr>
          <p:cNvPr id="36" name="Shape 24"/>
          <p:cNvSpPr/>
          <p:nvPr/>
        </p:nvSpPr>
        <p:spPr>
          <a:xfrm>
            <a:off x="6294120" y="4632960"/>
            <a:ext cx="5303520" cy="762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37" name="Text 25"/>
          <p:cNvSpPr/>
          <p:nvPr/>
        </p:nvSpPr>
        <p:spPr>
          <a:xfrm>
            <a:off x="6294120" y="4739640"/>
            <a:ext cx="530352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适合有先后次序的步骤与检查。</a:t>
            </a:r>
            <a:endParaRPr lang="zh-CN" sz="1600" dirty="0"/>
          </a:p>
        </p:txBody>
      </p:sp>
      <p:sp>
        <p:nvSpPr>
          <p:cNvPr id="38" name="Text 26"/>
          <p:cNvSpPr/>
          <p:nvPr/>
        </p:nvSpPr>
        <p:spPr>
          <a:xfrm>
            <a:off x="6294120" y="5130760"/>
            <a:ext cx="530352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序号采用 20 pt Times New Roman 粗体。</a:t>
            </a:r>
            <a:endParaRPr lang="zh-CN" sz="1600" dirty="0"/>
          </a:p>
        </p:txBody>
      </p:sp>
      <p:sp>
        <p:nvSpPr>
          <p:cNvPr id="39" name="Text 27"/>
          <p:cNvSpPr/>
          <p:nvPr/>
        </p:nvSpPr>
        <p:spPr>
          <a:xfrm>
            <a:off x="6294120" y="5521881"/>
            <a:ext cx="530352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正文、子标题和补充注释分层设置。</a:t>
            </a:r>
            <a:endParaRPr lang="zh-CN" sz="1600" dirty="0"/>
          </a:p>
        </p:txBody>
      </p:sp>
      <p:sp>
        <p:nvSpPr>
          <p:cNvPr id="40" name="Text 28"/>
          <p:cNvSpPr/>
          <p:nvPr/>
        </p:nvSpPr>
        <p:spPr>
          <a:xfrm>
            <a:off x="441960" y="6485334"/>
            <a:ext cx="2971800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丽水学院 · Web Slide 使用示例</a:t>
            </a:r>
            <a:endParaRPr lang="zh-CN" sz="1020" dirty="0"/>
          </a:p>
        </p:txBody>
      </p:sp>
      <p:sp>
        <p:nvSpPr>
          <p:cNvPr id="41" name="Text 29"/>
          <p:cNvSpPr/>
          <p:nvPr/>
        </p:nvSpPr>
        <p:spPr>
          <a:xfrm>
            <a:off x="3596640" y="6485334"/>
            <a:ext cx="7534632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操作示例 · 内容与数据仅作演示</a:t>
            </a:r>
            <a:endParaRPr lang="zh-CN" sz="1020" dirty="0"/>
          </a:p>
        </p:txBody>
      </p:sp>
      <p:sp>
        <p:nvSpPr>
          <p:cNvPr id="42" name="Text 30"/>
          <p:cNvSpPr/>
          <p:nvPr/>
        </p:nvSpPr>
        <p:spPr>
          <a:xfrm>
            <a:off x="11314152" y="6485334"/>
            <a:ext cx="435888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/ 30</a:t>
            </a:r>
            <a:endParaRPr lang="zh-CN" sz="1020" dirty="0"/>
          </a:p>
        </p:txBody>
      </p:sp>
      <p:sp>
        <p:nvSpPr>
          <p:cNvPr id="43" name="Shape 31"/>
          <p:cNvSpPr/>
          <p:nvPr/>
        </p:nvSpPr>
        <p:spPr>
          <a:xfrm>
            <a:off x="441960" y="6355080"/>
            <a:ext cx="11308080" cy="7620"/>
          </a:xfrm>
          <a:prstGeom prst="rect">
            <a:avLst/>
          </a:prstGeom>
          <a:solidFill>
            <a:srgbClr val="D8E2E9"/>
          </a:solidFill>
          <a:ln w="12700">
            <a:solidFill>
              <a:srgbClr val="D8E2E9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753600" cy="5334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753600" y="0"/>
            <a:ext cx="2438400" cy="5334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41960" y="259080"/>
            <a:ext cx="289560" cy="228600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80060" y="259080"/>
            <a:ext cx="2133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buNone/>
            </a:pPr>
            <a:r>
              <a:rPr lang="zh-CN" altLang="en-US" sz="1200" b="1" dirty="0">
                <a:solidFill>
                  <a:srgbClr val="0F66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zh-CN" sz="1200" dirty="0"/>
          </a:p>
        </p:txBody>
      </p:sp>
      <p:sp>
        <p:nvSpPr>
          <p:cNvPr id="7" name="Text 4"/>
          <p:cNvSpPr/>
          <p:nvPr/>
        </p:nvSpPr>
        <p:spPr>
          <a:xfrm>
            <a:off x="838200" y="235625"/>
            <a:ext cx="9768840" cy="275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70"/>
              </a:lnSpc>
              <a:buNone/>
            </a:pPr>
            <a:r>
              <a:rPr lang="zh-CN" altLang="en-US" sz="14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模块与内容</a:t>
            </a:r>
            <a:endParaRPr lang="zh-CN" sz="1400" dirty="0"/>
          </a:p>
        </p:txBody>
      </p:sp>
      <p:sp>
        <p:nvSpPr>
          <p:cNvPr id="8" name="Text 5"/>
          <p:cNvSpPr/>
          <p:nvPr/>
        </p:nvSpPr>
        <p:spPr>
          <a:xfrm>
            <a:off x="441960" y="609600"/>
            <a:ext cx="10165080" cy="433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3416"/>
              </a:lnSpc>
              <a:buNone/>
            </a:pPr>
            <a:r>
              <a:rPr lang="zh-CN" altLang="en-US" sz="28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组合分组与备注式说明</a:t>
            </a:r>
            <a:endParaRPr lang="zh-CN" sz="2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01930"/>
            <a:ext cx="914400" cy="9144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41960" y="1264920"/>
            <a:ext cx="11308080" cy="1524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41960" y="1463040"/>
            <a:ext cx="113080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同一页可以组合不同样式，但相同角色应保持相同字号、对齐方式和间距。</a:t>
            </a:r>
            <a:endParaRPr lang="zh-CN" sz="1600" dirty="0"/>
          </a:p>
        </p:txBody>
      </p:sp>
      <p:sp>
        <p:nvSpPr>
          <p:cNvPr id="12" name="Shape 8"/>
          <p:cNvSpPr/>
          <p:nvPr/>
        </p:nvSpPr>
        <p:spPr>
          <a:xfrm>
            <a:off x="441960" y="1950720"/>
            <a:ext cx="5516880" cy="20193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24840" y="2118360"/>
            <a:ext cx="515112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默认样式：直接、清楚</a:t>
            </a:r>
            <a:endParaRPr lang="zh-CN" sz="1800" dirty="0"/>
          </a:p>
        </p:txBody>
      </p:sp>
      <p:sp>
        <p:nvSpPr>
          <p:cNvPr id="14" name="Text 10"/>
          <p:cNvSpPr/>
          <p:nvPr/>
        </p:nvSpPr>
        <p:spPr>
          <a:xfrm>
            <a:off x="624840" y="2522220"/>
            <a:ext cx="515112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适合正文说明与普通研究条目。</a:t>
            </a:r>
            <a:endParaRPr lang="zh-CN" sz="1600" dirty="0"/>
          </a:p>
        </p:txBody>
      </p:sp>
      <p:sp>
        <p:nvSpPr>
          <p:cNvPr id="15" name="Text 11"/>
          <p:cNvSpPr/>
          <p:nvPr/>
        </p:nvSpPr>
        <p:spPr>
          <a:xfrm>
            <a:off x="624840" y="2913340"/>
            <a:ext cx="515112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用小标题和细线组织平行内容。</a:t>
            </a:r>
            <a:endParaRPr lang="zh-CN" sz="1600" dirty="0"/>
          </a:p>
        </p:txBody>
      </p:sp>
      <p:sp>
        <p:nvSpPr>
          <p:cNvPr id="16" name="Text 12"/>
          <p:cNvSpPr/>
          <p:nvPr/>
        </p:nvSpPr>
        <p:spPr>
          <a:xfrm>
            <a:off x="624840" y="3304461"/>
            <a:ext cx="515112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浅色卡片是选择，不是每段都要加。</a:t>
            </a:r>
            <a:endParaRPr lang="zh-CN" sz="1600" dirty="0"/>
          </a:p>
        </p:txBody>
      </p:sp>
      <p:sp>
        <p:nvSpPr>
          <p:cNvPr id="17" name="Shape 13"/>
          <p:cNvSpPr/>
          <p:nvPr/>
        </p:nvSpPr>
        <p:spPr>
          <a:xfrm>
            <a:off x="441960" y="4152900"/>
            <a:ext cx="5516880" cy="2019300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441960" y="4152900"/>
            <a:ext cx="45720" cy="201930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63880" y="4418409"/>
            <a:ext cx="527304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备注式浅底适合补充条件与使用范围。</a:t>
            </a:r>
            <a:endParaRPr lang="zh-CN" sz="1600" dirty="0"/>
          </a:p>
        </p:txBody>
      </p:sp>
      <p:sp>
        <p:nvSpPr>
          <p:cNvPr id="20" name="Text 16"/>
          <p:cNvSpPr/>
          <p:nvPr/>
        </p:nvSpPr>
        <p:spPr>
          <a:xfrm>
            <a:off x="563880" y="4809530"/>
            <a:ext cx="527304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它没有独立标题，避免争夺阅读焦点。</a:t>
            </a:r>
            <a:endParaRPr lang="zh-CN" sz="1600" dirty="0"/>
          </a:p>
        </p:txBody>
      </p:sp>
      <p:sp>
        <p:nvSpPr>
          <p:cNvPr id="21" name="Text 17"/>
          <p:cNvSpPr/>
          <p:nvPr/>
        </p:nvSpPr>
        <p:spPr>
          <a:xfrm>
            <a:off x="563880" y="5200650"/>
            <a:ext cx="527304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说明应与旁边的内容存在明确联系。</a:t>
            </a:r>
            <a:endParaRPr lang="zh-CN" sz="1600" dirty="0"/>
          </a:p>
        </p:txBody>
      </p:sp>
      <p:sp>
        <p:nvSpPr>
          <p:cNvPr id="22" name="Text 18"/>
          <p:cNvSpPr/>
          <p:nvPr/>
        </p:nvSpPr>
        <p:spPr>
          <a:xfrm>
            <a:off x="563880" y="5591770"/>
            <a:ext cx="527304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需要长篇讲解时，可写入页面备注。</a:t>
            </a:r>
            <a:endParaRPr lang="zh-CN" sz="1600" dirty="0"/>
          </a:p>
        </p:txBody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1720" y="1950720"/>
            <a:ext cx="5608320" cy="4221480"/>
          </a:xfrm>
          <a:prstGeom prst="rect">
            <a:avLst/>
          </a:prstGeom>
        </p:spPr>
      </p:pic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9272" y="1950720"/>
            <a:ext cx="4773097" cy="512921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772632" y="2042160"/>
            <a:ext cx="4346377" cy="330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600"/>
              </a:lnSpc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C2 组合分组：先总后分</a:t>
            </a:r>
            <a:endParaRPr lang="zh-CN" sz="2000" dirty="0"/>
          </a:p>
        </p:txBody>
      </p:sp>
      <p:sp>
        <p:nvSpPr>
          <p:cNvPr id="26" name="Text 20"/>
          <p:cNvSpPr/>
          <p:nvPr/>
        </p:nvSpPr>
        <p:spPr>
          <a:xfrm>
            <a:off x="6446520" y="2692241"/>
            <a:ext cx="499872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先解释区域关系</a:t>
            </a:r>
            <a:endParaRPr lang="zh-CN" sz="1800" dirty="0"/>
          </a:p>
        </p:txBody>
      </p:sp>
      <p:sp>
        <p:nvSpPr>
          <p:cNvPr id="27" name="Text 21"/>
          <p:cNvSpPr/>
          <p:nvPr/>
        </p:nvSpPr>
        <p:spPr>
          <a:xfrm>
            <a:off x="6446520" y="3096101"/>
            <a:ext cx="499872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模块大标题概括这一组信息。</a:t>
            </a:r>
            <a:endParaRPr lang="zh-CN" sz="1600" dirty="0"/>
          </a:p>
        </p:txBody>
      </p:sp>
      <p:sp>
        <p:nvSpPr>
          <p:cNvPr id="28" name="Text 22"/>
          <p:cNvSpPr/>
          <p:nvPr/>
        </p:nvSpPr>
        <p:spPr>
          <a:xfrm>
            <a:off x="6446520" y="3487222"/>
            <a:ext cx="499872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内部小标题说明各自的研究任务。</a:t>
            </a:r>
            <a:endParaRPr lang="zh-CN" sz="1600" dirty="0"/>
          </a:p>
        </p:txBody>
      </p:sp>
      <p:sp>
        <p:nvSpPr>
          <p:cNvPr id="29" name="Text 23"/>
          <p:cNvSpPr/>
          <p:nvPr/>
        </p:nvSpPr>
        <p:spPr>
          <a:xfrm>
            <a:off x="6446520" y="3878342"/>
            <a:ext cx="499872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不同层级使用不同字号。</a:t>
            </a:r>
            <a:endParaRPr lang="zh-CN" sz="1600" dirty="0"/>
          </a:p>
        </p:txBody>
      </p:sp>
      <p:sp>
        <p:nvSpPr>
          <p:cNvPr id="30" name="Shape 24"/>
          <p:cNvSpPr/>
          <p:nvPr/>
        </p:nvSpPr>
        <p:spPr>
          <a:xfrm>
            <a:off x="6446520" y="4283631"/>
            <a:ext cx="4998720" cy="7620"/>
          </a:xfrm>
          <a:prstGeom prst="rect">
            <a:avLst/>
          </a:prstGeom>
          <a:solidFill>
            <a:srgbClr val="9EA8AE"/>
          </a:solidFill>
          <a:ln w="12700">
            <a:solidFill>
              <a:srgbClr val="9EA8AE">
                <a:alpha val="0"/>
              </a:srgbClr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6446520" y="4397931"/>
            <a:ext cx="499872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再安排文字密度</a:t>
            </a:r>
            <a:endParaRPr lang="zh-CN" sz="1800" dirty="0"/>
          </a:p>
        </p:txBody>
      </p:sp>
      <p:sp>
        <p:nvSpPr>
          <p:cNvPr id="32" name="Text 26"/>
          <p:cNvSpPr/>
          <p:nvPr/>
        </p:nvSpPr>
        <p:spPr>
          <a:xfrm>
            <a:off x="6446520" y="4801791"/>
            <a:ext cx="499872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内部固定使用无底色默认分组。</a:t>
            </a:r>
            <a:endParaRPr lang="zh-CN" sz="1600" dirty="0"/>
          </a:p>
        </p:txBody>
      </p:sp>
      <p:sp>
        <p:nvSpPr>
          <p:cNvPr id="33" name="Text 27"/>
          <p:cNvSpPr/>
          <p:nvPr/>
        </p:nvSpPr>
        <p:spPr>
          <a:xfrm>
            <a:off x="6446520" y="5192911"/>
            <a:ext cx="499872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以留白和细线区分并列内容。</a:t>
            </a:r>
            <a:endParaRPr lang="zh-CN" sz="1600" dirty="0"/>
          </a:p>
        </p:txBody>
      </p:sp>
      <p:sp>
        <p:nvSpPr>
          <p:cNvPr id="34" name="Text 28"/>
          <p:cNvSpPr/>
          <p:nvPr/>
        </p:nvSpPr>
        <p:spPr>
          <a:xfrm>
            <a:off x="6446520" y="5584031"/>
            <a:ext cx="499872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必要时调整列数，不增加多余白底。</a:t>
            </a:r>
            <a:endParaRPr lang="zh-CN" sz="1600" dirty="0"/>
          </a:p>
        </p:txBody>
      </p:sp>
      <p:sp>
        <p:nvSpPr>
          <p:cNvPr id="35" name="Text 29"/>
          <p:cNvSpPr/>
          <p:nvPr/>
        </p:nvSpPr>
        <p:spPr>
          <a:xfrm>
            <a:off x="441960" y="6485334"/>
            <a:ext cx="2971800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丽水学院 · Web Slide 使用示例</a:t>
            </a:r>
            <a:endParaRPr lang="zh-CN" sz="1020" dirty="0"/>
          </a:p>
        </p:txBody>
      </p:sp>
      <p:sp>
        <p:nvSpPr>
          <p:cNvPr id="36" name="Text 30"/>
          <p:cNvSpPr/>
          <p:nvPr/>
        </p:nvSpPr>
        <p:spPr>
          <a:xfrm>
            <a:off x="3596640" y="6485334"/>
            <a:ext cx="7534632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操作示例 · 内容与数据仅作演示</a:t>
            </a:r>
            <a:endParaRPr lang="zh-CN" sz="1020" dirty="0"/>
          </a:p>
        </p:txBody>
      </p:sp>
      <p:sp>
        <p:nvSpPr>
          <p:cNvPr id="37" name="Text 31"/>
          <p:cNvSpPr/>
          <p:nvPr/>
        </p:nvSpPr>
        <p:spPr>
          <a:xfrm>
            <a:off x="11314152" y="6485334"/>
            <a:ext cx="435888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/ 30</a:t>
            </a:r>
            <a:endParaRPr lang="zh-CN" sz="1020" dirty="0"/>
          </a:p>
        </p:txBody>
      </p:sp>
      <p:sp>
        <p:nvSpPr>
          <p:cNvPr id="38" name="Shape 32"/>
          <p:cNvSpPr/>
          <p:nvPr/>
        </p:nvSpPr>
        <p:spPr>
          <a:xfrm>
            <a:off x="441960" y="6355080"/>
            <a:ext cx="11308080" cy="7620"/>
          </a:xfrm>
          <a:prstGeom prst="rect">
            <a:avLst/>
          </a:prstGeom>
          <a:solidFill>
            <a:srgbClr val="D8E2E9"/>
          </a:solidFill>
          <a:ln w="12700">
            <a:solidFill>
              <a:srgbClr val="D8E2E9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753600" cy="5334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753600" y="0"/>
            <a:ext cx="2438400" cy="5334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41960" y="259080"/>
            <a:ext cx="289560" cy="228600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80060" y="259080"/>
            <a:ext cx="2133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buNone/>
            </a:pPr>
            <a:r>
              <a:rPr lang="zh-CN" altLang="en-US" sz="1200" b="1" dirty="0">
                <a:solidFill>
                  <a:srgbClr val="0F66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zh-CN" sz="1200" dirty="0"/>
          </a:p>
        </p:txBody>
      </p:sp>
      <p:sp>
        <p:nvSpPr>
          <p:cNvPr id="7" name="Text 4"/>
          <p:cNvSpPr/>
          <p:nvPr/>
        </p:nvSpPr>
        <p:spPr>
          <a:xfrm>
            <a:off x="838200" y="235625"/>
            <a:ext cx="9768840" cy="275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70"/>
              </a:lnSpc>
              <a:buNone/>
            </a:pPr>
            <a:r>
              <a:rPr lang="zh-CN" altLang="en-US" sz="14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模块与内容</a:t>
            </a:r>
            <a:endParaRPr lang="zh-CN" sz="1400" dirty="0"/>
          </a:p>
        </p:txBody>
      </p:sp>
      <p:sp>
        <p:nvSpPr>
          <p:cNvPr id="8" name="Text 5"/>
          <p:cNvSpPr/>
          <p:nvPr/>
        </p:nvSpPr>
        <p:spPr>
          <a:xfrm>
            <a:off x="441960" y="609600"/>
            <a:ext cx="10165080" cy="433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3416"/>
              </a:lnSpc>
              <a:buNone/>
            </a:pPr>
            <a:r>
              <a:rPr lang="zh-CN" altLang="en-US" sz="28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从占位区域插入图片或视频</a:t>
            </a:r>
            <a:endParaRPr lang="zh-CN" sz="2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01930"/>
            <a:ext cx="914400" cy="9144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41960" y="1264920"/>
            <a:ext cx="11308080" cy="1524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41960" y="1463040"/>
            <a:ext cx="113080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先保留图注所需的空间，再上传材料、选择比例并调整取景，最后复查画面与文字。</a:t>
            </a:r>
            <a:endParaRPr lang="zh-CN" sz="1600" dirty="0"/>
          </a:p>
        </p:txBody>
      </p:sp>
      <p:sp>
        <p:nvSpPr>
          <p:cNvPr id="12" name="Shape 8"/>
          <p:cNvSpPr/>
          <p:nvPr/>
        </p:nvSpPr>
        <p:spPr>
          <a:xfrm>
            <a:off x="441960" y="1950720"/>
            <a:ext cx="5516880" cy="4221480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563880" y="2072640"/>
            <a:ext cx="5273040" cy="2966085"/>
          </a:xfrm>
          <a:prstGeom prst="rect">
            <a:avLst/>
          </a:prstGeom>
          <a:solidFill>
            <a:srgbClr val="EDF6F5"/>
          </a:solidFill>
          <a:ln w="15240">
            <a:solidFill>
              <a:srgbClr val="A4BDCE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2994660" y="3021687"/>
            <a:ext cx="41148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3240"/>
              </a:lnSpc>
              <a:buNone/>
            </a:pPr>
            <a:r>
              <a:rPr lang="zh-CN" altLang="en-US" sz="3240" dirty="0">
                <a:solidFill>
                  <a:srgbClr val="6384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＋</a:t>
            </a:r>
            <a:endParaRPr lang="zh-CN" sz="3240" dirty="0"/>
          </a:p>
        </p:txBody>
      </p:sp>
      <p:sp>
        <p:nvSpPr>
          <p:cNvPr id="15" name="Text 11"/>
          <p:cNvSpPr/>
          <p:nvPr/>
        </p:nvSpPr>
        <p:spPr>
          <a:xfrm>
            <a:off x="2398633" y="3494127"/>
            <a:ext cx="1603415" cy="275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70"/>
              </a:lnSpc>
              <a:buNone/>
            </a:pPr>
            <a:r>
              <a:rPr lang="zh-CN" altLang="en-US" sz="1400" dirty="0">
                <a:solidFill>
                  <a:srgbClr val="6384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 / 视频占位区域</a:t>
            </a:r>
            <a:endParaRPr lang="zh-CN" sz="1400" dirty="0"/>
          </a:p>
        </p:txBody>
      </p:sp>
      <p:sp>
        <p:nvSpPr>
          <p:cNvPr id="16" name="Text 12"/>
          <p:cNvSpPr/>
          <p:nvPr/>
        </p:nvSpPr>
        <p:spPr>
          <a:xfrm>
            <a:off x="2514600" y="3830598"/>
            <a:ext cx="1371600" cy="259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040"/>
              </a:lnSpc>
              <a:buNone/>
            </a:pPr>
            <a:r>
              <a:rPr lang="zh-CN" altLang="en-US" sz="1200" dirty="0">
                <a:solidFill>
                  <a:srgbClr val="6384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双击上传，等比裁剪</a:t>
            </a:r>
            <a:endParaRPr lang="zh-CN" sz="1200" dirty="0"/>
          </a:p>
        </p:txBody>
      </p:sp>
      <p:sp>
        <p:nvSpPr>
          <p:cNvPr id="17" name="Text 13"/>
          <p:cNvSpPr/>
          <p:nvPr/>
        </p:nvSpPr>
        <p:spPr>
          <a:xfrm>
            <a:off x="563880" y="5160645"/>
            <a:ext cx="527304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960"/>
              </a:lnSpc>
              <a:buNone/>
            </a:pPr>
            <a:r>
              <a:rPr lang="zh-CN" altLang="en-US" sz="14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1　双击这里，插入自己的图片或视频</a:t>
            </a:r>
            <a:endParaRPr lang="zh-CN" sz="1400" dirty="0"/>
          </a:p>
        </p:txBody>
      </p:sp>
      <p:sp>
        <p:nvSpPr>
          <p:cNvPr id="18" name="Text 14"/>
          <p:cNvSpPr/>
          <p:nvPr/>
        </p:nvSpPr>
        <p:spPr>
          <a:xfrm>
            <a:off x="563880" y="5455206"/>
            <a:ext cx="5273040" cy="236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860"/>
              </a:lnSpc>
              <a:buNone/>
            </a:pPr>
            <a:r>
              <a:rPr lang="zh-CN" altLang="en-US" sz="12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 PNG、JPEG、WebP、MP4、WebM；单个媒体不超过 25 MB。</a:t>
            </a:r>
            <a:endParaRPr lang="zh-CN" sz="1200" dirty="0"/>
          </a:p>
        </p:txBody>
      </p:sp>
      <p:sp>
        <p:nvSpPr>
          <p:cNvPr id="19" name="Shape 15"/>
          <p:cNvSpPr/>
          <p:nvPr/>
        </p:nvSpPr>
        <p:spPr>
          <a:xfrm>
            <a:off x="6141720" y="1950720"/>
            <a:ext cx="5608320" cy="4221480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141720" y="1950720"/>
            <a:ext cx="5608320" cy="44958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294120" y="2026920"/>
            <a:ext cx="530352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操作路径</a:t>
            </a:r>
            <a:endParaRPr lang="zh-CN" sz="1800" dirty="0"/>
          </a:p>
        </p:txBody>
      </p:sp>
      <p:sp>
        <p:nvSpPr>
          <p:cNvPr id="22" name="Text 18"/>
          <p:cNvSpPr/>
          <p:nvPr/>
        </p:nvSpPr>
        <p:spPr>
          <a:xfrm>
            <a:off x="6294120" y="2522220"/>
            <a:ext cx="530352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双击占位区域打开弹窗；选择本地图片或视频。</a:t>
            </a:r>
            <a:endParaRPr lang="zh-CN" sz="1600" dirty="0"/>
          </a:p>
        </p:txBody>
      </p:sp>
      <p:sp>
        <p:nvSpPr>
          <p:cNvPr id="23" name="Text 19"/>
          <p:cNvSpPr/>
          <p:nvPr/>
        </p:nvSpPr>
        <p:spPr>
          <a:xfrm>
            <a:off x="6294120" y="2913340"/>
            <a:ext cx="5354320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从预设或自定义宽高比中选择；用水平、垂直取景调整画面位置。</a:t>
            </a:r>
            <a:endParaRPr lang="zh-CN" sz="1600" dirty="0"/>
          </a:p>
        </p:txBody>
      </p:sp>
      <p:sp>
        <p:nvSpPr>
          <p:cNvPr id="24" name="Text 20"/>
          <p:cNvSpPr/>
          <p:nvPr/>
        </p:nvSpPr>
        <p:spPr>
          <a:xfrm>
            <a:off x="6294120" y="3619381"/>
            <a:ext cx="530352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等比放大突出重点；图注可选标题或标题加说明。</a:t>
            </a:r>
            <a:endParaRPr lang="zh-CN" sz="1600" dirty="0"/>
          </a:p>
        </p:txBody>
      </p:sp>
      <p:sp>
        <p:nvSpPr>
          <p:cNvPr id="25" name="Text 21"/>
          <p:cNvSpPr/>
          <p:nvPr/>
        </p:nvSpPr>
        <p:spPr>
          <a:xfrm>
            <a:off x="6294120" y="4010501"/>
            <a:ext cx="530352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确认图注与画面的间隙；无需图注时关闭图标题。</a:t>
            </a:r>
            <a:endParaRPr lang="zh-CN" sz="1600" dirty="0"/>
          </a:p>
        </p:txBody>
      </p:sp>
      <p:sp>
        <p:nvSpPr>
          <p:cNvPr id="26" name="Text 22"/>
          <p:cNvSpPr/>
          <p:nvPr/>
        </p:nvSpPr>
        <p:spPr>
          <a:xfrm>
            <a:off x="6294120" y="4447342"/>
            <a:ext cx="530352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b="1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保持原始比例，避免单向拉伸</a:t>
            </a:r>
            <a:endParaRPr lang="zh-CN" sz="1600" dirty="0"/>
          </a:p>
        </p:txBody>
      </p:sp>
      <p:sp>
        <p:nvSpPr>
          <p:cNvPr id="27" name="Text 23"/>
          <p:cNvSpPr/>
          <p:nvPr/>
        </p:nvSpPr>
        <p:spPr>
          <a:xfrm>
            <a:off x="6294120" y="4884182"/>
            <a:ext cx="530352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960"/>
              </a:lnSpc>
              <a:buNone/>
            </a:pPr>
            <a:r>
              <a:rPr lang="zh-CN" altLang="en-US" sz="14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PDF 显示视频静态帧；PPTX 可内嵌视频。</a:t>
            </a:r>
            <a:endParaRPr lang="zh-CN" sz="1400" dirty="0"/>
          </a:p>
        </p:txBody>
      </p:sp>
      <p:sp>
        <p:nvSpPr>
          <p:cNvPr id="28" name="Text 24"/>
          <p:cNvSpPr/>
          <p:nvPr/>
        </p:nvSpPr>
        <p:spPr>
          <a:xfrm>
            <a:off x="6278880" y="5376863"/>
            <a:ext cx="5378450" cy="566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 eaLnBrk="1" latinLnBrk="0" hangingPunct="1">
              <a:lnSpc>
                <a:spcPts val="2170"/>
              </a:lnSpc>
              <a:buNone/>
            </a:pPr>
            <a:r>
              <a:rPr lang="zh-CN" altLang="en-US" sz="1400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取景检查：保留图中关键标注与坐标；说明裁剪范围，确保不会改变原始证据的含义。</a:t>
            </a:r>
            <a:endParaRPr lang="zh-CN" sz="1400" dirty="0"/>
          </a:p>
        </p:txBody>
      </p:sp>
      <p:sp>
        <p:nvSpPr>
          <p:cNvPr id="29" name="Text 25"/>
          <p:cNvSpPr/>
          <p:nvPr/>
        </p:nvSpPr>
        <p:spPr>
          <a:xfrm>
            <a:off x="441960" y="6485334"/>
            <a:ext cx="2971800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丽水学院 · Web Slide 使用示例</a:t>
            </a:r>
            <a:endParaRPr lang="zh-CN" sz="1020" dirty="0"/>
          </a:p>
        </p:txBody>
      </p:sp>
      <p:sp>
        <p:nvSpPr>
          <p:cNvPr id="30" name="Text 26"/>
          <p:cNvSpPr/>
          <p:nvPr/>
        </p:nvSpPr>
        <p:spPr>
          <a:xfrm>
            <a:off x="3596640" y="6485334"/>
            <a:ext cx="7534632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操作示例 · 内容与数据仅作演示</a:t>
            </a:r>
            <a:endParaRPr lang="zh-CN" sz="1020" dirty="0"/>
          </a:p>
        </p:txBody>
      </p:sp>
      <p:sp>
        <p:nvSpPr>
          <p:cNvPr id="31" name="Text 27"/>
          <p:cNvSpPr/>
          <p:nvPr/>
        </p:nvSpPr>
        <p:spPr>
          <a:xfrm>
            <a:off x="11314152" y="6485334"/>
            <a:ext cx="435888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 / 30</a:t>
            </a:r>
            <a:endParaRPr lang="zh-CN" sz="1020" dirty="0"/>
          </a:p>
        </p:txBody>
      </p:sp>
      <p:sp>
        <p:nvSpPr>
          <p:cNvPr id="32" name="Shape 28"/>
          <p:cNvSpPr/>
          <p:nvPr/>
        </p:nvSpPr>
        <p:spPr>
          <a:xfrm>
            <a:off x="441960" y="6355080"/>
            <a:ext cx="11308080" cy="7620"/>
          </a:xfrm>
          <a:prstGeom prst="rect">
            <a:avLst/>
          </a:prstGeom>
          <a:solidFill>
            <a:srgbClr val="D8E2E9"/>
          </a:solidFill>
          <a:ln w="12700">
            <a:solidFill>
              <a:srgbClr val="D8E2E9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753600" cy="5334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753600" y="0"/>
            <a:ext cx="2438400" cy="5334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41960" y="259080"/>
            <a:ext cx="289560" cy="228600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80060" y="259080"/>
            <a:ext cx="2133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buNone/>
            </a:pPr>
            <a:r>
              <a:rPr lang="zh-CN" altLang="en-US" sz="1200" b="1" dirty="0">
                <a:solidFill>
                  <a:srgbClr val="0F66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zh-CN" sz="1200" dirty="0"/>
          </a:p>
        </p:txBody>
      </p:sp>
      <p:sp>
        <p:nvSpPr>
          <p:cNvPr id="7" name="Text 4"/>
          <p:cNvSpPr/>
          <p:nvPr/>
        </p:nvSpPr>
        <p:spPr>
          <a:xfrm>
            <a:off x="838200" y="235625"/>
            <a:ext cx="9768840" cy="275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70"/>
              </a:lnSpc>
              <a:buNone/>
            </a:pPr>
            <a:r>
              <a:rPr lang="zh-CN" altLang="en-US" sz="14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模块与内容</a:t>
            </a:r>
            <a:endParaRPr lang="zh-CN" sz="1400" dirty="0"/>
          </a:p>
        </p:txBody>
      </p:sp>
      <p:sp>
        <p:nvSpPr>
          <p:cNvPr id="8" name="Text 5"/>
          <p:cNvSpPr/>
          <p:nvPr/>
        </p:nvSpPr>
        <p:spPr>
          <a:xfrm>
            <a:off x="441960" y="609600"/>
            <a:ext cx="10165080" cy="433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3416"/>
              </a:lnSpc>
              <a:buNone/>
            </a:pPr>
            <a:r>
              <a:rPr lang="zh-CN" altLang="en-US" sz="28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比例可以不同，画面高度必须一致</a:t>
            </a:r>
            <a:endParaRPr lang="zh-CN" sz="2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01930"/>
            <a:ext cx="914400" cy="9144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41960" y="1264920"/>
            <a:ext cx="11308080" cy="1524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41960" y="1463040"/>
            <a:ext cx="113080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以两份用户提供的校方标识为例：保留各自比例，统一并列画面的实际高度。</a:t>
            </a:r>
            <a:endParaRPr lang="zh-CN" sz="1600" dirty="0"/>
          </a:p>
        </p:txBody>
      </p:sp>
      <p:sp>
        <p:nvSpPr>
          <p:cNvPr id="12" name="Shape 8"/>
          <p:cNvSpPr/>
          <p:nvPr/>
        </p:nvSpPr>
        <p:spPr>
          <a:xfrm>
            <a:off x="441960" y="2011680"/>
            <a:ext cx="5562600" cy="1524000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0584" y="2133600"/>
            <a:ext cx="905232" cy="90939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63880" y="3164919"/>
            <a:ext cx="531876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960"/>
              </a:lnSpc>
              <a:buNone/>
            </a:pPr>
            <a:r>
              <a:rPr lang="zh-CN" altLang="en-US" sz="14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2　独立校徽：原始比例</a:t>
            </a:r>
            <a:endParaRPr lang="zh-CN" sz="1400" dirty="0"/>
          </a:p>
        </p:txBody>
      </p:sp>
      <p:sp>
        <p:nvSpPr>
          <p:cNvPr id="15" name="Shape 10"/>
          <p:cNvSpPr/>
          <p:nvPr/>
        </p:nvSpPr>
        <p:spPr>
          <a:xfrm>
            <a:off x="6187440" y="2011680"/>
            <a:ext cx="5562600" cy="1524000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1665" y="2133600"/>
            <a:ext cx="4634032" cy="909399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309360" y="3164919"/>
            <a:ext cx="531876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960"/>
              </a:lnSpc>
              <a:buNone/>
            </a:pPr>
            <a:r>
              <a:rPr lang="zh-CN" altLang="en-US" sz="14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3　组合标识：原始比例</a:t>
            </a:r>
            <a:endParaRPr lang="zh-CN" sz="1400" dirty="0"/>
          </a:p>
        </p:txBody>
      </p:sp>
      <p:sp>
        <p:nvSpPr>
          <p:cNvPr id="18" name="Shape 12"/>
          <p:cNvSpPr/>
          <p:nvPr/>
        </p:nvSpPr>
        <p:spPr>
          <a:xfrm>
            <a:off x="441960" y="3749040"/>
            <a:ext cx="5516880" cy="1722120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472440" y="3870960"/>
            <a:ext cx="545592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自由指定比例</a:t>
            </a:r>
            <a:endParaRPr lang="zh-CN" sz="1800" dirty="0"/>
          </a:p>
        </p:txBody>
      </p:sp>
      <p:sp>
        <p:nvSpPr>
          <p:cNvPr id="20" name="Text 14"/>
          <p:cNvSpPr/>
          <p:nvPr/>
        </p:nvSpPr>
        <p:spPr>
          <a:xfrm>
            <a:off x="472440" y="4274820"/>
            <a:ext cx="545592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自定义宽、高可使用小数，如 2.35:1。</a:t>
            </a:r>
            <a:endParaRPr lang="zh-CN" sz="1600" dirty="0"/>
          </a:p>
        </p:txBody>
      </p:sp>
      <p:sp>
        <p:nvSpPr>
          <p:cNvPr id="21" name="Text 15"/>
          <p:cNvSpPr/>
          <p:nvPr/>
        </p:nvSpPr>
        <p:spPr>
          <a:xfrm>
            <a:off x="472440" y="4665940"/>
            <a:ext cx="545592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输入必须为正数；设置会随 HTML 保存。</a:t>
            </a:r>
            <a:endParaRPr lang="zh-CN" sz="1600" dirty="0"/>
          </a:p>
        </p:txBody>
      </p:sp>
      <p:sp>
        <p:nvSpPr>
          <p:cNvPr id="22" name="Text 16"/>
          <p:cNvSpPr/>
          <p:nvPr/>
        </p:nvSpPr>
        <p:spPr>
          <a:xfrm>
            <a:off x="472440" y="5057061"/>
            <a:ext cx="545592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再次打开媒体弹窗仍保留原来的选择。</a:t>
            </a:r>
            <a:endParaRPr lang="zh-CN" sz="1600" dirty="0"/>
          </a:p>
        </p:txBody>
      </p:sp>
      <p:sp>
        <p:nvSpPr>
          <p:cNvPr id="23" name="Shape 17"/>
          <p:cNvSpPr/>
          <p:nvPr/>
        </p:nvSpPr>
        <p:spPr>
          <a:xfrm>
            <a:off x="6141720" y="3749040"/>
            <a:ext cx="5608320" cy="1722120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6172200" y="3870960"/>
            <a:ext cx="554736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等高不等于拉伸</a:t>
            </a:r>
            <a:endParaRPr lang="zh-CN" sz="1800" dirty="0"/>
          </a:p>
        </p:txBody>
      </p:sp>
      <p:sp>
        <p:nvSpPr>
          <p:cNvPr id="25" name="Text 19"/>
          <p:cNvSpPr/>
          <p:nvPr/>
        </p:nvSpPr>
        <p:spPr>
          <a:xfrm>
            <a:off x="6172200" y="4274820"/>
            <a:ext cx="554736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同一行使用所有媒体都能容纳的高度。</a:t>
            </a:r>
            <a:endParaRPr lang="zh-CN" sz="1600" dirty="0"/>
          </a:p>
        </p:txBody>
      </p:sp>
      <p:sp>
        <p:nvSpPr>
          <p:cNvPr id="26" name="Text 20"/>
          <p:cNvSpPr/>
          <p:nvPr/>
        </p:nvSpPr>
        <p:spPr>
          <a:xfrm>
            <a:off x="6172200" y="4665940"/>
            <a:ext cx="554736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宽度随比例改变，图注在画面下方对齐。</a:t>
            </a:r>
            <a:endParaRPr lang="zh-CN" sz="1600" dirty="0"/>
          </a:p>
        </p:txBody>
      </p:sp>
      <p:sp>
        <p:nvSpPr>
          <p:cNvPr id="27" name="Text 21"/>
          <p:cNvSpPr/>
          <p:nvPr/>
        </p:nvSpPr>
        <p:spPr>
          <a:xfrm>
            <a:off x="6172200" y="5057061"/>
            <a:ext cx="554736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图注长短不同，也不改变并列画面的高度。</a:t>
            </a:r>
            <a:endParaRPr lang="zh-CN" sz="1600" dirty="0"/>
          </a:p>
        </p:txBody>
      </p:sp>
      <p:sp>
        <p:nvSpPr>
          <p:cNvPr id="28" name="Shape 22"/>
          <p:cNvSpPr/>
          <p:nvPr/>
        </p:nvSpPr>
        <p:spPr>
          <a:xfrm>
            <a:off x="441960" y="5715000"/>
            <a:ext cx="11308080" cy="45720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609600" y="5791200"/>
            <a:ext cx="109728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400"/>
              </a:lnSpc>
              <a:buNone/>
            </a:pPr>
            <a:r>
              <a:rPr lang="zh-CN" alt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保持原始比例，统一实际高度；校徽与组合标识完整呈现，避免拉伸或裁掉必要元素。</a:t>
            </a:r>
            <a:endParaRPr lang="zh-CN" sz="1600" dirty="0"/>
          </a:p>
        </p:txBody>
      </p:sp>
      <p:sp>
        <p:nvSpPr>
          <p:cNvPr id="30" name="Text 24"/>
          <p:cNvSpPr/>
          <p:nvPr/>
        </p:nvSpPr>
        <p:spPr>
          <a:xfrm>
            <a:off x="441960" y="6485334"/>
            <a:ext cx="2971800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丽水学院 · Web Slide 使用示例</a:t>
            </a:r>
            <a:endParaRPr lang="zh-CN" sz="1020" dirty="0"/>
          </a:p>
        </p:txBody>
      </p:sp>
      <p:sp>
        <p:nvSpPr>
          <p:cNvPr id="31" name="Text 25"/>
          <p:cNvSpPr/>
          <p:nvPr/>
        </p:nvSpPr>
        <p:spPr>
          <a:xfrm>
            <a:off x="3596640" y="6485334"/>
            <a:ext cx="7534632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操作示例 · 内容与数据仅作演示</a:t>
            </a:r>
            <a:endParaRPr lang="zh-CN" sz="1020" dirty="0"/>
          </a:p>
        </p:txBody>
      </p:sp>
      <p:sp>
        <p:nvSpPr>
          <p:cNvPr id="32" name="Text 26"/>
          <p:cNvSpPr/>
          <p:nvPr/>
        </p:nvSpPr>
        <p:spPr>
          <a:xfrm>
            <a:off x="11314152" y="6485334"/>
            <a:ext cx="435888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 / 30</a:t>
            </a:r>
            <a:endParaRPr lang="zh-CN" sz="1020" dirty="0"/>
          </a:p>
        </p:txBody>
      </p:sp>
      <p:sp>
        <p:nvSpPr>
          <p:cNvPr id="33" name="Shape 27"/>
          <p:cNvSpPr/>
          <p:nvPr/>
        </p:nvSpPr>
        <p:spPr>
          <a:xfrm>
            <a:off x="441960" y="6355080"/>
            <a:ext cx="11308080" cy="7620"/>
          </a:xfrm>
          <a:prstGeom prst="rect">
            <a:avLst/>
          </a:prstGeom>
          <a:solidFill>
            <a:srgbClr val="D8E2E9"/>
          </a:solidFill>
          <a:ln w="12700">
            <a:solidFill>
              <a:srgbClr val="D8E2E9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753600" cy="5334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753600" y="0"/>
            <a:ext cx="2438400" cy="5334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41960" y="259080"/>
            <a:ext cx="289560" cy="228600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80060" y="259080"/>
            <a:ext cx="2133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buNone/>
            </a:pPr>
            <a:r>
              <a:rPr lang="zh-CN" altLang="en-US" sz="1200" b="1" dirty="0">
                <a:solidFill>
                  <a:srgbClr val="0F66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zh-CN" sz="1200" dirty="0"/>
          </a:p>
        </p:txBody>
      </p:sp>
      <p:sp>
        <p:nvSpPr>
          <p:cNvPr id="7" name="Text 4"/>
          <p:cNvSpPr/>
          <p:nvPr/>
        </p:nvSpPr>
        <p:spPr>
          <a:xfrm>
            <a:off x="838200" y="235625"/>
            <a:ext cx="9768840" cy="275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70"/>
              </a:lnSpc>
              <a:buNone/>
            </a:pPr>
            <a:r>
              <a:rPr lang="zh-CN" altLang="en-US" sz="14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模块与内容</a:t>
            </a:r>
            <a:endParaRPr lang="zh-CN" sz="1400" dirty="0"/>
          </a:p>
        </p:txBody>
      </p:sp>
      <p:sp>
        <p:nvSpPr>
          <p:cNvPr id="8" name="Text 5"/>
          <p:cNvSpPr/>
          <p:nvPr/>
        </p:nvSpPr>
        <p:spPr>
          <a:xfrm>
            <a:off x="441960" y="609600"/>
            <a:ext cx="10165080" cy="433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3416"/>
              </a:lnSpc>
              <a:buNone/>
            </a:pPr>
            <a:r>
              <a:rPr lang="zh-CN" altLang="en-US" sz="28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主图与关键信息</a:t>
            </a:r>
            <a:endParaRPr lang="zh-CN" sz="2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01930"/>
            <a:ext cx="914400" cy="9144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41960" y="1264920"/>
            <a:ext cx="11308080" cy="1524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41960" y="1463040"/>
            <a:ext cx="113080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用一张主图建立共同语境，右侧分别交代观察对象、证据解释和适用范围。</a:t>
            </a:r>
            <a:endParaRPr lang="zh-CN" sz="1600" dirty="0"/>
          </a:p>
        </p:txBody>
      </p:sp>
      <p:sp>
        <p:nvSpPr>
          <p:cNvPr id="12" name="Shape 8"/>
          <p:cNvSpPr/>
          <p:nvPr/>
        </p:nvSpPr>
        <p:spPr>
          <a:xfrm>
            <a:off x="441960" y="1950720"/>
            <a:ext cx="7284720" cy="4221480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450" y="2072640"/>
            <a:ext cx="5925622" cy="332493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63880" y="5519499"/>
            <a:ext cx="704088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960"/>
              </a:lnSpc>
              <a:buNone/>
            </a:pPr>
            <a:r>
              <a:rPr lang="zh-CN" altLang="en-US" sz="14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4　丽水学院校园风光</a:t>
            </a:r>
            <a:endParaRPr lang="zh-CN" sz="1400" dirty="0"/>
          </a:p>
        </p:txBody>
      </p:sp>
      <p:sp>
        <p:nvSpPr>
          <p:cNvPr id="15" name="Text 10"/>
          <p:cNvSpPr/>
          <p:nvPr/>
        </p:nvSpPr>
        <p:spPr>
          <a:xfrm>
            <a:off x="563880" y="5814060"/>
            <a:ext cx="7040880" cy="236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860"/>
              </a:lnSpc>
              <a:buNone/>
            </a:pPr>
            <a:r>
              <a:rPr lang="zh-CN" altLang="en-US" sz="12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学校官网校园风光资料；图片独立排布，说明不覆盖画面。</a:t>
            </a:r>
            <a:endParaRPr lang="zh-CN" sz="1200" dirty="0"/>
          </a:p>
        </p:txBody>
      </p:sp>
      <p:sp>
        <p:nvSpPr>
          <p:cNvPr id="16" name="Shape 11"/>
          <p:cNvSpPr/>
          <p:nvPr/>
        </p:nvSpPr>
        <p:spPr>
          <a:xfrm>
            <a:off x="7909560" y="1950720"/>
            <a:ext cx="3840480" cy="4221480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8046720" y="2072640"/>
            <a:ext cx="356616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观察对象</a:t>
            </a:r>
            <a:endParaRPr lang="zh-CN" sz="1800" dirty="0"/>
          </a:p>
        </p:txBody>
      </p:sp>
      <p:sp>
        <p:nvSpPr>
          <p:cNvPr id="18" name="Text 13"/>
          <p:cNvSpPr/>
          <p:nvPr/>
        </p:nvSpPr>
        <p:spPr>
          <a:xfrm>
            <a:off x="8046720" y="2476500"/>
            <a:ext cx="3616960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先说明图像对象与坐标。解释它与本页问题的关系。</a:t>
            </a:r>
            <a:endParaRPr lang="zh-CN" sz="1600" dirty="0"/>
          </a:p>
        </p:txBody>
      </p:sp>
      <p:sp>
        <p:nvSpPr>
          <p:cNvPr id="19" name="Shape 14"/>
          <p:cNvSpPr/>
          <p:nvPr/>
        </p:nvSpPr>
        <p:spPr>
          <a:xfrm>
            <a:off x="8061960" y="3350181"/>
            <a:ext cx="3535680" cy="7620"/>
          </a:xfrm>
          <a:prstGeom prst="rect">
            <a:avLst/>
          </a:prstGeom>
          <a:solidFill>
            <a:srgbClr val="9EA8AE"/>
          </a:solidFill>
          <a:ln w="12700">
            <a:solidFill>
              <a:srgbClr val="9EA8AE">
                <a:alpha val="0"/>
              </a:srgbClr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8046720" y="3479721"/>
            <a:ext cx="356616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证据解释</a:t>
            </a:r>
            <a:endParaRPr lang="zh-CN" sz="1800" dirty="0"/>
          </a:p>
        </p:txBody>
      </p:sp>
      <p:sp>
        <p:nvSpPr>
          <p:cNvPr id="21" name="Text 16"/>
          <p:cNvSpPr/>
          <p:nvPr/>
        </p:nvSpPr>
        <p:spPr>
          <a:xfrm>
            <a:off x="8046720" y="3883581"/>
            <a:ext cx="3616960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点明关键区域与变化趋势。用具体事实支持当前判断。</a:t>
            </a:r>
            <a:endParaRPr lang="zh-CN" sz="1600" dirty="0"/>
          </a:p>
        </p:txBody>
      </p:sp>
      <p:sp>
        <p:nvSpPr>
          <p:cNvPr id="22" name="Shape 17"/>
          <p:cNvSpPr/>
          <p:nvPr/>
        </p:nvSpPr>
        <p:spPr>
          <a:xfrm>
            <a:off x="8061960" y="4757380"/>
            <a:ext cx="3535680" cy="7620"/>
          </a:xfrm>
          <a:prstGeom prst="rect">
            <a:avLst/>
          </a:prstGeom>
          <a:solidFill>
            <a:srgbClr val="9EA8AE"/>
          </a:solidFill>
          <a:ln w="12700">
            <a:solidFill>
              <a:srgbClr val="9EA8AE">
                <a:alpha val="0"/>
              </a:srgbClr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8046720" y="4886920"/>
            <a:ext cx="356616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适用范围</a:t>
            </a:r>
            <a:endParaRPr lang="zh-CN" sz="1800" dirty="0"/>
          </a:p>
        </p:txBody>
      </p:sp>
      <p:sp>
        <p:nvSpPr>
          <p:cNvPr id="24" name="Text 19"/>
          <p:cNvSpPr/>
          <p:nvPr/>
        </p:nvSpPr>
        <p:spPr>
          <a:xfrm>
            <a:off x="8046720" y="5290780"/>
            <a:ext cx="3616960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说明材料的来源和条件。把额外背景放进页面备注。</a:t>
            </a:r>
            <a:endParaRPr lang="zh-CN" sz="1600" dirty="0"/>
          </a:p>
        </p:txBody>
      </p:sp>
      <p:sp>
        <p:nvSpPr>
          <p:cNvPr id="25" name="Text 20"/>
          <p:cNvSpPr/>
          <p:nvPr/>
        </p:nvSpPr>
        <p:spPr>
          <a:xfrm>
            <a:off x="441960" y="6485334"/>
            <a:ext cx="2971800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丽水学院 · Web Slide 示例</a:t>
            </a:r>
            <a:endParaRPr lang="zh-CN" sz="1020" dirty="0"/>
          </a:p>
        </p:txBody>
      </p:sp>
      <p:sp>
        <p:nvSpPr>
          <p:cNvPr id="26" name="Text 21">
            <a:hlinkClick r:id="rId3" tooltip=""/>
          </p:cNvPr>
          <p:cNvSpPr/>
          <p:nvPr/>
        </p:nvSpPr>
        <p:spPr>
          <a:xfrm>
            <a:off x="3596640" y="6485334"/>
            <a:ext cx="7534632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u="sng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校园图像：丽水学院官网·校园风光</a:t>
            </a:r>
            <a:endParaRPr lang="zh-CN" sz="1020" dirty="0"/>
          </a:p>
        </p:txBody>
      </p:sp>
      <p:sp>
        <p:nvSpPr>
          <p:cNvPr id="27" name="Text 22"/>
          <p:cNvSpPr/>
          <p:nvPr/>
        </p:nvSpPr>
        <p:spPr>
          <a:xfrm>
            <a:off x="11314152" y="6485334"/>
            <a:ext cx="435888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 / 30</a:t>
            </a:r>
            <a:endParaRPr lang="zh-CN" sz="1020" dirty="0"/>
          </a:p>
        </p:txBody>
      </p:sp>
      <p:sp>
        <p:nvSpPr>
          <p:cNvPr id="28" name="Shape 23"/>
          <p:cNvSpPr/>
          <p:nvPr/>
        </p:nvSpPr>
        <p:spPr>
          <a:xfrm>
            <a:off x="441960" y="6355080"/>
            <a:ext cx="11308080" cy="7620"/>
          </a:xfrm>
          <a:prstGeom prst="rect">
            <a:avLst/>
          </a:prstGeom>
          <a:solidFill>
            <a:srgbClr val="D8E2E9"/>
          </a:solidFill>
          <a:ln w="12700">
            <a:solidFill>
              <a:srgbClr val="D8E2E9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753600" cy="5334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753600" y="0"/>
            <a:ext cx="2438400" cy="5334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41960" y="259080"/>
            <a:ext cx="289560" cy="228600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80060" y="259080"/>
            <a:ext cx="2133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buNone/>
            </a:pPr>
            <a:r>
              <a:rPr lang="zh-CN" altLang="en-US" sz="1200" b="1" dirty="0">
                <a:solidFill>
                  <a:srgbClr val="0F66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zh-CN" sz="1200" dirty="0"/>
          </a:p>
        </p:txBody>
      </p:sp>
      <p:sp>
        <p:nvSpPr>
          <p:cNvPr id="7" name="Text 4"/>
          <p:cNvSpPr/>
          <p:nvPr/>
        </p:nvSpPr>
        <p:spPr>
          <a:xfrm>
            <a:off x="838200" y="235625"/>
            <a:ext cx="9768840" cy="275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70"/>
              </a:lnSpc>
              <a:buNone/>
            </a:pPr>
            <a:r>
              <a:rPr lang="zh-CN" altLang="en-US" sz="14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模块与内容</a:t>
            </a:r>
            <a:endParaRPr lang="zh-CN" sz="1400" dirty="0"/>
          </a:p>
        </p:txBody>
      </p:sp>
      <p:sp>
        <p:nvSpPr>
          <p:cNvPr id="8" name="Text 5"/>
          <p:cNvSpPr/>
          <p:nvPr/>
        </p:nvSpPr>
        <p:spPr>
          <a:xfrm>
            <a:off x="441960" y="609600"/>
            <a:ext cx="10165080" cy="433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3416"/>
              </a:lnSpc>
              <a:buNone/>
            </a:pPr>
            <a:r>
              <a:rPr lang="zh-CN" altLang="en-US" sz="28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双图对照与口径检查</a:t>
            </a:r>
            <a:endParaRPr lang="zh-CN" sz="2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01930"/>
            <a:ext cx="914400" cy="9144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41960" y="1264920"/>
            <a:ext cx="11308080" cy="1524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41960" y="1463040"/>
            <a:ext cx="113080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比较图像之前先统一对象、单位、范围与标注；等高布局不能替代实验口径的一致性。</a:t>
            </a:r>
            <a:endParaRPr lang="zh-CN" sz="1600" dirty="0"/>
          </a:p>
        </p:txBody>
      </p:sp>
      <p:sp>
        <p:nvSpPr>
          <p:cNvPr id="12" name="Shape 8"/>
          <p:cNvSpPr/>
          <p:nvPr/>
        </p:nvSpPr>
        <p:spPr>
          <a:xfrm>
            <a:off x="441960" y="1950720"/>
            <a:ext cx="5562600" cy="3505200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8684" y="2072640"/>
            <a:ext cx="4649033" cy="260865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63880" y="4803219"/>
            <a:ext cx="531876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960"/>
              </a:lnSpc>
              <a:buNone/>
            </a:pPr>
            <a:r>
              <a:rPr lang="zh-CN" altLang="en-US" sz="14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5　校园景观</a:t>
            </a:r>
            <a:endParaRPr lang="zh-CN" sz="1400" dirty="0"/>
          </a:p>
        </p:txBody>
      </p:sp>
      <p:sp>
        <p:nvSpPr>
          <p:cNvPr id="15" name="Text 10"/>
          <p:cNvSpPr/>
          <p:nvPr/>
        </p:nvSpPr>
        <p:spPr>
          <a:xfrm>
            <a:off x="563880" y="5097780"/>
            <a:ext cx="5318760" cy="236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860"/>
              </a:lnSpc>
              <a:buNone/>
            </a:pPr>
            <a:r>
              <a:rPr lang="zh-CN" altLang="en-US" sz="12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并列画面保持实际等高，保留必要图注。</a:t>
            </a:r>
            <a:endParaRPr lang="zh-CN" sz="1200" dirty="0"/>
          </a:p>
        </p:txBody>
      </p:sp>
      <p:sp>
        <p:nvSpPr>
          <p:cNvPr id="16" name="Shape 11"/>
          <p:cNvSpPr/>
          <p:nvPr/>
        </p:nvSpPr>
        <p:spPr>
          <a:xfrm>
            <a:off x="6187440" y="1950720"/>
            <a:ext cx="5562600" cy="3505200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2973" y="2072640"/>
            <a:ext cx="4651534" cy="260865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309360" y="4803219"/>
            <a:ext cx="531876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960"/>
              </a:lnSpc>
              <a:buNone/>
            </a:pPr>
            <a:r>
              <a:rPr lang="zh-CN" altLang="en-US" sz="14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6　图书馆</a:t>
            </a:r>
            <a:endParaRPr lang="zh-CN" sz="1400" dirty="0"/>
          </a:p>
        </p:txBody>
      </p:sp>
      <p:sp>
        <p:nvSpPr>
          <p:cNvPr id="19" name="Text 13"/>
          <p:cNvSpPr/>
          <p:nvPr/>
        </p:nvSpPr>
        <p:spPr>
          <a:xfrm>
            <a:off x="6309360" y="5097780"/>
            <a:ext cx="5318760" cy="236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860"/>
              </a:lnSpc>
              <a:buNone/>
            </a:pPr>
            <a:r>
              <a:rPr lang="zh-CN" altLang="en-US" sz="12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并列画面保持实际等高，保留必要图注。</a:t>
            </a:r>
            <a:endParaRPr lang="zh-CN" sz="1200" dirty="0"/>
          </a:p>
        </p:txBody>
      </p:sp>
      <p:sp>
        <p:nvSpPr>
          <p:cNvPr id="20" name="Shape 14"/>
          <p:cNvSpPr/>
          <p:nvPr/>
        </p:nvSpPr>
        <p:spPr>
          <a:xfrm>
            <a:off x="441960" y="5715000"/>
            <a:ext cx="11308080" cy="45720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609600" y="5791200"/>
            <a:ext cx="109728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400"/>
              </a:lnSpc>
              <a:buNone/>
            </a:pPr>
            <a:r>
              <a:rPr lang="zh-CN" alt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比较前先统一对象、单位与范围；取景保留关键标注，避免裁剪改变证据的原意。</a:t>
            </a:r>
            <a:endParaRPr lang="zh-CN" sz="1600" dirty="0"/>
          </a:p>
        </p:txBody>
      </p:sp>
      <p:sp>
        <p:nvSpPr>
          <p:cNvPr id="22" name="Text 16"/>
          <p:cNvSpPr/>
          <p:nvPr/>
        </p:nvSpPr>
        <p:spPr>
          <a:xfrm>
            <a:off x="441960" y="6485334"/>
            <a:ext cx="2971800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丽水学院 · Web Slide 示例</a:t>
            </a:r>
            <a:endParaRPr lang="zh-CN" sz="1020" dirty="0"/>
          </a:p>
        </p:txBody>
      </p:sp>
      <p:sp>
        <p:nvSpPr>
          <p:cNvPr id="23" name="Text 17">
            <a:hlinkClick r:id="rId4" tooltip=""/>
          </p:cNvPr>
          <p:cNvSpPr/>
          <p:nvPr/>
        </p:nvSpPr>
        <p:spPr>
          <a:xfrm>
            <a:off x="3596640" y="6485334"/>
            <a:ext cx="7534632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u="sng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校园景观与图书馆：丽水学院官网；图像用于等高排版示范</a:t>
            </a:r>
            <a:endParaRPr lang="zh-CN" sz="1020" dirty="0"/>
          </a:p>
        </p:txBody>
      </p:sp>
      <p:sp>
        <p:nvSpPr>
          <p:cNvPr id="24" name="Text 18"/>
          <p:cNvSpPr/>
          <p:nvPr/>
        </p:nvSpPr>
        <p:spPr>
          <a:xfrm>
            <a:off x="11314152" y="6485334"/>
            <a:ext cx="435888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 / 30</a:t>
            </a:r>
            <a:endParaRPr lang="zh-CN" sz="1020" dirty="0"/>
          </a:p>
        </p:txBody>
      </p:sp>
      <p:sp>
        <p:nvSpPr>
          <p:cNvPr id="25" name="Shape 19"/>
          <p:cNvSpPr/>
          <p:nvPr/>
        </p:nvSpPr>
        <p:spPr>
          <a:xfrm>
            <a:off x="441960" y="6355080"/>
            <a:ext cx="11308080" cy="7620"/>
          </a:xfrm>
          <a:prstGeom prst="rect">
            <a:avLst/>
          </a:prstGeom>
          <a:solidFill>
            <a:srgbClr val="D8E2E9"/>
          </a:solidFill>
          <a:ln w="12700">
            <a:solidFill>
              <a:srgbClr val="D8E2E9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753600" cy="5334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753600" y="0"/>
            <a:ext cx="2438400" cy="5334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41960" y="259080"/>
            <a:ext cx="289560" cy="228600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80060" y="259080"/>
            <a:ext cx="2133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buNone/>
            </a:pPr>
            <a:r>
              <a:rPr lang="zh-CN" altLang="en-US" sz="1200" b="1" dirty="0">
                <a:solidFill>
                  <a:srgbClr val="0F66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zh-CN" sz="1200" dirty="0"/>
          </a:p>
        </p:txBody>
      </p:sp>
      <p:sp>
        <p:nvSpPr>
          <p:cNvPr id="7" name="Text 4"/>
          <p:cNvSpPr/>
          <p:nvPr/>
        </p:nvSpPr>
        <p:spPr>
          <a:xfrm>
            <a:off x="838200" y="235625"/>
            <a:ext cx="9768840" cy="275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70"/>
              </a:lnSpc>
              <a:buNone/>
            </a:pPr>
            <a:r>
              <a:rPr lang="zh-CN" altLang="en-US" sz="14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模块与内容</a:t>
            </a:r>
            <a:endParaRPr lang="zh-CN" sz="1400" dirty="0"/>
          </a:p>
        </p:txBody>
      </p:sp>
      <p:sp>
        <p:nvSpPr>
          <p:cNvPr id="8" name="Text 5"/>
          <p:cNvSpPr/>
          <p:nvPr/>
        </p:nvSpPr>
        <p:spPr>
          <a:xfrm>
            <a:off x="441960" y="609600"/>
            <a:ext cx="10165080" cy="433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3416"/>
              </a:lnSpc>
              <a:buNone/>
            </a:pPr>
            <a:r>
              <a:rPr lang="zh-CN" altLang="en-US" sz="28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表格展示结果，也交代实验口径</a:t>
            </a:r>
            <a:endParaRPr lang="zh-CN" sz="2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01930"/>
            <a:ext cx="914400" cy="9144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41960" y="1264920"/>
            <a:ext cx="11308080" cy="1524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41960" y="1463040"/>
            <a:ext cx="113080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表内数值均为格式占位，正式汇报应替换为真实结果，并说明指标、单位与统计方式。</a:t>
            </a:r>
            <a:endParaRPr lang="zh-CN" sz="1600" dirty="0"/>
          </a:p>
        </p:txBody>
      </p:sp>
      <p:sp>
        <p:nvSpPr>
          <p:cNvPr id="12" name="Shape 8"/>
          <p:cNvSpPr/>
          <p:nvPr/>
        </p:nvSpPr>
        <p:spPr>
          <a:xfrm>
            <a:off x="441960" y="1950720"/>
            <a:ext cx="1614845" cy="57531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41960" y="251841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2049185" y="1950720"/>
            <a:ext cx="7620" cy="57531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18160" y="213360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</a:t>
            </a:r>
            <a:endParaRPr lang="zh-CN" sz="1200" dirty="0"/>
          </a:p>
        </p:txBody>
      </p:sp>
      <p:sp>
        <p:nvSpPr>
          <p:cNvPr id="16" name="Shape 12"/>
          <p:cNvSpPr/>
          <p:nvPr/>
        </p:nvSpPr>
        <p:spPr>
          <a:xfrm>
            <a:off x="2056805" y="1950720"/>
            <a:ext cx="3229689" cy="28575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2056805" y="2228850"/>
            <a:ext cx="3229689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5278874" y="1950720"/>
            <a:ext cx="7620" cy="2857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2136815" y="1988820"/>
            <a:ext cx="3069669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场景一</a:t>
            </a:r>
            <a:endParaRPr lang="zh-CN" sz="1200" dirty="0"/>
          </a:p>
        </p:txBody>
      </p:sp>
      <p:sp>
        <p:nvSpPr>
          <p:cNvPr id="20" name="Shape 16"/>
          <p:cNvSpPr/>
          <p:nvPr/>
        </p:nvSpPr>
        <p:spPr>
          <a:xfrm>
            <a:off x="5286494" y="1950720"/>
            <a:ext cx="3229689" cy="28575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5286494" y="2228850"/>
            <a:ext cx="3229689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8508563" y="1950720"/>
            <a:ext cx="7620" cy="2857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5366504" y="1988820"/>
            <a:ext cx="3069669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场景二</a:t>
            </a:r>
            <a:endParaRPr lang="zh-CN" sz="1200" dirty="0"/>
          </a:p>
        </p:txBody>
      </p:sp>
      <p:sp>
        <p:nvSpPr>
          <p:cNvPr id="24" name="Shape 20"/>
          <p:cNvSpPr/>
          <p:nvPr/>
        </p:nvSpPr>
        <p:spPr>
          <a:xfrm>
            <a:off x="8516183" y="1950720"/>
            <a:ext cx="3230047" cy="28575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8516183" y="2228850"/>
            <a:ext cx="3230047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11738610" y="1950720"/>
            <a:ext cx="7620" cy="2857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8596193" y="1988820"/>
            <a:ext cx="3070027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场景三</a:t>
            </a:r>
            <a:endParaRPr lang="zh-CN" sz="1200" dirty="0"/>
          </a:p>
        </p:txBody>
      </p:sp>
      <p:sp>
        <p:nvSpPr>
          <p:cNvPr id="28" name="Shape 24"/>
          <p:cNvSpPr/>
          <p:nvPr/>
        </p:nvSpPr>
        <p:spPr>
          <a:xfrm>
            <a:off x="2056805" y="2236470"/>
            <a:ext cx="1614845" cy="28956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2056805" y="251841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2136815" y="227838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 / % ↑</a:t>
            </a:r>
            <a:endParaRPr lang="zh-CN" sz="1200" dirty="0"/>
          </a:p>
        </p:txBody>
      </p:sp>
      <p:sp>
        <p:nvSpPr>
          <p:cNvPr id="31" name="Shape 27"/>
          <p:cNvSpPr/>
          <p:nvPr/>
        </p:nvSpPr>
        <p:spPr>
          <a:xfrm>
            <a:off x="3671649" y="2236470"/>
            <a:ext cx="1614845" cy="28956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3671649" y="251841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5278874" y="2236470"/>
            <a:ext cx="7620" cy="289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3747849" y="227838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耗时 / s ↓</a:t>
            </a:r>
            <a:endParaRPr lang="zh-CN" sz="1200" dirty="0"/>
          </a:p>
        </p:txBody>
      </p:sp>
      <p:sp>
        <p:nvSpPr>
          <p:cNvPr id="35" name="Shape 31"/>
          <p:cNvSpPr/>
          <p:nvPr/>
        </p:nvSpPr>
        <p:spPr>
          <a:xfrm>
            <a:off x="5286494" y="2236470"/>
            <a:ext cx="1614845" cy="28956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5286494" y="251841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5366504" y="227838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 / % ↑</a:t>
            </a:r>
            <a:endParaRPr lang="zh-CN" sz="1200" dirty="0"/>
          </a:p>
        </p:txBody>
      </p:sp>
      <p:sp>
        <p:nvSpPr>
          <p:cNvPr id="38" name="Shape 34"/>
          <p:cNvSpPr/>
          <p:nvPr/>
        </p:nvSpPr>
        <p:spPr>
          <a:xfrm>
            <a:off x="6901339" y="2236470"/>
            <a:ext cx="1614845" cy="28956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6901339" y="251841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8508563" y="2236470"/>
            <a:ext cx="7620" cy="289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6977539" y="227838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耗时 / s ↓</a:t>
            </a:r>
            <a:endParaRPr lang="zh-CN" sz="1200" dirty="0"/>
          </a:p>
        </p:txBody>
      </p:sp>
      <p:sp>
        <p:nvSpPr>
          <p:cNvPr id="42" name="Shape 38"/>
          <p:cNvSpPr/>
          <p:nvPr/>
        </p:nvSpPr>
        <p:spPr>
          <a:xfrm>
            <a:off x="8516183" y="2236470"/>
            <a:ext cx="1614845" cy="28956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43" name="Shape 39"/>
          <p:cNvSpPr/>
          <p:nvPr/>
        </p:nvSpPr>
        <p:spPr>
          <a:xfrm>
            <a:off x="8516183" y="251841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8596193" y="227838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 / % ↑</a:t>
            </a:r>
            <a:endParaRPr lang="zh-CN" sz="1200" dirty="0"/>
          </a:p>
        </p:txBody>
      </p:sp>
      <p:sp>
        <p:nvSpPr>
          <p:cNvPr id="45" name="Shape 41"/>
          <p:cNvSpPr/>
          <p:nvPr/>
        </p:nvSpPr>
        <p:spPr>
          <a:xfrm>
            <a:off x="10131028" y="2236470"/>
            <a:ext cx="1615202" cy="28956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46" name="Shape 42"/>
          <p:cNvSpPr/>
          <p:nvPr/>
        </p:nvSpPr>
        <p:spPr>
          <a:xfrm>
            <a:off x="10131028" y="2518410"/>
            <a:ext cx="1615202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47" name="Shape 43"/>
          <p:cNvSpPr/>
          <p:nvPr/>
        </p:nvSpPr>
        <p:spPr>
          <a:xfrm>
            <a:off x="11738610" y="2236470"/>
            <a:ext cx="7620" cy="289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Text 44"/>
          <p:cNvSpPr/>
          <p:nvPr/>
        </p:nvSpPr>
        <p:spPr>
          <a:xfrm>
            <a:off x="10207228" y="2278380"/>
            <a:ext cx="1458992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耗时 / s ↓</a:t>
            </a:r>
            <a:endParaRPr lang="zh-CN" sz="1200" dirty="0"/>
          </a:p>
        </p:txBody>
      </p:sp>
      <p:sp>
        <p:nvSpPr>
          <p:cNvPr id="49" name="Shape 45"/>
          <p:cNvSpPr/>
          <p:nvPr/>
        </p:nvSpPr>
        <p:spPr>
          <a:xfrm>
            <a:off x="441960" y="2526030"/>
            <a:ext cx="1614845" cy="289560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sp>
        <p:nvSpPr>
          <p:cNvPr id="50" name="Shape 46"/>
          <p:cNvSpPr/>
          <p:nvPr/>
        </p:nvSpPr>
        <p:spPr>
          <a:xfrm>
            <a:off x="441960" y="280797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51" name="Shape 47"/>
          <p:cNvSpPr/>
          <p:nvPr/>
        </p:nvSpPr>
        <p:spPr>
          <a:xfrm>
            <a:off x="2049185" y="2526030"/>
            <a:ext cx="7620" cy="2895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Text 48"/>
          <p:cNvSpPr/>
          <p:nvPr/>
        </p:nvSpPr>
        <p:spPr>
          <a:xfrm>
            <a:off x="518160" y="256794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随机策略</a:t>
            </a:r>
            <a:endParaRPr lang="zh-CN" sz="1200" dirty="0"/>
          </a:p>
        </p:txBody>
      </p:sp>
      <p:sp>
        <p:nvSpPr>
          <p:cNvPr id="53" name="Shape 49"/>
          <p:cNvSpPr/>
          <p:nvPr/>
        </p:nvSpPr>
        <p:spPr>
          <a:xfrm>
            <a:off x="2056805" y="2526030"/>
            <a:ext cx="1614845" cy="289560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sp>
        <p:nvSpPr>
          <p:cNvPr id="54" name="Shape 50"/>
          <p:cNvSpPr/>
          <p:nvPr/>
        </p:nvSpPr>
        <p:spPr>
          <a:xfrm>
            <a:off x="2056805" y="280797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55" name="Text 51"/>
          <p:cNvSpPr/>
          <p:nvPr/>
        </p:nvSpPr>
        <p:spPr>
          <a:xfrm>
            <a:off x="2136815" y="256794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56" name="Shape 52"/>
          <p:cNvSpPr/>
          <p:nvPr/>
        </p:nvSpPr>
        <p:spPr>
          <a:xfrm>
            <a:off x="3671649" y="2526030"/>
            <a:ext cx="1614845" cy="289560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sp>
        <p:nvSpPr>
          <p:cNvPr id="57" name="Shape 53"/>
          <p:cNvSpPr/>
          <p:nvPr/>
        </p:nvSpPr>
        <p:spPr>
          <a:xfrm>
            <a:off x="3671649" y="280797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58" name="Shape 54"/>
          <p:cNvSpPr/>
          <p:nvPr/>
        </p:nvSpPr>
        <p:spPr>
          <a:xfrm>
            <a:off x="5278874" y="2526030"/>
            <a:ext cx="7620" cy="2895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Text 55"/>
          <p:cNvSpPr/>
          <p:nvPr/>
        </p:nvSpPr>
        <p:spPr>
          <a:xfrm>
            <a:off x="3747849" y="256794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60" name="Shape 56"/>
          <p:cNvSpPr/>
          <p:nvPr/>
        </p:nvSpPr>
        <p:spPr>
          <a:xfrm>
            <a:off x="5286494" y="2526030"/>
            <a:ext cx="1614845" cy="289560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sp>
        <p:nvSpPr>
          <p:cNvPr id="61" name="Shape 57"/>
          <p:cNvSpPr/>
          <p:nvPr/>
        </p:nvSpPr>
        <p:spPr>
          <a:xfrm>
            <a:off x="5286494" y="280797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62" name="Text 58"/>
          <p:cNvSpPr/>
          <p:nvPr/>
        </p:nvSpPr>
        <p:spPr>
          <a:xfrm>
            <a:off x="5366504" y="256794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63" name="Shape 59"/>
          <p:cNvSpPr/>
          <p:nvPr/>
        </p:nvSpPr>
        <p:spPr>
          <a:xfrm>
            <a:off x="6901339" y="2526030"/>
            <a:ext cx="1614845" cy="289560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sp>
        <p:nvSpPr>
          <p:cNvPr id="64" name="Shape 60"/>
          <p:cNvSpPr/>
          <p:nvPr/>
        </p:nvSpPr>
        <p:spPr>
          <a:xfrm>
            <a:off x="6901339" y="280797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65" name="Shape 61"/>
          <p:cNvSpPr/>
          <p:nvPr/>
        </p:nvSpPr>
        <p:spPr>
          <a:xfrm>
            <a:off x="8508563" y="2526030"/>
            <a:ext cx="7620" cy="2895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Text 62"/>
          <p:cNvSpPr/>
          <p:nvPr/>
        </p:nvSpPr>
        <p:spPr>
          <a:xfrm>
            <a:off x="6977539" y="256794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67" name="Shape 63"/>
          <p:cNvSpPr/>
          <p:nvPr/>
        </p:nvSpPr>
        <p:spPr>
          <a:xfrm>
            <a:off x="8516183" y="2526030"/>
            <a:ext cx="1614845" cy="289560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sp>
        <p:nvSpPr>
          <p:cNvPr id="68" name="Shape 64"/>
          <p:cNvSpPr/>
          <p:nvPr/>
        </p:nvSpPr>
        <p:spPr>
          <a:xfrm>
            <a:off x="8516183" y="280797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69" name="Text 65"/>
          <p:cNvSpPr/>
          <p:nvPr/>
        </p:nvSpPr>
        <p:spPr>
          <a:xfrm>
            <a:off x="8596193" y="256794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70" name="Shape 66"/>
          <p:cNvSpPr/>
          <p:nvPr/>
        </p:nvSpPr>
        <p:spPr>
          <a:xfrm>
            <a:off x="10131028" y="2526030"/>
            <a:ext cx="1615202" cy="289560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sp>
        <p:nvSpPr>
          <p:cNvPr id="71" name="Shape 67"/>
          <p:cNvSpPr/>
          <p:nvPr/>
        </p:nvSpPr>
        <p:spPr>
          <a:xfrm>
            <a:off x="10131028" y="2807970"/>
            <a:ext cx="1615202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72" name="Text 68"/>
          <p:cNvSpPr/>
          <p:nvPr/>
        </p:nvSpPr>
        <p:spPr>
          <a:xfrm>
            <a:off x="10207228" y="2567940"/>
            <a:ext cx="1462802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73" name="Shape 69"/>
          <p:cNvSpPr/>
          <p:nvPr/>
        </p:nvSpPr>
        <p:spPr>
          <a:xfrm>
            <a:off x="441960" y="2815590"/>
            <a:ext cx="1614845" cy="289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4" name="Shape 70"/>
          <p:cNvSpPr/>
          <p:nvPr/>
        </p:nvSpPr>
        <p:spPr>
          <a:xfrm>
            <a:off x="441960" y="309753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75" name="Shape 71"/>
          <p:cNvSpPr/>
          <p:nvPr/>
        </p:nvSpPr>
        <p:spPr>
          <a:xfrm>
            <a:off x="2049185" y="2815590"/>
            <a:ext cx="7620" cy="2895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" name="Text 72"/>
          <p:cNvSpPr/>
          <p:nvPr/>
        </p:nvSpPr>
        <p:spPr>
          <a:xfrm>
            <a:off x="518160" y="285750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启发式方法</a:t>
            </a:r>
            <a:endParaRPr lang="zh-CN" sz="1200" dirty="0"/>
          </a:p>
        </p:txBody>
      </p:sp>
      <p:sp>
        <p:nvSpPr>
          <p:cNvPr id="77" name="Shape 73"/>
          <p:cNvSpPr/>
          <p:nvPr/>
        </p:nvSpPr>
        <p:spPr>
          <a:xfrm>
            <a:off x="2056805" y="2815590"/>
            <a:ext cx="1614845" cy="289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8" name="Shape 74"/>
          <p:cNvSpPr/>
          <p:nvPr/>
        </p:nvSpPr>
        <p:spPr>
          <a:xfrm>
            <a:off x="2056805" y="309753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79" name="Text 75"/>
          <p:cNvSpPr/>
          <p:nvPr/>
        </p:nvSpPr>
        <p:spPr>
          <a:xfrm>
            <a:off x="2136815" y="285750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80" name="Shape 76"/>
          <p:cNvSpPr/>
          <p:nvPr/>
        </p:nvSpPr>
        <p:spPr>
          <a:xfrm>
            <a:off x="3671649" y="2815590"/>
            <a:ext cx="1614845" cy="289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1" name="Shape 77"/>
          <p:cNvSpPr/>
          <p:nvPr/>
        </p:nvSpPr>
        <p:spPr>
          <a:xfrm>
            <a:off x="3671649" y="309753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82" name="Shape 78"/>
          <p:cNvSpPr/>
          <p:nvPr/>
        </p:nvSpPr>
        <p:spPr>
          <a:xfrm>
            <a:off x="5278874" y="2815590"/>
            <a:ext cx="7620" cy="2895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" name="Text 79"/>
          <p:cNvSpPr/>
          <p:nvPr/>
        </p:nvSpPr>
        <p:spPr>
          <a:xfrm>
            <a:off x="3747849" y="285750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84" name="Shape 80"/>
          <p:cNvSpPr/>
          <p:nvPr/>
        </p:nvSpPr>
        <p:spPr>
          <a:xfrm>
            <a:off x="5286494" y="2815590"/>
            <a:ext cx="1614845" cy="289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5" name="Shape 81"/>
          <p:cNvSpPr/>
          <p:nvPr/>
        </p:nvSpPr>
        <p:spPr>
          <a:xfrm>
            <a:off x="5286494" y="309753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86" name="Text 82"/>
          <p:cNvSpPr/>
          <p:nvPr/>
        </p:nvSpPr>
        <p:spPr>
          <a:xfrm>
            <a:off x="5366504" y="285750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87" name="Shape 83"/>
          <p:cNvSpPr/>
          <p:nvPr/>
        </p:nvSpPr>
        <p:spPr>
          <a:xfrm>
            <a:off x="6901339" y="2815590"/>
            <a:ext cx="1614845" cy="289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8" name="Shape 84"/>
          <p:cNvSpPr/>
          <p:nvPr/>
        </p:nvSpPr>
        <p:spPr>
          <a:xfrm>
            <a:off x="6901339" y="309753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89" name="Shape 85"/>
          <p:cNvSpPr/>
          <p:nvPr/>
        </p:nvSpPr>
        <p:spPr>
          <a:xfrm>
            <a:off x="8508563" y="2815590"/>
            <a:ext cx="7620" cy="2895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" name="Text 86"/>
          <p:cNvSpPr/>
          <p:nvPr/>
        </p:nvSpPr>
        <p:spPr>
          <a:xfrm>
            <a:off x="6977539" y="285750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91" name="Shape 87"/>
          <p:cNvSpPr/>
          <p:nvPr/>
        </p:nvSpPr>
        <p:spPr>
          <a:xfrm>
            <a:off x="8516183" y="2815590"/>
            <a:ext cx="1614845" cy="289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2" name="Shape 88"/>
          <p:cNvSpPr/>
          <p:nvPr/>
        </p:nvSpPr>
        <p:spPr>
          <a:xfrm>
            <a:off x="8516183" y="309753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93" name="Text 89"/>
          <p:cNvSpPr/>
          <p:nvPr/>
        </p:nvSpPr>
        <p:spPr>
          <a:xfrm>
            <a:off x="8596193" y="285750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94" name="Shape 90"/>
          <p:cNvSpPr/>
          <p:nvPr/>
        </p:nvSpPr>
        <p:spPr>
          <a:xfrm>
            <a:off x="10131028" y="2815590"/>
            <a:ext cx="1615202" cy="289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5" name="Shape 91"/>
          <p:cNvSpPr/>
          <p:nvPr/>
        </p:nvSpPr>
        <p:spPr>
          <a:xfrm>
            <a:off x="10131028" y="3097530"/>
            <a:ext cx="1615202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96" name="Text 92"/>
          <p:cNvSpPr/>
          <p:nvPr/>
        </p:nvSpPr>
        <p:spPr>
          <a:xfrm>
            <a:off x="10207228" y="2857500"/>
            <a:ext cx="1462802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97" name="Shape 93"/>
          <p:cNvSpPr/>
          <p:nvPr/>
        </p:nvSpPr>
        <p:spPr>
          <a:xfrm>
            <a:off x="441960" y="3105150"/>
            <a:ext cx="1614845" cy="289560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sp>
        <p:nvSpPr>
          <p:cNvPr id="98" name="Shape 94"/>
          <p:cNvSpPr/>
          <p:nvPr/>
        </p:nvSpPr>
        <p:spPr>
          <a:xfrm>
            <a:off x="441960" y="338709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99" name="Shape 95"/>
          <p:cNvSpPr/>
          <p:nvPr/>
        </p:nvSpPr>
        <p:spPr>
          <a:xfrm>
            <a:off x="2049185" y="3105150"/>
            <a:ext cx="7620" cy="2895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" name="Text 96"/>
          <p:cNvSpPr/>
          <p:nvPr/>
        </p:nvSpPr>
        <p:spPr>
          <a:xfrm>
            <a:off x="518160" y="314706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基线方法 A</a:t>
            </a:r>
            <a:endParaRPr lang="zh-CN" sz="1200" dirty="0"/>
          </a:p>
        </p:txBody>
      </p:sp>
      <p:sp>
        <p:nvSpPr>
          <p:cNvPr id="101" name="Shape 97"/>
          <p:cNvSpPr/>
          <p:nvPr/>
        </p:nvSpPr>
        <p:spPr>
          <a:xfrm>
            <a:off x="2056805" y="3105150"/>
            <a:ext cx="1614845" cy="289560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sp>
        <p:nvSpPr>
          <p:cNvPr id="102" name="Shape 98"/>
          <p:cNvSpPr/>
          <p:nvPr/>
        </p:nvSpPr>
        <p:spPr>
          <a:xfrm>
            <a:off x="2056805" y="338709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03" name="Text 99"/>
          <p:cNvSpPr/>
          <p:nvPr/>
        </p:nvSpPr>
        <p:spPr>
          <a:xfrm>
            <a:off x="2136815" y="314706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104" name="Shape 100"/>
          <p:cNvSpPr/>
          <p:nvPr/>
        </p:nvSpPr>
        <p:spPr>
          <a:xfrm>
            <a:off x="3671649" y="3105150"/>
            <a:ext cx="1614845" cy="289560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sp>
        <p:nvSpPr>
          <p:cNvPr id="105" name="Shape 101"/>
          <p:cNvSpPr/>
          <p:nvPr/>
        </p:nvSpPr>
        <p:spPr>
          <a:xfrm>
            <a:off x="3671649" y="338709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06" name="Shape 102"/>
          <p:cNvSpPr/>
          <p:nvPr/>
        </p:nvSpPr>
        <p:spPr>
          <a:xfrm>
            <a:off x="5278874" y="3105150"/>
            <a:ext cx="7620" cy="2895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7" name="Text 103"/>
          <p:cNvSpPr/>
          <p:nvPr/>
        </p:nvSpPr>
        <p:spPr>
          <a:xfrm>
            <a:off x="3747849" y="314706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108" name="Shape 104"/>
          <p:cNvSpPr/>
          <p:nvPr/>
        </p:nvSpPr>
        <p:spPr>
          <a:xfrm>
            <a:off x="5286494" y="3105150"/>
            <a:ext cx="1614845" cy="289560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sp>
        <p:nvSpPr>
          <p:cNvPr id="109" name="Shape 105"/>
          <p:cNvSpPr/>
          <p:nvPr/>
        </p:nvSpPr>
        <p:spPr>
          <a:xfrm>
            <a:off x="5286494" y="338709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10" name="Text 106"/>
          <p:cNvSpPr/>
          <p:nvPr/>
        </p:nvSpPr>
        <p:spPr>
          <a:xfrm>
            <a:off x="5366504" y="314706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111" name="Shape 107"/>
          <p:cNvSpPr/>
          <p:nvPr/>
        </p:nvSpPr>
        <p:spPr>
          <a:xfrm>
            <a:off x="6901339" y="3105150"/>
            <a:ext cx="1614845" cy="289560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sp>
        <p:nvSpPr>
          <p:cNvPr id="112" name="Shape 108"/>
          <p:cNvSpPr/>
          <p:nvPr/>
        </p:nvSpPr>
        <p:spPr>
          <a:xfrm>
            <a:off x="6901339" y="338709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13" name="Shape 109"/>
          <p:cNvSpPr/>
          <p:nvPr/>
        </p:nvSpPr>
        <p:spPr>
          <a:xfrm>
            <a:off x="8508563" y="3105150"/>
            <a:ext cx="7620" cy="2895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4" name="Text 110"/>
          <p:cNvSpPr/>
          <p:nvPr/>
        </p:nvSpPr>
        <p:spPr>
          <a:xfrm>
            <a:off x="6977539" y="314706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115" name="Shape 111"/>
          <p:cNvSpPr/>
          <p:nvPr/>
        </p:nvSpPr>
        <p:spPr>
          <a:xfrm>
            <a:off x="8516183" y="3105150"/>
            <a:ext cx="1614845" cy="289560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sp>
        <p:nvSpPr>
          <p:cNvPr id="116" name="Shape 112"/>
          <p:cNvSpPr/>
          <p:nvPr/>
        </p:nvSpPr>
        <p:spPr>
          <a:xfrm>
            <a:off x="8516183" y="338709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17" name="Text 113"/>
          <p:cNvSpPr/>
          <p:nvPr/>
        </p:nvSpPr>
        <p:spPr>
          <a:xfrm>
            <a:off x="8596193" y="314706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118" name="Shape 114"/>
          <p:cNvSpPr/>
          <p:nvPr/>
        </p:nvSpPr>
        <p:spPr>
          <a:xfrm>
            <a:off x="10131028" y="3105150"/>
            <a:ext cx="1615202" cy="289560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sp>
        <p:nvSpPr>
          <p:cNvPr id="119" name="Shape 115"/>
          <p:cNvSpPr/>
          <p:nvPr/>
        </p:nvSpPr>
        <p:spPr>
          <a:xfrm>
            <a:off x="10131028" y="3387090"/>
            <a:ext cx="1615202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20" name="Text 116"/>
          <p:cNvSpPr/>
          <p:nvPr/>
        </p:nvSpPr>
        <p:spPr>
          <a:xfrm>
            <a:off x="10207228" y="3147060"/>
            <a:ext cx="1462802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121" name="Shape 117"/>
          <p:cNvSpPr/>
          <p:nvPr/>
        </p:nvSpPr>
        <p:spPr>
          <a:xfrm>
            <a:off x="441960" y="3394710"/>
            <a:ext cx="1614845" cy="289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2" name="Shape 118"/>
          <p:cNvSpPr/>
          <p:nvPr/>
        </p:nvSpPr>
        <p:spPr>
          <a:xfrm>
            <a:off x="441960" y="367665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23" name="Shape 119"/>
          <p:cNvSpPr/>
          <p:nvPr/>
        </p:nvSpPr>
        <p:spPr>
          <a:xfrm>
            <a:off x="2049185" y="3394710"/>
            <a:ext cx="7620" cy="2895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4" name="Text 120"/>
          <p:cNvSpPr/>
          <p:nvPr/>
        </p:nvSpPr>
        <p:spPr>
          <a:xfrm>
            <a:off x="518160" y="343662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基线方法 B</a:t>
            </a:r>
            <a:endParaRPr lang="zh-CN" sz="1200" dirty="0"/>
          </a:p>
        </p:txBody>
      </p:sp>
      <p:sp>
        <p:nvSpPr>
          <p:cNvPr id="125" name="Shape 121"/>
          <p:cNvSpPr/>
          <p:nvPr/>
        </p:nvSpPr>
        <p:spPr>
          <a:xfrm>
            <a:off x="2056805" y="3394710"/>
            <a:ext cx="1614845" cy="289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6" name="Shape 122"/>
          <p:cNvSpPr/>
          <p:nvPr/>
        </p:nvSpPr>
        <p:spPr>
          <a:xfrm>
            <a:off x="2056805" y="367665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27" name="Text 123"/>
          <p:cNvSpPr/>
          <p:nvPr/>
        </p:nvSpPr>
        <p:spPr>
          <a:xfrm>
            <a:off x="2136815" y="343662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128" name="Shape 124"/>
          <p:cNvSpPr/>
          <p:nvPr/>
        </p:nvSpPr>
        <p:spPr>
          <a:xfrm>
            <a:off x="3671649" y="3394710"/>
            <a:ext cx="1614845" cy="289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9" name="Shape 125"/>
          <p:cNvSpPr/>
          <p:nvPr/>
        </p:nvSpPr>
        <p:spPr>
          <a:xfrm>
            <a:off x="3671649" y="367665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30" name="Shape 126"/>
          <p:cNvSpPr/>
          <p:nvPr/>
        </p:nvSpPr>
        <p:spPr>
          <a:xfrm>
            <a:off x="5278874" y="3394710"/>
            <a:ext cx="7620" cy="2895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1" name="Text 127"/>
          <p:cNvSpPr/>
          <p:nvPr/>
        </p:nvSpPr>
        <p:spPr>
          <a:xfrm>
            <a:off x="3747849" y="343662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132" name="Shape 128"/>
          <p:cNvSpPr/>
          <p:nvPr/>
        </p:nvSpPr>
        <p:spPr>
          <a:xfrm>
            <a:off x="5286494" y="3394710"/>
            <a:ext cx="1614845" cy="289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3" name="Shape 129"/>
          <p:cNvSpPr/>
          <p:nvPr/>
        </p:nvSpPr>
        <p:spPr>
          <a:xfrm>
            <a:off x="5286494" y="367665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34" name="Text 130"/>
          <p:cNvSpPr/>
          <p:nvPr/>
        </p:nvSpPr>
        <p:spPr>
          <a:xfrm>
            <a:off x="5366504" y="343662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135" name="Shape 131"/>
          <p:cNvSpPr/>
          <p:nvPr/>
        </p:nvSpPr>
        <p:spPr>
          <a:xfrm>
            <a:off x="6901339" y="3394710"/>
            <a:ext cx="1614845" cy="289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6" name="Shape 132"/>
          <p:cNvSpPr/>
          <p:nvPr/>
        </p:nvSpPr>
        <p:spPr>
          <a:xfrm>
            <a:off x="6901339" y="367665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37" name="Shape 133"/>
          <p:cNvSpPr/>
          <p:nvPr/>
        </p:nvSpPr>
        <p:spPr>
          <a:xfrm>
            <a:off x="8508563" y="3394710"/>
            <a:ext cx="7620" cy="2895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8" name="Text 134"/>
          <p:cNvSpPr/>
          <p:nvPr/>
        </p:nvSpPr>
        <p:spPr>
          <a:xfrm>
            <a:off x="6977539" y="343662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139" name="Shape 135"/>
          <p:cNvSpPr/>
          <p:nvPr/>
        </p:nvSpPr>
        <p:spPr>
          <a:xfrm>
            <a:off x="8516183" y="3394710"/>
            <a:ext cx="1614845" cy="289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0" name="Shape 136"/>
          <p:cNvSpPr/>
          <p:nvPr/>
        </p:nvSpPr>
        <p:spPr>
          <a:xfrm>
            <a:off x="8516183" y="367665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41" name="Text 137"/>
          <p:cNvSpPr/>
          <p:nvPr/>
        </p:nvSpPr>
        <p:spPr>
          <a:xfrm>
            <a:off x="8596193" y="343662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142" name="Shape 138"/>
          <p:cNvSpPr/>
          <p:nvPr/>
        </p:nvSpPr>
        <p:spPr>
          <a:xfrm>
            <a:off x="10131028" y="3394710"/>
            <a:ext cx="1615202" cy="289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3" name="Shape 139"/>
          <p:cNvSpPr/>
          <p:nvPr/>
        </p:nvSpPr>
        <p:spPr>
          <a:xfrm>
            <a:off x="10131028" y="3676650"/>
            <a:ext cx="1615202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44" name="Text 140"/>
          <p:cNvSpPr/>
          <p:nvPr/>
        </p:nvSpPr>
        <p:spPr>
          <a:xfrm>
            <a:off x="10207228" y="3436620"/>
            <a:ext cx="1462802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145" name="Shape 141"/>
          <p:cNvSpPr/>
          <p:nvPr/>
        </p:nvSpPr>
        <p:spPr>
          <a:xfrm>
            <a:off x="441960" y="3684270"/>
            <a:ext cx="1614845" cy="289560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sp>
        <p:nvSpPr>
          <p:cNvPr id="146" name="Shape 142"/>
          <p:cNvSpPr/>
          <p:nvPr/>
        </p:nvSpPr>
        <p:spPr>
          <a:xfrm>
            <a:off x="441960" y="396621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47" name="Shape 143"/>
          <p:cNvSpPr/>
          <p:nvPr/>
        </p:nvSpPr>
        <p:spPr>
          <a:xfrm>
            <a:off x="2049185" y="3684270"/>
            <a:ext cx="7620" cy="2895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8" name="Text 144"/>
          <p:cNvSpPr/>
          <p:nvPr/>
        </p:nvSpPr>
        <p:spPr>
          <a:xfrm>
            <a:off x="518160" y="372618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局部搜索</a:t>
            </a:r>
            <a:endParaRPr lang="zh-CN" sz="1200" dirty="0"/>
          </a:p>
        </p:txBody>
      </p:sp>
      <p:sp>
        <p:nvSpPr>
          <p:cNvPr id="149" name="Shape 145"/>
          <p:cNvSpPr/>
          <p:nvPr/>
        </p:nvSpPr>
        <p:spPr>
          <a:xfrm>
            <a:off x="2056805" y="3684270"/>
            <a:ext cx="1614845" cy="289560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sp>
        <p:nvSpPr>
          <p:cNvPr id="150" name="Shape 146"/>
          <p:cNvSpPr/>
          <p:nvPr/>
        </p:nvSpPr>
        <p:spPr>
          <a:xfrm>
            <a:off x="2056805" y="396621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51" name="Text 147"/>
          <p:cNvSpPr/>
          <p:nvPr/>
        </p:nvSpPr>
        <p:spPr>
          <a:xfrm>
            <a:off x="2136815" y="372618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152" name="Shape 148"/>
          <p:cNvSpPr/>
          <p:nvPr/>
        </p:nvSpPr>
        <p:spPr>
          <a:xfrm>
            <a:off x="3671649" y="3684270"/>
            <a:ext cx="1614845" cy="289560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sp>
        <p:nvSpPr>
          <p:cNvPr id="153" name="Shape 149"/>
          <p:cNvSpPr/>
          <p:nvPr/>
        </p:nvSpPr>
        <p:spPr>
          <a:xfrm>
            <a:off x="3671649" y="396621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54" name="Shape 150"/>
          <p:cNvSpPr/>
          <p:nvPr/>
        </p:nvSpPr>
        <p:spPr>
          <a:xfrm>
            <a:off x="5278874" y="3684270"/>
            <a:ext cx="7620" cy="2895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5" name="Text 151"/>
          <p:cNvSpPr/>
          <p:nvPr/>
        </p:nvSpPr>
        <p:spPr>
          <a:xfrm>
            <a:off x="3747849" y="372618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156" name="Shape 152"/>
          <p:cNvSpPr/>
          <p:nvPr/>
        </p:nvSpPr>
        <p:spPr>
          <a:xfrm>
            <a:off x="5286494" y="3684270"/>
            <a:ext cx="1614845" cy="289560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sp>
        <p:nvSpPr>
          <p:cNvPr id="157" name="Shape 153"/>
          <p:cNvSpPr/>
          <p:nvPr/>
        </p:nvSpPr>
        <p:spPr>
          <a:xfrm>
            <a:off x="5286494" y="396621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58" name="Text 154"/>
          <p:cNvSpPr/>
          <p:nvPr/>
        </p:nvSpPr>
        <p:spPr>
          <a:xfrm>
            <a:off x="5366504" y="372618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159" name="Shape 155"/>
          <p:cNvSpPr/>
          <p:nvPr/>
        </p:nvSpPr>
        <p:spPr>
          <a:xfrm>
            <a:off x="6901339" y="3684270"/>
            <a:ext cx="1614845" cy="289560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sp>
        <p:nvSpPr>
          <p:cNvPr id="160" name="Shape 156"/>
          <p:cNvSpPr/>
          <p:nvPr/>
        </p:nvSpPr>
        <p:spPr>
          <a:xfrm>
            <a:off x="6901339" y="396621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61" name="Shape 157"/>
          <p:cNvSpPr/>
          <p:nvPr/>
        </p:nvSpPr>
        <p:spPr>
          <a:xfrm>
            <a:off x="8508563" y="3684270"/>
            <a:ext cx="7620" cy="2895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2" name="Text 158"/>
          <p:cNvSpPr/>
          <p:nvPr/>
        </p:nvSpPr>
        <p:spPr>
          <a:xfrm>
            <a:off x="6977539" y="372618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163" name="Shape 159"/>
          <p:cNvSpPr/>
          <p:nvPr/>
        </p:nvSpPr>
        <p:spPr>
          <a:xfrm>
            <a:off x="8516183" y="3684270"/>
            <a:ext cx="1614845" cy="289560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sp>
        <p:nvSpPr>
          <p:cNvPr id="164" name="Shape 160"/>
          <p:cNvSpPr/>
          <p:nvPr/>
        </p:nvSpPr>
        <p:spPr>
          <a:xfrm>
            <a:off x="8516183" y="396621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65" name="Text 161"/>
          <p:cNvSpPr/>
          <p:nvPr/>
        </p:nvSpPr>
        <p:spPr>
          <a:xfrm>
            <a:off x="8596193" y="372618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166" name="Shape 162"/>
          <p:cNvSpPr/>
          <p:nvPr/>
        </p:nvSpPr>
        <p:spPr>
          <a:xfrm>
            <a:off x="10131028" y="3684270"/>
            <a:ext cx="1615202" cy="289560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sp>
        <p:nvSpPr>
          <p:cNvPr id="167" name="Shape 163"/>
          <p:cNvSpPr/>
          <p:nvPr/>
        </p:nvSpPr>
        <p:spPr>
          <a:xfrm>
            <a:off x="10131028" y="3966210"/>
            <a:ext cx="1615202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68" name="Text 164"/>
          <p:cNvSpPr/>
          <p:nvPr/>
        </p:nvSpPr>
        <p:spPr>
          <a:xfrm>
            <a:off x="10207228" y="3726180"/>
            <a:ext cx="1462802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169" name="Shape 165"/>
          <p:cNvSpPr/>
          <p:nvPr/>
        </p:nvSpPr>
        <p:spPr>
          <a:xfrm>
            <a:off x="441960" y="3973830"/>
            <a:ext cx="1614845" cy="289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0" name="Shape 166"/>
          <p:cNvSpPr/>
          <p:nvPr/>
        </p:nvSpPr>
        <p:spPr>
          <a:xfrm>
            <a:off x="441960" y="425577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71" name="Shape 167"/>
          <p:cNvSpPr/>
          <p:nvPr/>
        </p:nvSpPr>
        <p:spPr>
          <a:xfrm>
            <a:off x="2049185" y="3973830"/>
            <a:ext cx="7620" cy="2895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2" name="Text 168"/>
          <p:cNvSpPr/>
          <p:nvPr/>
        </p:nvSpPr>
        <p:spPr>
          <a:xfrm>
            <a:off x="518160" y="401574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消融版本 A</a:t>
            </a:r>
            <a:endParaRPr lang="zh-CN" sz="1200" dirty="0"/>
          </a:p>
        </p:txBody>
      </p:sp>
      <p:sp>
        <p:nvSpPr>
          <p:cNvPr id="173" name="Shape 169"/>
          <p:cNvSpPr/>
          <p:nvPr/>
        </p:nvSpPr>
        <p:spPr>
          <a:xfrm>
            <a:off x="2056805" y="3973830"/>
            <a:ext cx="1614845" cy="289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4" name="Shape 170"/>
          <p:cNvSpPr/>
          <p:nvPr/>
        </p:nvSpPr>
        <p:spPr>
          <a:xfrm>
            <a:off x="2056805" y="425577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75" name="Text 171"/>
          <p:cNvSpPr/>
          <p:nvPr/>
        </p:nvSpPr>
        <p:spPr>
          <a:xfrm>
            <a:off x="2136815" y="401574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176" name="Shape 172"/>
          <p:cNvSpPr/>
          <p:nvPr/>
        </p:nvSpPr>
        <p:spPr>
          <a:xfrm>
            <a:off x="3671649" y="3973830"/>
            <a:ext cx="1614845" cy="289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7" name="Shape 173"/>
          <p:cNvSpPr/>
          <p:nvPr/>
        </p:nvSpPr>
        <p:spPr>
          <a:xfrm>
            <a:off x="3671649" y="425577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78" name="Shape 174"/>
          <p:cNvSpPr/>
          <p:nvPr/>
        </p:nvSpPr>
        <p:spPr>
          <a:xfrm>
            <a:off x="5278874" y="3973830"/>
            <a:ext cx="7620" cy="2895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9" name="Text 175"/>
          <p:cNvSpPr/>
          <p:nvPr/>
        </p:nvSpPr>
        <p:spPr>
          <a:xfrm>
            <a:off x="3747849" y="401574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180" name="Shape 176"/>
          <p:cNvSpPr/>
          <p:nvPr/>
        </p:nvSpPr>
        <p:spPr>
          <a:xfrm>
            <a:off x="5286494" y="3973830"/>
            <a:ext cx="1614845" cy="289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1" name="Shape 177"/>
          <p:cNvSpPr/>
          <p:nvPr/>
        </p:nvSpPr>
        <p:spPr>
          <a:xfrm>
            <a:off x="5286494" y="425577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82" name="Text 178"/>
          <p:cNvSpPr/>
          <p:nvPr/>
        </p:nvSpPr>
        <p:spPr>
          <a:xfrm>
            <a:off x="5366504" y="401574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183" name="Shape 179"/>
          <p:cNvSpPr/>
          <p:nvPr/>
        </p:nvSpPr>
        <p:spPr>
          <a:xfrm>
            <a:off x="6901339" y="3973830"/>
            <a:ext cx="1614845" cy="289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4" name="Shape 180"/>
          <p:cNvSpPr/>
          <p:nvPr/>
        </p:nvSpPr>
        <p:spPr>
          <a:xfrm>
            <a:off x="6901339" y="425577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85" name="Shape 181"/>
          <p:cNvSpPr/>
          <p:nvPr/>
        </p:nvSpPr>
        <p:spPr>
          <a:xfrm>
            <a:off x="8508563" y="3973830"/>
            <a:ext cx="7620" cy="2895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6" name="Text 182"/>
          <p:cNvSpPr/>
          <p:nvPr/>
        </p:nvSpPr>
        <p:spPr>
          <a:xfrm>
            <a:off x="6977539" y="401574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187" name="Shape 183"/>
          <p:cNvSpPr/>
          <p:nvPr/>
        </p:nvSpPr>
        <p:spPr>
          <a:xfrm>
            <a:off x="8516183" y="3973830"/>
            <a:ext cx="1614845" cy="289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8" name="Shape 184"/>
          <p:cNvSpPr/>
          <p:nvPr/>
        </p:nvSpPr>
        <p:spPr>
          <a:xfrm>
            <a:off x="8516183" y="425577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89" name="Text 185"/>
          <p:cNvSpPr/>
          <p:nvPr/>
        </p:nvSpPr>
        <p:spPr>
          <a:xfrm>
            <a:off x="8596193" y="401574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190" name="Shape 186"/>
          <p:cNvSpPr/>
          <p:nvPr/>
        </p:nvSpPr>
        <p:spPr>
          <a:xfrm>
            <a:off x="10131028" y="3973830"/>
            <a:ext cx="1615202" cy="289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1" name="Shape 187"/>
          <p:cNvSpPr/>
          <p:nvPr/>
        </p:nvSpPr>
        <p:spPr>
          <a:xfrm>
            <a:off x="10131028" y="4255770"/>
            <a:ext cx="1615202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92" name="Text 188"/>
          <p:cNvSpPr/>
          <p:nvPr/>
        </p:nvSpPr>
        <p:spPr>
          <a:xfrm>
            <a:off x="10207228" y="4015740"/>
            <a:ext cx="1462802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193" name="Shape 189"/>
          <p:cNvSpPr/>
          <p:nvPr/>
        </p:nvSpPr>
        <p:spPr>
          <a:xfrm>
            <a:off x="441960" y="4263390"/>
            <a:ext cx="1614845" cy="289560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sp>
        <p:nvSpPr>
          <p:cNvPr id="194" name="Shape 190"/>
          <p:cNvSpPr/>
          <p:nvPr/>
        </p:nvSpPr>
        <p:spPr>
          <a:xfrm>
            <a:off x="441960" y="454533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95" name="Shape 191"/>
          <p:cNvSpPr/>
          <p:nvPr/>
        </p:nvSpPr>
        <p:spPr>
          <a:xfrm>
            <a:off x="2049185" y="4263390"/>
            <a:ext cx="7620" cy="2895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6" name="Text 192"/>
          <p:cNvSpPr/>
          <p:nvPr/>
        </p:nvSpPr>
        <p:spPr>
          <a:xfrm>
            <a:off x="518160" y="430530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消融版本 B</a:t>
            </a:r>
            <a:endParaRPr lang="zh-CN" sz="1200" dirty="0"/>
          </a:p>
        </p:txBody>
      </p:sp>
      <p:sp>
        <p:nvSpPr>
          <p:cNvPr id="197" name="Shape 193"/>
          <p:cNvSpPr/>
          <p:nvPr/>
        </p:nvSpPr>
        <p:spPr>
          <a:xfrm>
            <a:off x="2056805" y="4263390"/>
            <a:ext cx="1614845" cy="289560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sp>
        <p:nvSpPr>
          <p:cNvPr id="198" name="Shape 194"/>
          <p:cNvSpPr/>
          <p:nvPr/>
        </p:nvSpPr>
        <p:spPr>
          <a:xfrm>
            <a:off x="2056805" y="454533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99" name="Text 195"/>
          <p:cNvSpPr/>
          <p:nvPr/>
        </p:nvSpPr>
        <p:spPr>
          <a:xfrm>
            <a:off x="2136815" y="430530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200" name="Shape 196"/>
          <p:cNvSpPr/>
          <p:nvPr/>
        </p:nvSpPr>
        <p:spPr>
          <a:xfrm>
            <a:off x="3671649" y="4263390"/>
            <a:ext cx="1614845" cy="289560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sp>
        <p:nvSpPr>
          <p:cNvPr id="201" name="Shape 197"/>
          <p:cNvSpPr/>
          <p:nvPr/>
        </p:nvSpPr>
        <p:spPr>
          <a:xfrm>
            <a:off x="3671649" y="454533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202" name="Shape 198"/>
          <p:cNvSpPr/>
          <p:nvPr/>
        </p:nvSpPr>
        <p:spPr>
          <a:xfrm>
            <a:off x="5278874" y="4263390"/>
            <a:ext cx="7620" cy="2895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3" name="Text 199"/>
          <p:cNvSpPr/>
          <p:nvPr/>
        </p:nvSpPr>
        <p:spPr>
          <a:xfrm>
            <a:off x="3747849" y="430530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204" name="Shape 200"/>
          <p:cNvSpPr/>
          <p:nvPr/>
        </p:nvSpPr>
        <p:spPr>
          <a:xfrm>
            <a:off x="5286494" y="4263390"/>
            <a:ext cx="1614845" cy="289560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sp>
        <p:nvSpPr>
          <p:cNvPr id="205" name="Shape 201"/>
          <p:cNvSpPr/>
          <p:nvPr/>
        </p:nvSpPr>
        <p:spPr>
          <a:xfrm>
            <a:off x="5286494" y="454533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206" name="Text 202"/>
          <p:cNvSpPr/>
          <p:nvPr/>
        </p:nvSpPr>
        <p:spPr>
          <a:xfrm>
            <a:off x="5366504" y="430530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207" name="Shape 203"/>
          <p:cNvSpPr/>
          <p:nvPr/>
        </p:nvSpPr>
        <p:spPr>
          <a:xfrm>
            <a:off x="6901339" y="4263390"/>
            <a:ext cx="1614845" cy="289560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sp>
        <p:nvSpPr>
          <p:cNvPr id="208" name="Shape 204"/>
          <p:cNvSpPr/>
          <p:nvPr/>
        </p:nvSpPr>
        <p:spPr>
          <a:xfrm>
            <a:off x="6901339" y="454533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209" name="Shape 205"/>
          <p:cNvSpPr/>
          <p:nvPr/>
        </p:nvSpPr>
        <p:spPr>
          <a:xfrm>
            <a:off x="8508563" y="4263390"/>
            <a:ext cx="7620" cy="2895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0" name="Text 206"/>
          <p:cNvSpPr/>
          <p:nvPr/>
        </p:nvSpPr>
        <p:spPr>
          <a:xfrm>
            <a:off x="6977539" y="430530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211" name="Shape 207"/>
          <p:cNvSpPr/>
          <p:nvPr/>
        </p:nvSpPr>
        <p:spPr>
          <a:xfrm>
            <a:off x="8516183" y="4263390"/>
            <a:ext cx="1614845" cy="289560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sp>
        <p:nvSpPr>
          <p:cNvPr id="212" name="Shape 208"/>
          <p:cNvSpPr/>
          <p:nvPr/>
        </p:nvSpPr>
        <p:spPr>
          <a:xfrm>
            <a:off x="8516183" y="454533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213" name="Text 209"/>
          <p:cNvSpPr/>
          <p:nvPr/>
        </p:nvSpPr>
        <p:spPr>
          <a:xfrm>
            <a:off x="8596193" y="430530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214" name="Shape 210"/>
          <p:cNvSpPr/>
          <p:nvPr/>
        </p:nvSpPr>
        <p:spPr>
          <a:xfrm>
            <a:off x="10131028" y="4263390"/>
            <a:ext cx="1615202" cy="289560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sp>
        <p:nvSpPr>
          <p:cNvPr id="215" name="Shape 211"/>
          <p:cNvSpPr/>
          <p:nvPr/>
        </p:nvSpPr>
        <p:spPr>
          <a:xfrm>
            <a:off x="10131028" y="4545330"/>
            <a:ext cx="1615202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216" name="Text 212"/>
          <p:cNvSpPr/>
          <p:nvPr/>
        </p:nvSpPr>
        <p:spPr>
          <a:xfrm>
            <a:off x="10207228" y="4305300"/>
            <a:ext cx="1462802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217" name="Shape 213"/>
          <p:cNvSpPr/>
          <p:nvPr/>
        </p:nvSpPr>
        <p:spPr>
          <a:xfrm>
            <a:off x="441960" y="4552950"/>
            <a:ext cx="1614845" cy="289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8" name="Shape 214"/>
          <p:cNvSpPr/>
          <p:nvPr/>
        </p:nvSpPr>
        <p:spPr>
          <a:xfrm>
            <a:off x="441960" y="483489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219" name="Shape 215"/>
          <p:cNvSpPr/>
          <p:nvPr/>
        </p:nvSpPr>
        <p:spPr>
          <a:xfrm>
            <a:off x="2049185" y="4552950"/>
            <a:ext cx="7620" cy="2895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0" name="Text 216"/>
          <p:cNvSpPr/>
          <p:nvPr/>
        </p:nvSpPr>
        <p:spPr>
          <a:xfrm>
            <a:off x="518160" y="459486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完整方法</a:t>
            </a:r>
            <a:endParaRPr lang="zh-CN" sz="1200" dirty="0"/>
          </a:p>
        </p:txBody>
      </p:sp>
      <p:sp>
        <p:nvSpPr>
          <p:cNvPr id="221" name="Shape 217"/>
          <p:cNvSpPr/>
          <p:nvPr/>
        </p:nvSpPr>
        <p:spPr>
          <a:xfrm>
            <a:off x="2056805" y="4552950"/>
            <a:ext cx="1614845" cy="289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2" name="Shape 218"/>
          <p:cNvSpPr/>
          <p:nvPr/>
        </p:nvSpPr>
        <p:spPr>
          <a:xfrm>
            <a:off x="2056805" y="483489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223" name="Text 219"/>
          <p:cNvSpPr/>
          <p:nvPr/>
        </p:nvSpPr>
        <p:spPr>
          <a:xfrm>
            <a:off x="2136815" y="459486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224" name="Shape 220"/>
          <p:cNvSpPr/>
          <p:nvPr/>
        </p:nvSpPr>
        <p:spPr>
          <a:xfrm>
            <a:off x="3671649" y="4552950"/>
            <a:ext cx="1614845" cy="289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5" name="Shape 221"/>
          <p:cNvSpPr/>
          <p:nvPr/>
        </p:nvSpPr>
        <p:spPr>
          <a:xfrm>
            <a:off x="3671649" y="483489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226" name="Shape 222"/>
          <p:cNvSpPr/>
          <p:nvPr/>
        </p:nvSpPr>
        <p:spPr>
          <a:xfrm>
            <a:off x="5278874" y="4552950"/>
            <a:ext cx="7620" cy="2895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7" name="Text 223"/>
          <p:cNvSpPr/>
          <p:nvPr/>
        </p:nvSpPr>
        <p:spPr>
          <a:xfrm>
            <a:off x="3747849" y="459486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228" name="Shape 224"/>
          <p:cNvSpPr/>
          <p:nvPr/>
        </p:nvSpPr>
        <p:spPr>
          <a:xfrm>
            <a:off x="5286494" y="4552950"/>
            <a:ext cx="1614845" cy="289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9" name="Shape 225"/>
          <p:cNvSpPr/>
          <p:nvPr/>
        </p:nvSpPr>
        <p:spPr>
          <a:xfrm>
            <a:off x="5286494" y="483489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230" name="Text 226"/>
          <p:cNvSpPr/>
          <p:nvPr/>
        </p:nvSpPr>
        <p:spPr>
          <a:xfrm>
            <a:off x="5366504" y="459486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231" name="Shape 227"/>
          <p:cNvSpPr/>
          <p:nvPr/>
        </p:nvSpPr>
        <p:spPr>
          <a:xfrm>
            <a:off x="6901339" y="4552950"/>
            <a:ext cx="1614845" cy="289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2" name="Shape 228"/>
          <p:cNvSpPr/>
          <p:nvPr/>
        </p:nvSpPr>
        <p:spPr>
          <a:xfrm>
            <a:off x="6901339" y="483489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233" name="Shape 229"/>
          <p:cNvSpPr/>
          <p:nvPr/>
        </p:nvSpPr>
        <p:spPr>
          <a:xfrm>
            <a:off x="8508563" y="4552950"/>
            <a:ext cx="7620" cy="2895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4" name="Text 230"/>
          <p:cNvSpPr/>
          <p:nvPr/>
        </p:nvSpPr>
        <p:spPr>
          <a:xfrm>
            <a:off x="6977539" y="459486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235" name="Shape 231"/>
          <p:cNvSpPr/>
          <p:nvPr/>
        </p:nvSpPr>
        <p:spPr>
          <a:xfrm>
            <a:off x="8516183" y="4552950"/>
            <a:ext cx="1614845" cy="289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6" name="Shape 232"/>
          <p:cNvSpPr/>
          <p:nvPr/>
        </p:nvSpPr>
        <p:spPr>
          <a:xfrm>
            <a:off x="8516183" y="483489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237" name="Text 233"/>
          <p:cNvSpPr/>
          <p:nvPr/>
        </p:nvSpPr>
        <p:spPr>
          <a:xfrm>
            <a:off x="8596193" y="459486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238" name="Shape 234"/>
          <p:cNvSpPr/>
          <p:nvPr/>
        </p:nvSpPr>
        <p:spPr>
          <a:xfrm>
            <a:off x="10131028" y="4552950"/>
            <a:ext cx="1615202" cy="289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9" name="Shape 235"/>
          <p:cNvSpPr/>
          <p:nvPr/>
        </p:nvSpPr>
        <p:spPr>
          <a:xfrm>
            <a:off x="10131028" y="4834890"/>
            <a:ext cx="1615202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240" name="Text 236"/>
          <p:cNvSpPr/>
          <p:nvPr/>
        </p:nvSpPr>
        <p:spPr>
          <a:xfrm>
            <a:off x="10207228" y="4594860"/>
            <a:ext cx="1462802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241" name="Text 237"/>
          <p:cNvSpPr/>
          <p:nvPr/>
        </p:nvSpPr>
        <p:spPr>
          <a:xfrm>
            <a:off x="441960" y="4937760"/>
            <a:ext cx="11308080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 eaLnBrk="1" latinLnBrk="0" hangingPunct="1">
              <a:lnSpc>
                <a:spcPts val="1530"/>
              </a:lnSpc>
              <a:buNone/>
            </a:pPr>
            <a:r>
              <a:rPr lang="zh-CN" alt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↑ 表示指标越高越优；↓ 表示指标越低越优。00.00 ± 00.00 为均值与标准差的占位符。</a:t>
            </a:r>
            <a:endParaRPr lang="zh-CN" sz="1020" dirty="0"/>
          </a:p>
          <a:p>
            <a:pPr algn="l" indent="0" marL="0" eaLnBrk="1" latinLnBrk="0" hangingPunct="1">
              <a:lnSpc>
                <a:spcPts val="1530"/>
              </a:lnSpc>
              <a:buNone/>
            </a:pPr>
            <a:r>
              <a:rPr lang="zh-CN" alt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实验设置：补充场景参数、测试集规模与重复次数；各算法使用一致的数据划分和运行环境。</a:t>
            </a:r>
            <a:endParaRPr lang="zh-CN" sz="1020" dirty="0"/>
          </a:p>
          <a:p>
            <a:pPr algn="l" indent="0" marL="0" eaLnBrk="1" latinLnBrk="0" hangingPunct="1">
              <a:lnSpc>
                <a:spcPts val="1530"/>
              </a:lnSpc>
              <a:buNone/>
            </a:pPr>
            <a:r>
              <a:rPr lang="zh-CN" alt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统计记录：明确预热、推理和计时范围；保留原始日志、随机种子及失败样本，便于复查。</a:t>
            </a:r>
            <a:endParaRPr lang="zh-CN" sz="1020" dirty="0"/>
          </a:p>
        </p:txBody>
      </p:sp>
      <p:sp>
        <p:nvSpPr>
          <p:cNvPr id="242" name="Shape 238"/>
          <p:cNvSpPr/>
          <p:nvPr/>
        </p:nvSpPr>
        <p:spPr>
          <a:xfrm>
            <a:off x="441960" y="5715000"/>
            <a:ext cx="11308080" cy="45720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243" name="Text 239"/>
          <p:cNvSpPr/>
          <p:nvPr/>
        </p:nvSpPr>
        <p:spPr>
          <a:xfrm>
            <a:off x="609600" y="5791200"/>
            <a:ext cx="109728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400"/>
              </a:lnSpc>
              <a:buNone/>
            </a:pPr>
            <a:r>
              <a:rPr lang="zh-CN" alt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固定测试集、重复次数与计时范围；报告均值与标准差，让每一项比较都能复查。</a:t>
            </a:r>
            <a:endParaRPr lang="zh-CN" sz="1600" dirty="0"/>
          </a:p>
        </p:txBody>
      </p:sp>
      <p:sp>
        <p:nvSpPr>
          <p:cNvPr id="244" name="Text 240"/>
          <p:cNvSpPr/>
          <p:nvPr/>
        </p:nvSpPr>
        <p:spPr>
          <a:xfrm>
            <a:off x="441960" y="6485334"/>
            <a:ext cx="2971800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丽水学院 · Web Slide 使用示例</a:t>
            </a:r>
            <a:endParaRPr lang="zh-CN" sz="1020" dirty="0"/>
          </a:p>
        </p:txBody>
      </p:sp>
      <p:sp>
        <p:nvSpPr>
          <p:cNvPr id="245" name="Text 241"/>
          <p:cNvSpPr/>
          <p:nvPr/>
        </p:nvSpPr>
        <p:spPr>
          <a:xfrm>
            <a:off x="3596640" y="6485334"/>
            <a:ext cx="7534632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操作示例 · 内容与数据仅作演示</a:t>
            </a:r>
            <a:endParaRPr lang="zh-CN" sz="1020" dirty="0"/>
          </a:p>
        </p:txBody>
      </p:sp>
      <p:sp>
        <p:nvSpPr>
          <p:cNvPr id="246" name="Text 242"/>
          <p:cNvSpPr/>
          <p:nvPr/>
        </p:nvSpPr>
        <p:spPr>
          <a:xfrm>
            <a:off x="11314152" y="6485334"/>
            <a:ext cx="435888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 / 30</a:t>
            </a:r>
            <a:endParaRPr lang="zh-CN" sz="1020" dirty="0"/>
          </a:p>
        </p:txBody>
      </p:sp>
      <p:sp>
        <p:nvSpPr>
          <p:cNvPr id="247" name="Shape 243"/>
          <p:cNvSpPr/>
          <p:nvPr/>
        </p:nvSpPr>
        <p:spPr>
          <a:xfrm>
            <a:off x="441960" y="6355080"/>
            <a:ext cx="11308080" cy="7620"/>
          </a:xfrm>
          <a:prstGeom prst="rect">
            <a:avLst/>
          </a:prstGeom>
          <a:solidFill>
            <a:srgbClr val="D8E2E9"/>
          </a:solidFill>
          <a:ln w="12700">
            <a:solidFill>
              <a:srgbClr val="D8E2E9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80060" y="259080"/>
            <a:ext cx="2133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buNone/>
            </a:pPr>
            <a:r>
              <a:rPr lang="zh-CN" altLang="en-US" sz="1200" b="1" dirty="0">
                <a:solidFill>
                  <a:srgbClr val="0F66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zh-CN" sz="1200" dirty="0"/>
          </a:p>
        </p:txBody>
      </p:sp>
      <p:sp>
        <p:nvSpPr>
          <p:cNvPr id="4" name="Text 1"/>
          <p:cNvSpPr/>
          <p:nvPr/>
        </p:nvSpPr>
        <p:spPr>
          <a:xfrm>
            <a:off x="838200" y="235625"/>
            <a:ext cx="9768840" cy="275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70"/>
              </a:lnSpc>
              <a:buNone/>
            </a:pPr>
            <a:r>
              <a:rPr lang="zh-CN" altLang="en-US" sz="1400" b="1" dirty="0">
                <a:solidFill>
                  <a:srgbClr val="4064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模块与内容</a:t>
            </a:r>
            <a:endParaRPr lang="zh-CN" sz="1400" dirty="0"/>
          </a:p>
        </p:txBody>
      </p:sp>
      <p:sp>
        <p:nvSpPr>
          <p:cNvPr id="5" name="Text 2"/>
          <p:cNvSpPr/>
          <p:nvPr/>
        </p:nvSpPr>
        <p:spPr>
          <a:xfrm>
            <a:off x="441960" y="609600"/>
            <a:ext cx="10165080" cy="433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3416"/>
              </a:lnSpc>
              <a:buNone/>
            </a:pPr>
            <a:r>
              <a:rPr lang="zh-CN" altLang="en-US" sz="28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目标函数与参数更新</a:t>
            </a:r>
            <a:endParaRPr lang="zh-CN" sz="28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201930"/>
            <a:ext cx="914400" cy="9144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41960" y="1463040"/>
            <a:ext cx="113080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以带 L2 正则项的线性回归为例，先给出优化目标，再说明参数更新与各符号含义。</a:t>
            </a:r>
            <a:endParaRPr lang="zh-CN" sz="1600" dirty="0"/>
          </a:p>
        </p:txBody>
      </p:sp>
      <p:sp>
        <p:nvSpPr>
          <p:cNvPr id="8" name="Text 4"/>
          <p:cNvSpPr/>
          <p:nvPr/>
        </p:nvSpPr>
        <p:spPr>
          <a:xfrm>
            <a:off x="609600" y="2021800"/>
            <a:ext cx="6534745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带正则项的平方误差目标</a:t>
            </a:r>
            <a:endParaRPr lang="zh-CN" sz="18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2520" y="2562820"/>
            <a:ext cx="3141107" cy="62924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17220" y="3344466"/>
            <a:ext cx="657030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 eaLnBrk="1" latinLnBrk="0" hangingPunct="1">
              <a:lnSpc>
                <a:spcPts val="2400"/>
              </a:lnSpc>
              <a:buNone/>
            </a:pPr>
            <a:r>
              <a:rPr lang="zh-CN" altLang="en-US" sz="16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平方误差衡量拟合偏差，L2 正则项约束参数规模。</a:t>
            </a:r>
            <a:endParaRPr lang="zh-CN" sz="1600" dirty="0"/>
          </a:p>
          <a:p>
            <a:pPr algn="l" indent="0" marL="0" eaLnBrk="1" latinLnBrk="0" hangingPunct="1">
              <a:lnSpc>
                <a:spcPts val="2400"/>
              </a:lnSpc>
              <a:buNone/>
            </a:pPr>
            <a:r>
              <a:rPr lang="zh-CN" altLang="en-US" sz="16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本式将全部参数纳入正则化。</a:t>
            </a:r>
            <a:endParaRPr lang="zh-CN" sz="1600" dirty="0"/>
          </a:p>
        </p:txBody>
      </p:sp>
      <p:sp>
        <p:nvSpPr>
          <p:cNvPr id="11" name="Text 6"/>
          <p:cNvSpPr/>
          <p:nvPr/>
        </p:nvSpPr>
        <p:spPr>
          <a:xfrm>
            <a:off x="609600" y="4308277"/>
            <a:ext cx="6534745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梯度下降更新</a:t>
            </a:r>
            <a:endParaRPr lang="zh-CN" sz="18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7848" y="5022890"/>
            <a:ext cx="1690449" cy="188119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17220" y="5489377"/>
            <a:ext cx="6570305" cy="632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 eaLnBrk="1" latinLnBrk="0" hangingPunct="1">
              <a:lnSpc>
                <a:spcPts val="2400"/>
              </a:lnSpc>
              <a:buNone/>
            </a:pPr>
            <a:r>
              <a:rPr lang="zh-CN" altLang="en-US" sz="16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每轮用当前参数计算梯度，再沿负梯度方向更新。</a:t>
            </a:r>
            <a:r>
              <a:rPr lang="zh-CN" altLang="en-US" sz="16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r>
              <a:rPr lang="zh-CN" altLang="en-US" sz="16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学习率 </a:t>
            </a:r>
            <a:r>
              <a:rPr lang="zh-CN" altLang="en-US" sz="1600" i="1" dirty="0">
                <a:solidFill>
                  <a:srgbClr val="18383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α</a:t>
            </a:r>
            <a:r>
              <a:rPr lang="zh-CN" altLang="en-US" sz="16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控制步长，停止条件由实验设定。</a:t>
            </a:r>
            <a:endParaRPr lang="zh-CN" sz="1600" dirty="0"/>
          </a:p>
        </p:txBody>
      </p:sp>
      <p:sp>
        <p:nvSpPr>
          <p:cNvPr id="14" name="Text 8"/>
          <p:cNvSpPr/>
          <p:nvPr/>
        </p:nvSpPr>
        <p:spPr>
          <a:xfrm>
            <a:off x="7853005" y="1945600"/>
            <a:ext cx="3897035" cy="330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600"/>
              </a:lnSpc>
              <a:buNone/>
            </a:pPr>
            <a:r>
              <a:rPr lang="zh-CN" altLang="en-US" sz="20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符号说明</a:t>
            </a:r>
            <a:endParaRPr lang="zh-CN" sz="20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53005" y="2438281"/>
            <a:ext cx="165497" cy="9810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8660725" y="2367082"/>
            <a:ext cx="3089315" cy="223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680"/>
              </a:lnSpc>
              <a:buNone/>
            </a:pPr>
            <a:r>
              <a:rPr lang="zh-CN" altLang="en-US" sz="1200" dirty="0">
                <a:solidFill>
                  <a:srgbClr val="526B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训练样本数，用于误差项归一化</a:t>
            </a:r>
            <a:endParaRPr lang="zh-CN" sz="1200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53005" y="2701885"/>
            <a:ext cx="424339" cy="139779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8660725" y="2651522"/>
            <a:ext cx="308931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680"/>
              </a:lnSpc>
              <a:buNone/>
            </a:pPr>
            <a:r>
              <a:rPr lang="zh-CN" altLang="en-US" sz="1200" dirty="0">
                <a:solidFill>
                  <a:srgbClr val="526B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</a:t>
            </a:r>
            <a:r>
              <a:rPr lang="zh-CN" altLang="en-US" sz="1200" i="1" dirty="0">
                <a:solidFill>
                  <a:srgbClr val="526B7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i</a:t>
            </a:r>
            <a:r>
              <a:rPr lang="zh-CN" altLang="en-US" sz="1200" dirty="0">
                <a:solidFill>
                  <a:srgbClr val="526B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个输入样本与对应的目标值</a:t>
            </a:r>
            <a:endParaRPr lang="zh-CN" sz="1200" dirty="0"/>
          </a:p>
        </p:txBody>
      </p:sp>
      <p:pic>
        <p:nvPicPr>
          <p:cNvPr id="1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53005" y="2990969"/>
            <a:ext cx="91440" cy="140613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8660725" y="2941082"/>
            <a:ext cx="3089315" cy="223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680"/>
              </a:lnSpc>
              <a:buNone/>
            </a:pPr>
            <a:r>
              <a:rPr lang="zh-CN" altLang="en-US" sz="1200" dirty="0">
                <a:solidFill>
                  <a:srgbClr val="526B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待优化的参数，与输入维度一致</a:t>
            </a:r>
            <a:endParaRPr lang="zh-CN" sz="1200" dirty="0"/>
          </a:p>
        </p:txBody>
      </p:sp>
      <p:pic>
        <p:nvPicPr>
          <p:cNvPr id="2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53005" y="3273981"/>
            <a:ext cx="102156" cy="143470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8660725" y="3225522"/>
            <a:ext cx="308931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680"/>
              </a:lnSpc>
              <a:buNone/>
            </a:pPr>
            <a:r>
              <a:rPr lang="zh-CN" altLang="en-US" sz="1200" dirty="0">
                <a:solidFill>
                  <a:srgbClr val="526B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正则化强度，</a:t>
            </a:r>
            <a:r>
              <a:rPr lang="zh-CN" altLang="en-US" sz="1200" i="1" dirty="0">
                <a:solidFill>
                  <a:srgbClr val="526B7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λ</a:t>
            </a:r>
            <a:r>
              <a:rPr lang="zh-CN" altLang="en-US" sz="1200" dirty="0">
                <a:solidFill>
                  <a:srgbClr val="526B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≥ 0；控制参数约束</a:t>
            </a:r>
            <a:endParaRPr lang="zh-CN" sz="1200" dirty="0"/>
          </a:p>
        </p:txBody>
      </p:sp>
      <p:pic>
        <p:nvPicPr>
          <p:cNvPr id="2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53005" y="3586282"/>
            <a:ext cx="107871" cy="97988"/>
          </a:xfrm>
          <a:prstGeom prst="rect">
            <a:avLst/>
          </a:prstGeom>
        </p:spPr>
      </p:pic>
      <p:sp>
        <p:nvSpPr>
          <p:cNvPr id="24" name="Text 13"/>
          <p:cNvSpPr/>
          <p:nvPr/>
        </p:nvSpPr>
        <p:spPr>
          <a:xfrm>
            <a:off x="8660725" y="3515082"/>
            <a:ext cx="308931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680"/>
              </a:lnSpc>
              <a:buNone/>
            </a:pPr>
            <a:r>
              <a:rPr lang="zh-CN" altLang="en-US" sz="1200" dirty="0">
                <a:solidFill>
                  <a:srgbClr val="526B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学习率，</a:t>
            </a:r>
            <a:r>
              <a:rPr lang="zh-CN" altLang="en-US" sz="1200" i="1" dirty="0">
                <a:solidFill>
                  <a:srgbClr val="526B7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α</a:t>
            </a:r>
            <a:r>
              <a:rPr lang="zh-CN" altLang="en-US" sz="1200" dirty="0">
                <a:solidFill>
                  <a:srgbClr val="526B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&gt; 0；结合损失变化选择</a:t>
            </a:r>
            <a:endParaRPr lang="zh-CN" sz="1200" dirty="0"/>
          </a:p>
        </p:txBody>
      </p:sp>
      <p:pic>
        <p:nvPicPr>
          <p:cNvPr id="2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53005" y="3864412"/>
            <a:ext cx="65484" cy="120848"/>
          </a:xfrm>
          <a:prstGeom prst="rect">
            <a:avLst/>
          </a:prstGeom>
        </p:spPr>
      </p:pic>
      <p:sp>
        <p:nvSpPr>
          <p:cNvPr id="26" name="Text 14"/>
          <p:cNvSpPr/>
          <p:nvPr/>
        </p:nvSpPr>
        <p:spPr>
          <a:xfrm>
            <a:off x="8660725" y="3804642"/>
            <a:ext cx="3089315" cy="223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680"/>
              </a:lnSpc>
              <a:buNone/>
            </a:pPr>
            <a:r>
              <a:rPr lang="zh-CN" altLang="en-US" sz="1200" dirty="0">
                <a:solidFill>
                  <a:srgbClr val="526B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迭代序号，由初始参数开始计数</a:t>
            </a:r>
            <a:endParaRPr lang="zh-CN" sz="1200" dirty="0"/>
          </a:p>
        </p:txBody>
      </p:sp>
      <p:sp>
        <p:nvSpPr>
          <p:cNvPr id="27" name="Text 15"/>
          <p:cNvSpPr/>
          <p:nvPr/>
        </p:nvSpPr>
        <p:spPr>
          <a:xfrm>
            <a:off x="7997785" y="4373880"/>
            <a:ext cx="3607475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字体样式说明</a:t>
            </a:r>
            <a:endParaRPr lang="zh-CN" sz="1800" dirty="0"/>
          </a:p>
        </p:txBody>
      </p:sp>
      <p:sp>
        <p:nvSpPr>
          <p:cNvPr id="28" name="Text 16"/>
          <p:cNvSpPr/>
          <p:nvPr/>
        </p:nvSpPr>
        <p:spPr>
          <a:xfrm>
            <a:off x="7997785" y="4732020"/>
            <a:ext cx="746760" cy="213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680"/>
              </a:lnSpc>
              <a:buNone/>
            </a:pPr>
            <a:r>
              <a:rPr lang="zh-CN" altLang="en-US" sz="1200" b="1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常规斜体</a:t>
            </a:r>
            <a:endParaRPr lang="zh-CN" sz="1200" dirty="0"/>
          </a:p>
        </p:txBody>
      </p:sp>
      <p:pic>
        <p:nvPicPr>
          <p:cNvPr id="29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835985" y="4791313"/>
            <a:ext cx="349210" cy="108347"/>
          </a:xfrm>
          <a:prstGeom prst="rect">
            <a:avLst/>
          </a:prstGeom>
        </p:spPr>
      </p:pic>
      <p:sp>
        <p:nvSpPr>
          <p:cNvPr id="30" name="Text 17"/>
          <p:cNvSpPr/>
          <p:nvPr/>
        </p:nvSpPr>
        <p:spPr>
          <a:xfrm>
            <a:off x="9689425" y="4732020"/>
            <a:ext cx="1915835" cy="213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680"/>
              </a:lnSpc>
              <a:buNone/>
            </a:pPr>
            <a:r>
              <a:rPr lang="zh-CN" altLang="en-US" sz="12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标量、参数</a:t>
            </a:r>
            <a:endParaRPr lang="zh-CN" sz="1200" dirty="0"/>
          </a:p>
        </p:txBody>
      </p:sp>
      <p:sp>
        <p:nvSpPr>
          <p:cNvPr id="31" name="Text 18"/>
          <p:cNvSpPr/>
          <p:nvPr/>
        </p:nvSpPr>
        <p:spPr>
          <a:xfrm>
            <a:off x="7997785" y="5006340"/>
            <a:ext cx="746760" cy="213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680"/>
              </a:lnSpc>
              <a:buNone/>
            </a:pPr>
            <a:r>
              <a:rPr lang="zh-CN" altLang="en-US" sz="1200" b="1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粗斜体</a:t>
            </a:r>
            <a:endParaRPr lang="zh-CN" sz="1200" dirty="0"/>
          </a:p>
        </p:txBody>
      </p:sp>
      <p:pic>
        <p:nvPicPr>
          <p:cNvPr id="32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835985" y="5075396"/>
            <a:ext cx="97274" cy="88821"/>
          </a:xfrm>
          <a:prstGeom prst="rect">
            <a:avLst/>
          </a:prstGeom>
        </p:spPr>
      </p:pic>
      <p:sp>
        <p:nvSpPr>
          <p:cNvPr id="33" name="Text 19"/>
          <p:cNvSpPr/>
          <p:nvPr/>
        </p:nvSpPr>
        <p:spPr>
          <a:xfrm>
            <a:off x="9689425" y="5006340"/>
            <a:ext cx="1915835" cy="213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680"/>
              </a:lnSpc>
              <a:buNone/>
            </a:pPr>
            <a:r>
              <a:rPr lang="zh-CN" altLang="en-US" sz="12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向量</a:t>
            </a:r>
            <a:endParaRPr lang="zh-CN" sz="1200" dirty="0"/>
          </a:p>
        </p:txBody>
      </p:sp>
      <p:sp>
        <p:nvSpPr>
          <p:cNvPr id="34" name="Text 20"/>
          <p:cNvSpPr/>
          <p:nvPr/>
        </p:nvSpPr>
        <p:spPr>
          <a:xfrm>
            <a:off x="7997785" y="5280660"/>
            <a:ext cx="746760" cy="213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680"/>
              </a:lnSpc>
              <a:buNone/>
            </a:pPr>
            <a:r>
              <a:rPr lang="zh-CN" altLang="en-US" sz="1200" b="1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粗正体</a:t>
            </a:r>
            <a:endParaRPr lang="zh-CN" sz="1200" dirty="0"/>
          </a:p>
        </p:txBody>
      </p:sp>
      <p:pic>
        <p:nvPicPr>
          <p:cNvPr id="35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835985" y="5331857"/>
            <a:ext cx="137041" cy="124420"/>
          </a:xfrm>
          <a:prstGeom prst="rect">
            <a:avLst/>
          </a:prstGeom>
        </p:spPr>
      </p:pic>
      <p:sp>
        <p:nvSpPr>
          <p:cNvPr id="36" name="Text 21"/>
          <p:cNvSpPr/>
          <p:nvPr/>
        </p:nvSpPr>
        <p:spPr>
          <a:xfrm>
            <a:off x="9689425" y="5280660"/>
            <a:ext cx="1915835" cy="213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680"/>
              </a:lnSpc>
              <a:buNone/>
            </a:pPr>
            <a:r>
              <a:rPr lang="zh-CN" altLang="en-US" sz="12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矩阵</a:t>
            </a:r>
            <a:endParaRPr lang="zh-CN" sz="1200" dirty="0"/>
          </a:p>
        </p:txBody>
      </p:sp>
      <p:sp>
        <p:nvSpPr>
          <p:cNvPr id="37" name="Text 22"/>
          <p:cNvSpPr/>
          <p:nvPr/>
        </p:nvSpPr>
        <p:spPr>
          <a:xfrm>
            <a:off x="7997785" y="5554980"/>
            <a:ext cx="746760" cy="213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680"/>
              </a:lnSpc>
              <a:buNone/>
            </a:pPr>
            <a:r>
              <a:rPr lang="zh-CN" altLang="en-US" sz="1200" b="1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常规正体</a:t>
            </a:r>
            <a:endParaRPr lang="zh-CN" sz="1200" dirty="0"/>
          </a:p>
        </p:txBody>
      </p:sp>
      <p:pic>
        <p:nvPicPr>
          <p:cNvPr id="38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835985" y="5596533"/>
            <a:ext cx="629126" cy="143828"/>
          </a:xfrm>
          <a:prstGeom prst="rect">
            <a:avLst/>
          </a:prstGeom>
        </p:spPr>
      </p:pic>
      <p:sp>
        <p:nvSpPr>
          <p:cNvPr id="39" name="Text 23"/>
          <p:cNvSpPr/>
          <p:nvPr/>
        </p:nvSpPr>
        <p:spPr>
          <a:xfrm>
            <a:off x="9689425" y="5554980"/>
            <a:ext cx="1915835" cy="213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680"/>
              </a:lnSpc>
              <a:buNone/>
            </a:pPr>
            <a:r>
              <a:rPr lang="zh-CN" altLang="en-US" sz="12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数字、单位、函数</a:t>
            </a:r>
            <a:endParaRPr lang="zh-CN" sz="1200" dirty="0"/>
          </a:p>
        </p:txBody>
      </p:sp>
      <p:sp>
        <p:nvSpPr>
          <p:cNvPr id="40" name="Text 24"/>
          <p:cNvSpPr/>
          <p:nvPr/>
        </p:nvSpPr>
        <p:spPr>
          <a:xfrm>
            <a:off x="7997785" y="5844540"/>
            <a:ext cx="3607475" cy="213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680"/>
              </a:lnSpc>
              <a:buNone/>
            </a:pPr>
            <a:r>
              <a:rPr lang="zh-CN" altLang="en-US" sz="12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标题加粗，正文保持常规字重。</a:t>
            </a:r>
            <a:endParaRPr lang="zh-CN" sz="1200" dirty="0"/>
          </a:p>
        </p:txBody>
      </p:sp>
      <p:sp>
        <p:nvSpPr>
          <p:cNvPr id="41" name="Text 25"/>
          <p:cNvSpPr/>
          <p:nvPr/>
        </p:nvSpPr>
        <p:spPr>
          <a:xfrm>
            <a:off x="441960" y="6489144"/>
            <a:ext cx="2286000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丽水学院 · 科研汇报示例</a:t>
            </a:r>
            <a:endParaRPr lang="zh-CN" sz="1020" dirty="0"/>
          </a:p>
        </p:txBody>
      </p:sp>
      <p:sp>
        <p:nvSpPr>
          <p:cNvPr id="42" name="Text 26">
            <a:hlinkClick r:id="rId15" tooltip="" action="ppaction://hlinksldjump"/>
          </p:cNvPr>
          <p:cNvSpPr/>
          <p:nvPr/>
        </p:nvSpPr>
        <p:spPr>
          <a:xfrm>
            <a:off x="2910840" y="6492478"/>
            <a:ext cx="8212455" cy="174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 eaLnBrk="1" latinLnBrk="0" hangingPunct="1">
              <a:lnSpc>
                <a:spcPts val="1377"/>
              </a:lnSpc>
              <a:buNone/>
            </a:pPr>
            <a:r>
              <a:rPr lang="zh-CN" altLang="en-US" sz="1020" u="sng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推导与符号约定示例；参考文献见附录</a:t>
            </a:r>
            <a:endParaRPr lang="zh-CN" sz="1020" dirty="0"/>
          </a:p>
        </p:txBody>
      </p:sp>
      <p:sp>
        <p:nvSpPr>
          <p:cNvPr id="43" name="Text 27"/>
          <p:cNvSpPr/>
          <p:nvPr/>
        </p:nvSpPr>
        <p:spPr>
          <a:xfrm>
            <a:off x="11306175" y="6489144"/>
            <a:ext cx="443865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r>
              <a:rPr lang="zh-CN" alt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/ </a:t>
            </a:r>
            <a:r>
              <a:rPr lang="zh-CN" alt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</a:t>
            </a:r>
            <a:endParaRPr lang="zh-CN" sz="102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753600" cy="5334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753600" y="0"/>
            <a:ext cx="2438400" cy="5334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41960" y="259080"/>
            <a:ext cx="289560" cy="228600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80060" y="259080"/>
            <a:ext cx="2133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buNone/>
            </a:pPr>
            <a:r>
              <a:rPr lang="zh-CN" altLang="en-US" sz="1200" b="1" dirty="0">
                <a:solidFill>
                  <a:srgbClr val="0F66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zh-CN" sz="1200" dirty="0"/>
          </a:p>
        </p:txBody>
      </p:sp>
      <p:sp>
        <p:nvSpPr>
          <p:cNvPr id="7" name="Text 4"/>
          <p:cNvSpPr/>
          <p:nvPr/>
        </p:nvSpPr>
        <p:spPr>
          <a:xfrm>
            <a:off x="838200" y="235625"/>
            <a:ext cx="9768840" cy="275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70"/>
              </a:lnSpc>
              <a:buNone/>
            </a:pPr>
            <a:r>
              <a:rPr lang="zh-CN" altLang="en-US" sz="14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模块与内容</a:t>
            </a:r>
            <a:endParaRPr lang="zh-CN" sz="1400" dirty="0"/>
          </a:p>
        </p:txBody>
      </p:sp>
      <p:sp>
        <p:nvSpPr>
          <p:cNvPr id="8" name="Text 5"/>
          <p:cNvSpPr/>
          <p:nvPr/>
        </p:nvSpPr>
        <p:spPr>
          <a:xfrm>
            <a:off x="441960" y="609600"/>
            <a:ext cx="10165080" cy="433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3416"/>
              </a:lnSpc>
              <a:buNone/>
            </a:pPr>
            <a:r>
              <a:rPr lang="zh-CN" altLang="en-US" sz="28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算法伪代码与实现边界</a:t>
            </a:r>
            <a:endParaRPr lang="zh-CN" sz="2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01930"/>
            <a:ext cx="914400" cy="9144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41960" y="1264920"/>
            <a:ext cx="11308080" cy="1524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41960" y="1463040"/>
            <a:ext cx="113080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沿用目标函数和符号命名，明确输入、更新步骤、停止条件及最终输出。</a:t>
            </a:r>
            <a:endParaRPr lang="zh-CN" sz="1600" dirty="0"/>
          </a:p>
        </p:txBody>
      </p:sp>
      <p:sp>
        <p:nvSpPr>
          <p:cNvPr id="12" name="Shape 8"/>
          <p:cNvSpPr/>
          <p:nvPr/>
        </p:nvSpPr>
        <p:spPr>
          <a:xfrm>
            <a:off x="441960" y="1950720"/>
            <a:ext cx="7284720" cy="4221480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41960" y="1950720"/>
            <a:ext cx="7284720" cy="44958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94360" y="2026920"/>
            <a:ext cx="697992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 1　梯度下降（示意）</a:t>
            </a:r>
            <a:endParaRPr lang="zh-CN" sz="1800" dirty="0"/>
          </a:p>
        </p:txBody>
      </p:sp>
      <p:sp>
        <p:nvSpPr>
          <p:cNvPr id="15" name="Text 11"/>
          <p:cNvSpPr/>
          <p:nvPr/>
        </p:nvSpPr>
        <p:spPr>
          <a:xfrm>
            <a:off x="594360" y="2522220"/>
            <a:ext cx="6979920" cy="266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00"/>
              </a:lnSpc>
              <a:buNone/>
            </a:pPr>
            <a:r>
              <a:rPr lang="zh-CN" altLang="en-US" sz="1400" dirty="0">
                <a:solidFill>
                  <a:srgbClr val="18383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输入：参数 θ₀、学习率 α、迭代上限 T</a:t>
            </a:r>
            <a:endParaRPr lang="zh-CN" sz="1400" dirty="0"/>
          </a:p>
        </p:txBody>
      </p:sp>
      <p:sp>
        <p:nvSpPr>
          <p:cNvPr id="16" name="Text 12"/>
          <p:cNvSpPr/>
          <p:nvPr/>
        </p:nvSpPr>
        <p:spPr>
          <a:xfrm>
            <a:off x="594360" y="2865001"/>
            <a:ext cx="6979920" cy="266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00"/>
              </a:lnSpc>
              <a:buNone/>
            </a:pPr>
            <a:r>
              <a:rPr lang="zh-CN" altLang="en-US" sz="1400" dirty="0">
                <a:solidFill>
                  <a:srgbClr val="18383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1  初始化 θ ← θ₀，t ← 0</a:t>
            </a:r>
            <a:endParaRPr lang="zh-CN" sz="1400" dirty="0"/>
          </a:p>
        </p:txBody>
      </p:sp>
      <p:sp>
        <p:nvSpPr>
          <p:cNvPr id="17" name="Text 13"/>
          <p:cNvSpPr/>
          <p:nvPr/>
        </p:nvSpPr>
        <p:spPr>
          <a:xfrm>
            <a:off x="594360" y="3207782"/>
            <a:ext cx="6979920" cy="266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00"/>
              </a:lnSpc>
              <a:buNone/>
            </a:pPr>
            <a:r>
              <a:rPr lang="zh-CN" altLang="en-US" sz="1400" dirty="0">
                <a:solidFill>
                  <a:srgbClr val="18383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2  while t &lt; T do</a:t>
            </a:r>
            <a:endParaRPr lang="zh-CN" sz="1400" dirty="0"/>
          </a:p>
        </p:txBody>
      </p:sp>
      <p:sp>
        <p:nvSpPr>
          <p:cNvPr id="18" name="Text 14"/>
          <p:cNvSpPr/>
          <p:nvPr/>
        </p:nvSpPr>
        <p:spPr>
          <a:xfrm>
            <a:off x="594360" y="3550563"/>
            <a:ext cx="6979920" cy="266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00"/>
              </a:lnSpc>
              <a:buNone/>
            </a:pPr>
            <a:r>
              <a:rPr lang="zh-CN" altLang="en-US" sz="1400" dirty="0">
                <a:solidFill>
                  <a:srgbClr val="18383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3      计算梯度 g ← ∇J(θ)</a:t>
            </a:r>
            <a:endParaRPr lang="zh-CN" sz="1400" dirty="0"/>
          </a:p>
        </p:txBody>
      </p:sp>
      <p:sp>
        <p:nvSpPr>
          <p:cNvPr id="19" name="Text 15"/>
          <p:cNvSpPr/>
          <p:nvPr/>
        </p:nvSpPr>
        <p:spPr>
          <a:xfrm>
            <a:off x="594360" y="3893344"/>
            <a:ext cx="6979920" cy="266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00"/>
              </a:lnSpc>
              <a:buNone/>
            </a:pPr>
            <a:r>
              <a:rPr lang="zh-CN" altLang="en-US" sz="1400" dirty="0">
                <a:solidFill>
                  <a:srgbClr val="18383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4      更新参数 θ ← θ − αg</a:t>
            </a:r>
            <a:endParaRPr lang="zh-CN" sz="1400" dirty="0"/>
          </a:p>
        </p:txBody>
      </p:sp>
      <p:sp>
        <p:nvSpPr>
          <p:cNvPr id="20" name="Text 16"/>
          <p:cNvSpPr/>
          <p:nvPr/>
        </p:nvSpPr>
        <p:spPr>
          <a:xfrm>
            <a:off x="594360" y="4236125"/>
            <a:ext cx="6979920" cy="266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00"/>
              </a:lnSpc>
              <a:buNone/>
            </a:pPr>
            <a:r>
              <a:rPr lang="zh-CN" altLang="en-US" sz="1400" dirty="0">
                <a:solidFill>
                  <a:srgbClr val="18383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5      if ‖g‖ ≤ ε then break</a:t>
            </a:r>
            <a:endParaRPr lang="zh-CN" sz="1400" dirty="0"/>
          </a:p>
        </p:txBody>
      </p:sp>
      <p:sp>
        <p:nvSpPr>
          <p:cNvPr id="21" name="Text 17"/>
          <p:cNvSpPr/>
          <p:nvPr/>
        </p:nvSpPr>
        <p:spPr>
          <a:xfrm>
            <a:off x="594360" y="4578906"/>
            <a:ext cx="6979920" cy="266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00"/>
              </a:lnSpc>
              <a:buNone/>
            </a:pPr>
            <a:r>
              <a:rPr lang="zh-CN" altLang="en-US" sz="1400" dirty="0">
                <a:solidFill>
                  <a:srgbClr val="18383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6      令 t ← t + 1</a:t>
            </a:r>
            <a:endParaRPr lang="zh-CN" sz="1400" dirty="0"/>
          </a:p>
        </p:txBody>
      </p:sp>
      <p:sp>
        <p:nvSpPr>
          <p:cNvPr id="22" name="Text 18"/>
          <p:cNvSpPr/>
          <p:nvPr/>
        </p:nvSpPr>
        <p:spPr>
          <a:xfrm>
            <a:off x="594360" y="4921687"/>
            <a:ext cx="6979920" cy="266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00"/>
              </a:lnSpc>
              <a:buNone/>
            </a:pPr>
            <a:r>
              <a:rPr lang="zh-CN" altLang="en-US" sz="1400" dirty="0">
                <a:solidFill>
                  <a:srgbClr val="18383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7  end while</a:t>
            </a:r>
            <a:endParaRPr lang="zh-CN" sz="1400" dirty="0"/>
          </a:p>
        </p:txBody>
      </p:sp>
      <p:sp>
        <p:nvSpPr>
          <p:cNvPr id="23" name="Text 19"/>
          <p:cNvSpPr/>
          <p:nvPr/>
        </p:nvSpPr>
        <p:spPr>
          <a:xfrm>
            <a:off x="594360" y="5264468"/>
            <a:ext cx="6979920" cy="266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00"/>
              </a:lnSpc>
              <a:buNone/>
            </a:pPr>
            <a:r>
              <a:rPr lang="zh-CN" altLang="en-US" sz="1400" dirty="0">
                <a:solidFill>
                  <a:srgbClr val="18383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输出：参数 θ 与目标值 J(θ)</a:t>
            </a:r>
            <a:endParaRPr lang="zh-CN" sz="1400" dirty="0"/>
          </a:p>
        </p:txBody>
      </p:sp>
      <p:sp>
        <p:nvSpPr>
          <p:cNvPr id="24" name="Shape 20"/>
          <p:cNvSpPr/>
          <p:nvPr/>
        </p:nvSpPr>
        <p:spPr>
          <a:xfrm>
            <a:off x="7909560" y="1950720"/>
            <a:ext cx="3840480" cy="4221480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8046720" y="2072640"/>
            <a:ext cx="356616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符号一致</a:t>
            </a:r>
            <a:endParaRPr lang="zh-CN" sz="1800" dirty="0"/>
          </a:p>
        </p:txBody>
      </p:sp>
      <p:sp>
        <p:nvSpPr>
          <p:cNvPr id="26" name="Text 22"/>
          <p:cNvSpPr/>
          <p:nvPr/>
        </p:nvSpPr>
        <p:spPr>
          <a:xfrm>
            <a:off x="8046720" y="2476500"/>
            <a:ext cx="3616960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参数与目标函数沿用公式页命名，避免同一符号具有不同含义。</a:t>
            </a:r>
            <a:endParaRPr lang="zh-CN" sz="1600" dirty="0"/>
          </a:p>
        </p:txBody>
      </p:sp>
      <p:sp>
        <p:nvSpPr>
          <p:cNvPr id="27" name="Shape 23"/>
          <p:cNvSpPr/>
          <p:nvPr/>
        </p:nvSpPr>
        <p:spPr>
          <a:xfrm>
            <a:off x="8061960" y="3350181"/>
            <a:ext cx="3535680" cy="7620"/>
          </a:xfrm>
          <a:prstGeom prst="rect">
            <a:avLst/>
          </a:prstGeom>
          <a:solidFill>
            <a:srgbClr val="9EA8AE"/>
          </a:solidFill>
          <a:ln w="12700">
            <a:solidFill>
              <a:srgbClr val="9EA8AE">
                <a:alpha val="0"/>
              </a:srgbClr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8046720" y="3479721"/>
            <a:ext cx="356616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条件清楚</a:t>
            </a:r>
            <a:endParaRPr lang="zh-CN" sz="1800" dirty="0"/>
          </a:p>
        </p:txBody>
      </p:sp>
      <p:sp>
        <p:nvSpPr>
          <p:cNvPr id="29" name="Text 25"/>
          <p:cNvSpPr/>
          <p:nvPr/>
        </p:nvSpPr>
        <p:spPr>
          <a:xfrm>
            <a:off x="8046720" y="3883581"/>
            <a:ext cx="3616960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说明步长选择和停止阈值，避免把示意代码当作定理。</a:t>
            </a:r>
            <a:endParaRPr lang="zh-CN" sz="1600" dirty="0"/>
          </a:p>
        </p:txBody>
      </p:sp>
      <p:sp>
        <p:nvSpPr>
          <p:cNvPr id="30" name="Shape 26"/>
          <p:cNvSpPr/>
          <p:nvPr/>
        </p:nvSpPr>
        <p:spPr>
          <a:xfrm>
            <a:off x="8061960" y="4757380"/>
            <a:ext cx="3535680" cy="7620"/>
          </a:xfrm>
          <a:prstGeom prst="rect">
            <a:avLst/>
          </a:prstGeom>
          <a:solidFill>
            <a:srgbClr val="9EA8AE"/>
          </a:solidFill>
          <a:ln w="12700">
            <a:solidFill>
              <a:srgbClr val="9EA8AE">
                <a:alpha val="0"/>
              </a:srgbClr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8046720" y="4886920"/>
            <a:ext cx="356616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实现可复查</a:t>
            </a:r>
            <a:endParaRPr lang="zh-CN" sz="1800" dirty="0"/>
          </a:p>
        </p:txBody>
      </p:sp>
      <p:sp>
        <p:nvSpPr>
          <p:cNvPr id="32" name="Text 28"/>
          <p:cNvSpPr/>
          <p:nvPr/>
        </p:nvSpPr>
        <p:spPr>
          <a:xfrm>
            <a:off x="8046720" y="5290780"/>
            <a:ext cx="3616960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补充版本、随机种子和环境，结果应能对应实验记录。</a:t>
            </a:r>
            <a:endParaRPr lang="zh-CN" sz="1600" dirty="0"/>
          </a:p>
        </p:txBody>
      </p:sp>
      <p:sp>
        <p:nvSpPr>
          <p:cNvPr id="33" name="Text 29"/>
          <p:cNvSpPr/>
          <p:nvPr/>
        </p:nvSpPr>
        <p:spPr>
          <a:xfrm>
            <a:off x="441960" y="6485334"/>
            <a:ext cx="2971800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丽水学院 · Web Slide 示例</a:t>
            </a:r>
            <a:endParaRPr lang="zh-CN" sz="1020" dirty="0"/>
          </a:p>
        </p:txBody>
      </p:sp>
      <p:sp>
        <p:nvSpPr>
          <p:cNvPr id="34" name="Text 30"/>
          <p:cNvSpPr/>
          <p:nvPr/>
        </p:nvSpPr>
        <p:spPr>
          <a:xfrm>
            <a:off x="3596640" y="6485334"/>
            <a:ext cx="7534632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版式及操作示例，使用真实材料时请核对数据与来源。</a:t>
            </a:r>
            <a:endParaRPr lang="zh-CN" sz="1020" dirty="0"/>
          </a:p>
        </p:txBody>
      </p:sp>
      <p:sp>
        <p:nvSpPr>
          <p:cNvPr id="35" name="Text 31"/>
          <p:cNvSpPr/>
          <p:nvPr/>
        </p:nvSpPr>
        <p:spPr>
          <a:xfrm>
            <a:off x="11314152" y="6485334"/>
            <a:ext cx="435888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 / 30</a:t>
            </a:r>
            <a:endParaRPr lang="zh-CN" sz="1020" dirty="0"/>
          </a:p>
        </p:txBody>
      </p:sp>
      <p:sp>
        <p:nvSpPr>
          <p:cNvPr id="36" name="Shape 32"/>
          <p:cNvSpPr/>
          <p:nvPr/>
        </p:nvSpPr>
        <p:spPr>
          <a:xfrm>
            <a:off x="441960" y="6355080"/>
            <a:ext cx="11308080" cy="7620"/>
          </a:xfrm>
          <a:prstGeom prst="rect">
            <a:avLst/>
          </a:prstGeom>
          <a:solidFill>
            <a:srgbClr val="D8E2E9"/>
          </a:solidFill>
          <a:ln w="12700">
            <a:solidFill>
              <a:srgbClr val="D8E2E9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753600" cy="5334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753600" y="0"/>
            <a:ext cx="2438400" cy="5334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219200" y="2282428"/>
            <a:ext cx="9753600" cy="1005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7920"/>
              </a:lnSpc>
              <a:buNone/>
            </a:pPr>
            <a:r>
              <a:rPr lang="zh-CN" altLang="en-US" sz="72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zh-CN" sz="7200" dirty="0"/>
          </a:p>
        </p:txBody>
      </p:sp>
      <p:sp>
        <p:nvSpPr>
          <p:cNvPr id="6" name="Shape 3"/>
          <p:cNvSpPr/>
          <p:nvPr/>
        </p:nvSpPr>
        <p:spPr>
          <a:xfrm>
            <a:off x="5810250" y="3516868"/>
            <a:ext cx="571500" cy="3048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219200" y="3775948"/>
            <a:ext cx="9753600" cy="576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4536"/>
              </a:lnSpc>
              <a:buNone/>
            </a:pPr>
            <a:r>
              <a:rPr lang="zh-CN" altLang="en-US" sz="3360" b="1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预览与演示</a:t>
            </a:r>
            <a:endParaRPr lang="zh-CN" sz="3360" dirty="0"/>
          </a:p>
        </p:txBody>
      </p:sp>
      <p:sp>
        <p:nvSpPr>
          <p:cNvPr id="8" name="Text 5"/>
          <p:cNvSpPr/>
          <p:nvPr/>
        </p:nvSpPr>
        <p:spPr>
          <a:xfrm>
            <a:off x="1219200" y="4489133"/>
            <a:ext cx="975360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607B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浏览时看结构，放映时看节奏，备注只服务演讲者。</a:t>
            </a:r>
            <a:endParaRPr lang="zh-CN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753600" cy="5334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753600" y="0"/>
            <a:ext cx="2438400" cy="5334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41960" y="259080"/>
            <a:ext cx="289560" cy="228600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80060" y="259080"/>
            <a:ext cx="2133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buNone/>
            </a:pPr>
            <a:r>
              <a:rPr lang="zh-CN" altLang="en-US" sz="1200" b="1" dirty="0">
                <a:solidFill>
                  <a:srgbClr val="0F66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zh-CN" sz="1200" dirty="0"/>
          </a:p>
        </p:txBody>
      </p:sp>
      <p:sp>
        <p:nvSpPr>
          <p:cNvPr id="7" name="Text 4"/>
          <p:cNvSpPr/>
          <p:nvPr/>
        </p:nvSpPr>
        <p:spPr>
          <a:xfrm>
            <a:off x="838200" y="235625"/>
            <a:ext cx="9768840" cy="275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70"/>
              </a:lnSpc>
              <a:buNone/>
            </a:pPr>
            <a:r>
              <a:rPr lang="zh-CN" altLang="en-US" sz="14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预览与演示</a:t>
            </a:r>
            <a:endParaRPr lang="zh-CN" sz="1400" dirty="0"/>
          </a:p>
        </p:txBody>
      </p:sp>
      <p:sp>
        <p:nvSpPr>
          <p:cNvPr id="8" name="Text 5"/>
          <p:cNvSpPr/>
          <p:nvPr/>
        </p:nvSpPr>
        <p:spPr>
          <a:xfrm>
            <a:off x="441960" y="609600"/>
            <a:ext cx="10165080" cy="433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3416"/>
              </a:lnSpc>
              <a:buNone/>
            </a:pPr>
            <a:r>
              <a:rPr lang="zh-CN" altLang="en-US" sz="28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用三种视图检查同一份内容</a:t>
            </a:r>
            <a:endParaRPr lang="zh-CN" sz="2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01930"/>
            <a:ext cx="914400" cy="9144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41960" y="1264920"/>
            <a:ext cx="11308080" cy="1524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41960" y="1463040"/>
            <a:ext cx="113080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编辑时专注当前页，检查时回到整套文稿；视图切换不会改变模块的真实坐标。</a:t>
            </a:r>
            <a:endParaRPr lang="zh-CN" sz="1600" dirty="0"/>
          </a:p>
        </p:txBody>
      </p:sp>
      <p:sp>
        <p:nvSpPr>
          <p:cNvPr id="12" name="Shape 8"/>
          <p:cNvSpPr/>
          <p:nvPr/>
        </p:nvSpPr>
        <p:spPr>
          <a:xfrm>
            <a:off x="441960" y="1950720"/>
            <a:ext cx="3647361" cy="3581400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41960" y="1950720"/>
            <a:ext cx="3647361" cy="44958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94360" y="2026920"/>
            <a:ext cx="3342561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单页展示</a:t>
            </a:r>
            <a:endParaRPr lang="zh-CN" sz="1800" dirty="0"/>
          </a:p>
        </p:txBody>
      </p:sp>
      <p:sp>
        <p:nvSpPr>
          <p:cNvPr id="15" name="Text 11"/>
          <p:cNvSpPr/>
          <p:nvPr/>
        </p:nvSpPr>
        <p:spPr>
          <a:xfrm>
            <a:off x="594360" y="2522220"/>
            <a:ext cx="3393361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一次查看当前选中的一页；适合精修文字、图片和表格。</a:t>
            </a:r>
            <a:endParaRPr lang="zh-CN" sz="1600" dirty="0"/>
          </a:p>
        </p:txBody>
      </p:sp>
      <p:sp>
        <p:nvSpPr>
          <p:cNvPr id="16" name="Text 12"/>
          <p:cNvSpPr/>
          <p:nvPr/>
        </p:nvSpPr>
        <p:spPr>
          <a:xfrm>
            <a:off x="594360" y="3228261"/>
            <a:ext cx="3393361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点击缩略图可快速切换页面；切换编辑文字或编辑模块。</a:t>
            </a:r>
            <a:endParaRPr lang="zh-CN" sz="1600" dirty="0"/>
          </a:p>
        </p:txBody>
      </p:sp>
      <p:sp>
        <p:nvSpPr>
          <p:cNvPr id="17" name="Text 13"/>
          <p:cNvSpPr/>
          <p:nvPr/>
        </p:nvSpPr>
        <p:spPr>
          <a:xfrm>
            <a:off x="594360" y="3934301"/>
            <a:ext cx="3393361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再次点击已选模式即可取消；无选中状态方便直接预览。</a:t>
            </a:r>
            <a:endParaRPr lang="zh-CN" sz="1600" dirty="0"/>
          </a:p>
        </p:txBody>
      </p:sp>
      <p:sp>
        <p:nvSpPr>
          <p:cNvPr id="18" name="Text 14"/>
          <p:cNvSpPr/>
          <p:nvPr/>
        </p:nvSpPr>
        <p:spPr>
          <a:xfrm>
            <a:off x="594360" y="4640342"/>
            <a:ext cx="3393361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必要时打开网格检查边距；最后确认这一页的阅读顺序。</a:t>
            </a:r>
            <a:endParaRPr lang="zh-CN" sz="1600" dirty="0"/>
          </a:p>
        </p:txBody>
      </p:sp>
      <p:sp>
        <p:nvSpPr>
          <p:cNvPr id="19" name="Shape 15"/>
          <p:cNvSpPr/>
          <p:nvPr/>
        </p:nvSpPr>
        <p:spPr>
          <a:xfrm>
            <a:off x="4272201" y="1950720"/>
            <a:ext cx="3647480" cy="3581400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4272201" y="1950720"/>
            <a:ext cx="3647480" cy="44958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424601" y="2026920"/>
            <a:ext cx="334268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单列滚动</a:t>
            </a:r>
            <a:endParaRPr lang="zh-CN" sz="1800" dirty="0"/>
          </a:p>
        </p:txBody>
      </p:sp>
      <p:sp>
        <p:nvSpPr>
          <p:cNvPr id="22" name="Text 18"/>
          <p:cNvSpPr/>
          <p:nvPr/>
        </p:nvSpPr>
        <p:spPr>
          <a:xfrm>
            <a:off x="4424601" y="2522220"/>
            <a:ext cx="3393480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按顺序纵向查看整套文稿；适合检查章节之间的过渡。</a:t>
            </a:r>
            <a:endParaRPr lang="zh-CN" sz="1600" dirty="0"/>
          </a:p>
        </p:txBody>
      </p:sp>
      <p:sp>
        <p:nvSpPr>
          <p:cNvPr id="23" name="Text 19"/>
          <p:cNvSpPr/>
          <p:nvPr/>
        </p:nvSpPr>
        <p:spPr>
          <a:xfrm>
            <a:off x="4424601" y="3228261"/>
            <a:ext cx="3393480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通过左侧缩略图定位页面；激活当前页后继续编辑。</a:t>
            </a:r>
            <a:endParaRPr lang="zh-CN" sz="1600" dirty="0"/>
          </a:p>
        </p:txBody>
      </p:sp>
      <p:sp>
        <p:nvSpPr>
          <p:cNvPr id="24" name="Text 20"/>
          <p:cNvSpPr/>
          <p:nvPr/>
        </p:nvSpPr>
        <p:spPr>
          <a:xfrm>
            <a:off x="4424601" y="3934301"/>
            <a:ext cx="3393480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观察相邻页面的密度变化；检查标题、页码和来源口径。</a:t>
            </a:r>
            <a:endParaRPr lang="zh-CN" sz="1600" dirty="0"/>
          </a:p>
        </p:txBody>
      </p:sp>
      <p:sp>
        <p:nvSpPr>
          <p:cNvPr id="25" name="Text 21"/>
          <p:cNvSpPr/>
          <p:nvPr/>
        </p:nvSpPr>
        <p:spPr>
          <a:xfrm>
            <a:off x="4424601" y="4640342"/>
            <a:ext cx="3393480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避免连续多页只有零散文字；也避免某一页突然过度拥挤。</a:t>
            </a:r>
            <a:endParaRPr lang="zh-CN" sz="1600" dirty="0"/>
          </a:p>
        </p:txBody>
      </p:sp>
      <p:sp>
        <p:nvSpPr>
          <p:cNvPr id="26" name="Shape 22"/>
          <p:cNvSpPr/>
          <p:nvPr/>
        </p:nvSpPr>
        <p:spPr>
          <a:xfrm>
            <a:off x="8102560" y="1950720"/>
            <a:ext cx="3647361" cy="3581400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8102560" y="1950720"/>
            <a:ext cx="3647361" cy="44958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8254960" y="2026920"/>
            <a:ext cx="3342561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多页滚动</a:t>
            </a:r>
            <a:endParaRPr lang="zh-CN" sz="1800" dirty="0"/>
          </a:p>
        </p:txBody>
      </p:sp>
      <p:sp>
        <p:nvSpPr>
          <p:cNvPr id="29" name="Text 25"/>
          <p:cNvSpPr/>
          <p:nvPr/>
        </p:nvSpPr>
        <p:spPr>
          <a:xfrm>
            <a:off x="8254960" y="2522220"/>
            <a:ext cx="3393361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可选每行一到六页的总览；适合检查整套文稿的节奏。</a:t>
            </a:r>
            <a:endParaRPr lang="zh-CN" sz="1600" dirty="0"/>
          </a:p>
        </p:txBody>
      </p:sp>
      <p:sp>
        <p:nvSpPr>
          <p:cNvPr id="30" name="Text 26"/>
          <p:cNvSpPr/>
          <p:nvPr/>
        </p:nvSpPr>
        <p:spPr>
          <a:xfrm>
            <a:off x="8254960" y="3228261"/>
            <a:ext cx="3393361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比较不同章节的内容占比；发现重复版式和信息空洞。</a:t>
            </a:r>
            <a:endParaRPr lang="zh-CN" sz="1600" dirty="0"/>
          </a:p>
        </p:txBody>
      </p:sp>
      <p:sp>
        <p:nvSpPr>
          <p:cNvPr id="31" name="Text 27"/>
          <p:cNvSpPr/>
          <p:nvPr/>
        </p:nvSpPr>
        <p:spPr>
          <a:xfrm>
            <a:off x="8254960" y="3934301"/>
            <a:ext cx="3393361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双击目标缩略页进入放映；放映双击可看每行四页总览。</a:t>
            </a:r>
            <a:endParaRPr lang="zh-CN" sz="1600" dirty="0"/>
          </a:p>
        </p:txBody>
      </p:sp>
      <p:sp>
        <p:nvSpPr>
          <p:cNvPr id="32" name="Text 28"/>
          <p:cNvSpPr/>
          <p:nvPr/>
        </p:nvSpPr>
        <p:spPr>
          <a:xfrm>
            <a:off x="8254960" y="4640342"/>
            <a:ext cx="3393361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再次双击指定页继续讲解；预览应覆盖整套而非只看首页。</a:t>
            </a:r>
            <a:endParaRPr lang="zh-CN" sz="1600" dirty="0"/>
          </a:p>
        </p:txBody>
      </p:sp>
      <p:sp>
        <p:nvSpPr>
          <p:cNvPr id="33" name="Shape 29"/>
          <p:cNvSpPr/>
          <p:nvPr/>
        </p:nvSpPr>
        <p:spPr>
          <a:xfrm>
            <a:off x="441960" y="5715000"/>
            <a:ext cx="11308080" cy="45720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609600" y="5791200"/>
            <a:ext cx="109728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400"/>
              </a:lnSpc>
              <a:buNone/>
            </a:pPr>
            <a:r>
              <a:rPr lang="zh-CN" alt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单页查细节，单列查叙事，多列查一致性；完成三轮检查后再进入正式放映。</a:t>
            </a:r>
            <a:endParaRPr lang="zh-CN" sz="1600" dirty="0"/>
          </a:p>
        </p:txBody>
      </p:sp>
      <p:sp>
        <p:nvSpPr>
          <p:cNvPr id="35" name="Text 31"/>
          <p:cNvSpPr/>
          <p:nvPr/>
        </p:nvSpPr>
        <p:spPr>
          <a:xfrm>
            <a:off x="441960" y="6485334"/>
            <a:ext cx="2971800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丽水学院 · Web Slide 使用示例</a:t>
            </a:r>
            <a:endParaRPr lang="zh-CN" sz="1020" dirty="0"/>
          </a:p>
        </p:txBody>
      </p:sp>
      <p:sp>
        <p:nvSpPr>
          <p:cNvPr id="36" name="Text 32"/>
          <p:cNvSpPr/>
          <p:nvPr/>
        </p:nvSpPr>
        <p:spPr>
          <a:xfrm>
            <a:off x="3596640" y="6485334"/>
            <a:ext cx="7534632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操作示例 · 内容与数据仅作演示</a:t>
            </a:r>
            <a:endParaRPr lang="zh-CN" sz="1020" dirty="0"/>
          </a:p>
        </p:txBody>
      </p:sp>
      <p:sp>
        <p:nvSpPr>
          <p:cNvPr id="37" name="Text 33"/>
          <p:cNvSpPr/>
          <p:nvPr/>
        </p:nvSpPr>
        <p:spPr>
          <a:xfrm>
            <a:off x="11314152" y="6485334"/>
            <a:ext cx="435888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 / 30</a:t>
            </a:r>
            <a:endParaRPr lang="zh-CN" sz="1020" dirty="0"/>
          </a:p>
        </p:txBody>
      </p:sp>
      <p:sp>
        <p:nvSpPr>
          <p:cNvPr id="38" name="Shape 34"/>
          <p:cNvSpPr/>
          <p:nvPr/>
        </p:nvSpPr>
        <p:spPr>
          <a:xfrm>
            <a:off x="441960" y="6355080"/>
            <a:ext cx="11308080" cy="7620"/>
          </a:xfrm>
          <a:prstGeom prst="rect">
            <a:avLst/>
          </a:prstGeom>
          <a:solidFill>
            <a:srgbClr val="D8E2E9"/>
          </a:solidFill>
          <a:ln w="12700">
            <a:solidFill>
              <a:srgbClr val="D8E2E9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753600" cy="5334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753600" y="0"/>
            <a:ext cx="2438400" cy="5334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41960" y="259080"/>
            <a:ext cx="289560" cy="228600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80060" y="259080"/>
            <a:ext cx="2133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buNone/>
            </a:pPr>
            <a:r>
              <a:rPr lang="zh-CN" altLang="en-US" sz="1200" b="1" dirty="0">
                <a:solidFill>
                  <a:srgbClr val="0F66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zh-CN" sz="1200" dirty="0"/>
          </a:p>
        </p:txBody>
      </p:sp>
      <p:sp>
        <p:nvSpPr>
          <p:cNvPr id="7" name="Text 4"/>
          <p:cNvSpPr/>
          <p:nvPr/>
        </p:nvSpPr>
        <p:spPr>
          <a:xfrm>
            <a:off x="838200" y="235625"/>
            <a:ext cx="9768840" cy="275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70"/>
              </a:lnSpc>
              <a:buNone/>
            </a:pPr>
            <a:r>
              <a:rPr lang="zh-CN" altLang="en-US" sz="14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预览与演示</a:t>
            </a:r>
            <a:endParaRPr lang="zh-CN" sz="1400" dirty="0"/>
          </a:p>
        </p:txBody>
      </p:sp>
      <p:sp>
        <p:nvSpPr>
          <p:cNvPr id="8" name="Text 5"/>
          <p:cNvSpPr/>
          <p:nvPr/>
        </p:nvSpPr>
        <p:spPr>
          <a:xfrm>
            <a:off x="441960" y="609600"/>
            <a:ext cx="10165080" cy="433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3416"/>
              </a:lnSpc>
              <a:buNone/>
            </a:pPr>
            <a:r>
              <a:rPr lang="zh-CN" altLang="en-US" sz="28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逐页备注：给演讲者留一份讲解线索</a:t>
            </a:r>
            <a:endParaRPr lang="zh-CN" sz="2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01930"/>
            <a:ext cx="914400" cy="9144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41960" y="1264920"/>
            <a:ext cx="11308080" cy="1524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41960" y="1463040"/>
            <a:ext cx="113080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画布外的备注可选择性显示；它不占正文安全区，也不会印在 PDF 幻灯片中。</a:t>
            </a:r>
            <a:endParaRPr lang="zh-CN" sz="16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960" y="1950720"/>
            <a:ext cx="11308080" cy="3581400"/>
          </a:xfrm>
          <a:prstGeom prst="rect">
            <a:avLst/>
          </a:prstGeom>
        </p:spPr>
      </p:pic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5221" y="1950720"/>
            <a:ext cx="4841438" cy="512921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3888581" y="2042160"/>
            <a:ext cx="4414718" cy="330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600"/>
              </a:lnSpc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观众阅读与口头讲解，分别安排</a:t>
            </a:r>
            <a:endParaRPr lang="zh-CN" sz="2000" dirty="0"/>
          </a:p>
        </p:txBody>
      </p:sp>
      <p:sp>
        <p:nvSpPr>
          <p:cNvPr id="15" name="Text 9"/>
          <p:cNvSpPr/>
          <p:nvPr/>
        </p:nvSpPr>
        <p:spPr>
          <a:xfrm>
            <a:off x="746760" y="2692241"/>
            <a:ext cx="519684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页面内放必要内容</a:t>
            </a:r>
            <a:endParaRPr lang="zh-CN" sz="1800" dirty="0"/>
          </a:p>
        </p:txBody>
      </p:sp>
      <p:sp>
        <p:nvSpPr>
          <p:cNvPr id="16" name="Text 10"/>
          <p:cNvSpPr/>
          <p:nvPr/>
        </p:nvSpPr>
        <p:spPr>
          <a:xfrm>
            <a:off x="746760" y="3096101"/>
            <a:ext cx="5247640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正文只写听众需要阅读的信息；图表说明应与当前研究问题对应。</a:t>
            </a:r>
            <a:endParaRPr lang="zh-CN" sz="1600" dirty="0"/>
          </a:p>
        </p:txBody>
      </p:sp>
      <p:sp>
        <p:nvSpPr>
          <p:cNvPr id="17" name="Text 11"/>
          <p:cNvSpPr/>
          <p:nvPr/>
        </p:nvSpPr>
        <p:spPr>
          <a:xfrm>
            <a:off x="746760" y="3802142"/>
            <a:ext cx="519684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图标题交代对象；总结条提炼本页的关键判断。</a:t>
            </a:r>
            <a:endParaRPr lang="zh-CN" sz="1600" dirty="0"/>
          </a:p>
        </p:txBody>
      </p:sp>
      <p:sp>
        <p:nvSpPr>
          <p:cNvPr id="18" name="Text 12"/>
          <p:cNvSpPr/>
          <p:nvPr/>
        </p:nvSpPr>
        <p:spPr>
          <a:xfrm>
            <a:off x="746760" y="4193262"/>
            <a:ext cx="5247640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引用来源保留必要的可追踪链接；段末孤字可通过改写或分句处理。</a:t>
            </a:r>
            <a:endParaRPr lang="zh-CN" sz="1600" dirty="0"/>
          </a:p>
        </p:txBody>
      </p:sp>
      <p:sp>
        <p:nvSpPr>
          <p:cNvPr id="19" name="Text 13"/>
          <p:cNvSpPr/>
          <p:nvPr/>
        </p:nvSpPr>
        <p:spPr>
          <a:xfrm>
            <a:off x="746760" y="4899303"/>
            <a:ext cx="519684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保持字号不变，不靠缩小字体硬塞。</a:t>
            </a:r>
            <a:endParaRPr lang="zh-CN" sz="1600" dirty="0"/>
          </a:p>
        </p:txBody>
      </p:sp>
      <p:sp>
        <p:nvSpPr>
          <p:cNvPr id="20" name="Shape 14"/>
          <p:cNvSpPr/>
          <p:nvPr/>
        </p:nvSpPr>
        <p:spPr>
          <a:xfrm>
            <a:off x="6088380" y="2737961"/>
            <a:ext cx="7620" cy="2474119"/>
          </a:xfrm>
          <a:prstGeom prst="rect">
            <a:avLst/>
          </a:prstGeom>
          <a:solidFill>
            <a:srgbClr val="9EA8AE"/>
          </a:solidFill>
          <a:ln w="12700">
            <a:solidFill>
              <a:srgbClr val="9EA8AE">
                <a:alpha val="0"/>
              </a:srgbClr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6248400" y="2692241"/>
            <a:ext cx="519684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页面外留讲解备注</a:t>
            </a:r>
            <a:endParaRPr lang="zh-CN" sz="1800" dirty="0"/>
          </a:p>
        </p:txBody>
      </p:sp>
      <p:sp>
        <p:nvSpPr>
          <p:cNvPr id="22" name="Text 16"/>
          <p:cNvSpPr/>
          <p:nvPr/>
        </p:nvSpPr>
        <p:spPr>
          <a:xfrm>
            <a:off x="6248400" y="3096101"/>
            <a:ext cx="519684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点击页面备注可显示或隐藏；每一页的备注独立保存。</a:t>
            </a:r>
            <a:endParaRPr lang="zh-CN" sz="1600" dirty="0"/>
          </a:p>
        </p:txBody>
      </p:sp>
      <p:sp>
        <p:nvSpPr>
          <p:cNvPr id="23" name="Text 17"/>
          <p:cNvSpPr/>
          <p:nvPr/>
        </p:nvSpPr>
        <p:spPr>
          <a:xfrm>
            <a:off x="6248400" y="3487222"/>
            <a:ext cx="519684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补充口头解释与过渡；记录演示步骤和计时提示。</a:t>
            </a:r>
            <a:endParaRPr lang="zh-CN" sz="1600" dirty="0"/>
          </a:p>
        </p:txBody>
      </p:sp>
      <p:sp>
        <p:nvSpPr>
          <p:cNvPr id="24" name="Text 18"/>
          <p:cNvSpPr/>
          <p:nvPr/>
        </p:nvSpPr>
        <p:spPr>
          <a:xfrm>
            <a:off x="6248400" y="3878342"/>
            <a:ext cx="519684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备注随当前页更新；保存 HTML 时一并保留备注。</a:t>
            </a:r>
            <a:endParaRPr lang="zh-CN" sz="1600" dirty="0"/>
          </a:p>
        </p:txBody>
      </p:sp>
      <p:sp>
        <p:nvSpPr>
          <p:cNvPr id="25" name="Text 19"/>
          <p:cNvSpPr/>
          <p:nvPr/>
        </p:nvSpPr>
        <p:spPr>
          <a:xfrm>
            <a:off x="6248400" y="4269462"/>
            <a:ext cx="519684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导出 PPTX 时备注进入原生备注页。</a:t>
            </a:r>
            <a:endParaRPr lang="zh-CN" sz="1600" dirty="0"/>
          </a:p>
        </p:txBody>
      </p:sp>
      <p:sp>
        <p:nvSpPr>
          <p:cNvPr id="26" name="Shape 20"/>
          <p:cNvSpPr/>
          <p:nvPr/>
        </p:nvSpPr>
        <p:spPr>
          <a:xfrm>
            <a:off x="441960" y="5715000"/>
            <a:ext cx="11308080" cy="45720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609600" y="5791200"/>
            <a:ext cx="109728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400"/>
              </a:lnSpc>
              <a:buNone/>
            </a:pPr>
            <a:r>
              <a:rPr lang="zh-CN" alt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幻灯片服务听众阅读，备注服务口头讲解；两者围绕同一结论，避免重复堆砌。</a:t>
            </a:r>
            <a:endParaRPr lang="zh-CN" sz="1600" dirty="0"/>
          </a:p>
        </p:txBody>
      </p:sp>
      <p:sp>
        <p:nvSpPr>
          <p:cNvPr id="28" name="Text 22"/>
          <p:cNvSpPr/>
          <p:nvPr/>
        </p:nvSpPr>
        <p:spPr>
          <a:xfrm>
            <a:off x="441960" y="6485334"/>
            <a:ext cx="2971800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丽水学院 · Web Slide 使用示例</a:t>
            </a:r>
            <a:endParaRPr lang="zh-CN" sz="1020" dirty="0"/>
          </a:p>
        </p:txBody>
      </p:sp>
      <p:sp>
        <p:nvSpPr>
          <p:cNvPr id="29" name="Text 23"/>
          <p:cNvSpPr/>
          <p:nvPr/>
        </p:nvSpPr>
        <p:spPr>
          <a:xfrm>
            <a:off x="3596640" y="6485334"/>
            <a:ext cx="7534632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操作示例 · 内容与数据仅作演示</a:t>
            </a:r>
            <a:endParaRPr lang="zh-CN" sz="1020" dirty="0"/>
          </a:p>
        </p:txBody>
      </p:sp>
      <p:sp>
        <p:nvSpPr>
          <p:cNvPr id="30" name="Text 24"/>
          <p:cNvSpPr/>
          <p:nvPr/>
        </p:nvSpPr>
        <p:spPr>
          <a:xfrm>
            <a:off x="11314152" y="6485334"/>
            <a:ext cx="435888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 / 30</a:t>
            </a:r>
            <a:endParaRPr lang="zh-CN" sz="1020" dirty="0"/>
          </a:p>
        </p:txBody>
      </p:sp>
      <p:sp>
        <p:nvSpPr>
          <p:cNvPr id="31" name="Shape 25"/>
          <p:cNvSpPr/>
          <p:nvPr/>
        </p:nvSpPr>
        <p:spPr>
          <a:xfrm>
            <a:off x="441960" y="6355080"/>
            <a:ext cx="11308080" cy="7620"/>
          </a:xfrm>
          <a:prstGeom prst="rect">
            <a:avLst/>
          </a:prstGeom>
          <a:solidFill>
            <a:srgbClr val="D8E2E9"/>
          </a:solidFill>
          <a:ln w="12700">
            <a:solidFill>
              <a:srgbClr val="D8E2E9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753600" cy="5334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753600" y="0"/>
            <a:ext cx="2438400" cy="5334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41960" y="259080"/>
            <a:ext cx="289560" cy="228600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80060" y="259080"/>
            <a:ext cx="2133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buNone/>
            </a:pPr>
            <a:r>
              <a:rPr lang="zh-CN" altLang="en-US" sz="1200" b="1" dirty="0">
                <a:solidFill>
                  <a:srgbClr val="0F66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zh-CN" sz="1200" dirty="0"/>
          </a:p>
        </p:txBody>
      </p:sp>
      <p:sp>
        <p:nvSpPr>
          <p:cNvPr id="7" name="Text 4"/>
          <p:cNvSpPr/>
          <p:nvPr/>
        </p:nvSpPr>
        <p:spPr>
          <a:xfrm>
            <a:off x="838200" y="235625"/>
            <a:ext cx="9768840" cy="275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70"/>
              </a:lnSpc>
              <a:buNone/>
            </a:pPr>
            <a:r>
              <a:rPr lang="zh-CN" altLang="en-US" sz="14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预览与演示</a:t>
            </a:r>
            <a:endParaRPr lang="zh-CN" sz="1400" dirty="0"/>
          </a:p>
        </p:txBody>
      </p:sp>
      <p:sp>
        <p:nvSpPr>
          <p:cNvPr id="8" name="Text 5"/>
          <p:cNvSpPr/>
          <p:nvPr/>
        </p:nvSpPr>
        <p:spPr>
          <a:xfrm>
            <a:off x="441960" y="609600"/>
            <a:ext cx="10165080" cy="433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3416"/>
              </a:lnSpc>
              <a:buNone/>
            </a:pPr>
            <a:r>
              <a:rPr lang="zh-CN" altLang="en-US" sz="28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双窗口演示：一个看内容，一个看提示</a:t>
            </a:r>
            <a:endParaRPr lang="zh-CN" sz="2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01930"/>
            <a:ext cx="914400" cy="9144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41960" y="1264920"/>
            <a:ext cx="11308080" cy="1524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41960" y="1463040"/>
            <a:ext cx="113080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点击演讲者视图，当前工作台保留备注；新窗口只展示幻灯片，手动移到目标屏幕即可。</a:t>
            </a:r>
            <a:endParaRPr lang="zh-CN" sz="16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960" y="1950720"/>
            <a:ext cx="5562600" cy="2636520"/>
          </a:xfrm>
          <a:prstGeom prst="rect">
            <a:avLst/>
          </a:prstGeom>
        </p:spPr>
      </p:pic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950720"/>
            <a:ext cx="4677132" cy="464820"/>
          </a:xfrm>
          <a:prstGeom prst="rect">
            <a:avLst/>
          </a:prstGeom>
        </p:spPr>
      </p:pic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2415540"/>
            <a:ext cx="106680" cy="13716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716280" y="2034540"/>
            <a:ext cx="4158972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演讲者保留正常视角</a:t>
            </a:r>
            <a:endParaRPr lang="zh-CN" sz="1800" dirty="0"/>
          </a:p>
        </p:txBody>
      </p:sp>
      <p:sp>
        <p:nvSpPr>
          <p:cNvPr id="16" name="Text 9"/>
          <p:cNvSpPr/>
          <p:nvPr/>
        </p:nvSpPr>
        <p:spPr>
          <a:xfrm>
            <a:off x="716280" y="2567940"/>
            <a:ext cx="510540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打开演讲者视图；当前页备注显示在画布下方。</a:t>
            </a:r>
            <a:endParaRPr lang="zh-CN" sz="1600" dirty="0"/>
          </a:p>
        </p:txBody>
      </p:sp>
      <p:sp>
        <p:nvSpPr>
          <p:cNvPr id="17" name="Text 10"/>
          <p:cNvSpPr/>
          <p:nvPr/>
        </p:nvSpPr>
        <p:spPr>
          <a:xfrm>
            <a:off x="716280" y="2959060"/>
            <a:ext cx="510540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可以切页，也可选择隐藏备注。</a:t>
            </a:r>
            <a:endParaRPr lang="zh-CN" sz="1600" dirty="0"/>
          </a:p>
        </p:txBody>
      </p:sp>
      <p:sp>
        <p:nvSpPr>
          <p:cNvPr id="18" name="Text 11"/>
          <p:cNvSpPr/>
          <p:nvPr/>
        </p:nvSpPr>
        <p:spPr>
          <a:xfrm>
            <a:off x="716280" y="3350181"/>
            <a:ext cx="510540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两个窗口同步页码；目标屏幕由用户手动选择。</a:t>
            </a:r>
            <a:endParaRPr lang="zh-CN" sz="1600" dirty="0"/>
          </a:p>
        </p:txBody>
      </p:sp>
      <p:sp>
        <p:nvSpPr>
          <p:cNvPr id="19" name="Text 12"/>
          <p:cNvSpPr/>
          <p:nvPr/>
        </p:nvSpPr>
        <p:spPr>
          <a:xfrm>
            <a:off x="716280" y="3741301"/>
            <a:ext cx="510540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结束双窗口后继续正常编辑。</a:t>
            </a:r>
            <a:endParaRPr lang="zh-CN" sz="16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7440" y="1950720"/>
            <a:ext cx="5562600" cy="2636520"/>
          </a:xfrm>
          <a:prstGeom prst="rect">
            <a:avLst/>
          </a:prstGeom>
        </p:spPr>
      </p:pic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8400" y="1950720"/>
            <a:ext cx="4677132" cy="464820"/>
          </a:xfrm>
          <a:prstGeom prst="rect">
            <a:avLst/>
          </a:prstGeom>
        </p:spPr>
      </p:pic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8400" y="2415540"/>
            <a:ext cx="106680" cy="137160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6461760" y="2034540"/>
            <a:ext cx="4158972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观众窗口专注画面</a:t>
            </a:r>
            <a:endParaRPr lang="zh-CN" sz="1800" dirty="0"/>
          </a:p>
        </p:txBody>
      </p:sp>
      <p:sp>
        <p:nvSpPr>
          <p:cNvPr id="24" name="Text 14"/>
          <p:cNvSpPr/>
          <p:nvPr/>
        </p:nvSpPr>
        <p:spPr>
          <a:xfrm>
            <a:off x="6461760" y="2567940"/>
            <a:ext cx="5156200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允许浏览器打开一次独立窗口；手动拖到投影屏或第二块屏幕。</a:t>
            </a:r>
            <a:endParaRPr lang="zh-CN" sz="1600" dirty="0"/>
          </a:p>
        </p:txBody>
      </p:sp>
      <p:sp>
        <p:nvSpPr>
          <p:cNvPr id="25" name="Text 15"/>
          <p:cNvSpPr/>
          <p:nvPr/>
        </p:nvSpPr>
        <p:spPr>
          <a:xfrm>
            <a:off x="6461760" y="3273981"/>
            <a:ext cx="510540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点击进入全屏后开始演示。</a:t>
            </a:r>
            <a:endParaRPr lang="zh-CN" sz="1600" dirty="0"/>
          </a:p>
        </p:txBody>
      </p:sp>
      <p:sp>
        <p:nvSpPr>
          <p:cNvPr id="26" name="Text 16"/>
          <p:cNvSpPr/>
          <p:nvPr/>
        </p:nvSpPr>
        <p:spPr>
          <a:xfrm>
            <a:off x="6461760" y="3665101"/>
            <a:ext cx="510540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方向键翻页；Ctrl 滚轮缩放，左键拖动查看。</a:t>
            </a:r>
            <a:endParaRPr lang="zh-CN" sz="1600" dirty="0"/>
          </a:p>
        </p:txBody>
      </p:sp>
      <p:sp>
        <p:nvSpPr>
          <p:cNvPr id="27" name="Text 17"/>
          <p:cNvSpPr/>
          <p:nvPr/>
        </p:nvSpPr>
        <p:spPr>
          <a:xfrm>
            <a:off x="6461760" y="4056221"/>
            <a:ext cx="510540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双击总览，再双击指定页面返回。</a:t>
            </a:r>
            <a:endParaRPr lang="zh-CN" sz="1600" dirty="0"/>
          </a:p>
        </p:txBody>
      </p:sp>
      <p:sp>
        <p:nvSpPr>
          <p:cNvPr id="28" name="Shape 18"/>
          <p:cNvSpPr/>
          <p:nvPr/>
        </p:nvSpPr>
        <p:spPr>
          <a:xfrm>
            <a:off x="441960" y="4815840"/>
            <a:ext cx="11277600" cy="1280160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sp>
        <p:nvSpPr>
          <p:cNvPr id="29" name="Text 19"/>
          <p:cNvSpPr/>
          <p:nvPr/>
        </p:nvSpPr>
        <p:spPr>
          <a:xfrm>
            <a:off x="579120" y="4937760"/>
            <a:ext cx="348484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演讲者视图</a:t>
            </a:r>
            <a:endParaRPr lang="zh-CN" sz="1800" dirty="0"/>
          </a:p>
        </p:txBody>
      </p:sp>
      <p:sp>
        <p:nvSpPr>
          <p:cNvPr id="30" name="Text 20"/>
          <p:cNvSpPr/>
          <p:nvPr/>
        </p:nvSpPr>
        <p:spPr>
          <a:xfrm>
            <a:off x="579120" y="5341620"/>
            <a:ext cx="35356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 eaLnBrk="1" latinLnBrk="0" hangingPunct="1">
              <a:lnSpc>
                <a:spcPts val="1920"/>
              </a:lnSpc>
              <a:buNone/>
            </a:pPr>
            <a:r>
              <a:rPr lang="zh-CN" altLang="en-US" sz="14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点击后出现弹窗，可拖动，可全屏，适合多屏分屏放映。</a:t>
            </a:r>
            <a:endParaRPr lang="zh-CN" sz="1600" dirty="0"/>
          </a:p>
        </p:txBody>
      </p:sp>
      <p:sp>
        <p:nvSpPr>
          <p:cNvPr id="31" name="Shape 21"/>
          <p:cNvSpPr/>
          <p:nvPr/>
        </p:nvSpPr>
        <p:spPr>
          <a:xfrm>
            <a:off x="4193500" y="4968240"/>
            <a:ext cx="7620" cy="975360"/>
          </a:xfrm>
          <a:prstGeom prst="rect">
            <a:avLst/>
          </a:prstGeom>
          <a:solidFill>
            <a:srgbClr val="9EA8AE"/>
          </a:solidFill>
          <a:ln w="12700">
            <a:solidFill>
              <a:srgbClr val="9EA8AE">
                <a:alpha val="0"/>
              </a:srgbClr>
            </a:solidFill>
            <a:prstDash val="solid"/>
          </a:ln>
        </p:spPr>
      </p:sp>
      <p:sp>
        <p:nvSpPr>
          <p:cNvPr id="32" name="Text 22"/>
          <p:cNvSpPr/>
          <p:nvPr/>
        </p:nvSpPr>
        <p:spPr>
          <a:xfrm>
            <a:off x="4338280" y="4937760"/>
            <a:ext cx="348484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全屏放映</a:t>
            </a:r>
            <a:endParaRPr lang="zh-CN" sz="1800" dirty="0"/>
          </a:p>
        </p:txBody>
      </p:sp>
      <p:sp>
        <p:nvSpPr>
          <p:cNvPr id="33" name="Text 23"/>
          <p:cNvSpPr/>
          <p:nvPr/>
        </p:nvSpPr>
        <p:spPr>
          <a:xfrm>
            <a:off x="4338280" y="5341620"/>
            <a:ext cx="3535640" cy="495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 eaLnBrk="1" latinLnBrk="0" hangingPunct="1">
              <a:lnSpc>
                <a:spcPts val="1952"/>
              </a:lnSpc>
              <a:buNone/>
            </a:pPr>
            <a:r>
              <a:rPr lang="zh-CN" altLang="en-US" sz="14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直接进入全屏放映页面，双击可出现预览图，再次双击可进入对应页面。</a:t>
            </a:r>
            <a:endParaRPr lang="zh-CN" sz="1600" dirty="0"/>
          </a:p>
        </p:txBody>
      </p:sp>
      <p:sp>
        <p:nvSpPr>
          <p:cNvPr id="34" name="Shape 24"/>
          <p:cNvSpPr/>
          <p:nvPr/>
        </p:nvSpPr>
        <p:spPr>
          <a:xfrm>
            <a:off x="7952661" y="4968240"/>
            <a:ext cx="7620" cy="975360"/>
          </a:xfrm>
          <a:prstGeom prst="rect">
            <a:avLst/>
          </a:prstGeom>
          <a:solidFill>
            <a:srgbClr val="9EA8AE"/>
          </a:solidFill>
          <a:ln w="12700">
            <a:solidFill>
              <a:srgbClr val="9EA8AE">
                <a:alpha val="0"/>
              </a:srgbClr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8097441" y="4937760"/>
            <a:ext cx="3484959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快速放映</a:t>
            </a:r>
            <a:endParaRPr lang="zh-CN" sz="1800" dirty="0"/>
          </a:p>
        </p:txBody>
      </p:sp>
      <p:sp>
        <p:nvSpPr>
          <p:cNvPr id="36" name="Text 26"/>
          <p:cNvSpPr/>
          <p:nvPr/>
        </p:nvSpPr>
        <p:spPr>
          <a:xfrm>
            <a:off x="8097441" y="5341620"/>
            <a:ext cx="3535759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 eaLnBrk="1" latinLnBrk="0" hangingPunct="1">
              <a:lnSpc>
                <a:spcPts val="1920"/>
              </a:lnSpc>
              <a:buNone/>
            </a:pPr>
            <a:r>
              <a:rPr lang="zh-CN" altLang="en-US" sz="14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多页视图或左侧预览图，双击页面，直接进入放映界面。</a:t>
            </a:r>
            <a:endParaRPr lang="zh-CN" sz="1600" dirty="0"/>
          </a:p>
        </p:txBody>
      </p:sp>
      <p:sp>
        <p:nvSpPr>
          <p:cNvPr id="37" name="Text 27"/>
          <p:cNvSpPr/>
          <p:nvPr/>
        </p:nvSpPr>
        <p:spPr>
          <a:xfrm>
            <a:off x="441960" y="6485334"/>
            <a:ext cx="2971800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丽水学院 · Web Slide 使用示例</a:t>
            </a:r>
            <a:endParaRPr lang="zh-CN" sz="1020" dirty="0"/>
          </a:p>
        </p:txBody>
      </p:sp>
      <p:sp>
        <p:nvSpPr>
          <p:cNvPr id="38" name="Text 28"/>
          <p:cNvSpPr/>
          <p:nvPr/>
        </p:nvSpPr>
        <p:spPr>
          <a:xfrm>
            <a:off x="3596640" y="6485334"/>
            <a:ext cx="7534632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操作示例 · 内容与数据仅作演示</a:t>
            </a:r>
            <a:endParaRPr lang="zh-CN" sz="1020" dirty="0"/>
          </a:p>
        </p:txBody>
      </p:sp>
      <p:sp>
        <p:nvSpPr>
          <p:cNvPr id="39" name="Text 29"/>
          <p:cNvSpPr/>
          <p:nvPr/>
        </p:nvSpPr>
        <p:spPr>
          <a:xfrm>
            <a:off x="11314152" y="6485334"/>
            <a:ext cx="435888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 / 30</a:t>
            </a:r>
            <a:endParaRPr lang="zh-CN" sz="1020" dirty="0"/>
          </a:p>
        </p:txBody>
      </p:sp>
      <p:sp>
        <p:nvSpPr>
          <p:cNvPr id="40" name="Shape 30"/>
          <p:cNvSpPr/>
          <p:nvPr/>
        </p:nvSpPr>
        <p:spPr>
          <a:xfrm>
            <a:off x="441960" y="6355080"/>
            <a:ext cx="11308080" cy="7620"/>
          </a:xfrm>
          <a:prstGeom prst="rect">
            <a:avLst/>
          </a:prstGeom>
          <a:solidFill>
            <a:srgbClr val="D8E2E9"/>
          </a:solidFill>
          <a:ln w="12700">
            <a:solidFill>
              <a:srgbClr val="D8E2E9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753600" cy="5334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753600" y="0"/>
            <a:ext cx="2438400" cy="5334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41960" y="259080"/>
            <a:ext cx="289560" cy="228600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80060" y="259080"/>
            <a:ext cx="2133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buNone/>
            </a:pPr>
            <a:r>
              <a:rPr lang="zh-CN" altLang="en-US" sz="1200" b="1" dirty="0">
                <a:solidFill>
                  <a:srgbClr val="0F66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zh-CN" sz="1200" dirty="0"/>
          </a:p>
        </p:txBody>
      </p:sp>
      <p:sp>
        <p:nvSpPr>
          <p:cNvPr id="7" name="Text 4"/>
          <p:cNvSpPr/>
          <p:nvPr/>
        </p:nvSpPr>
        <p:spPr>
          <a:xfrm>
            <a:off x="838200" y="235625"/>
            <a:ext cx="9768840" cy="275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70"/>
              </a:lnSpc>
              <a:buNone/>
            </a:pPr>
            <a:r>
              <a:rPr lang="zh-CN" altLang="en-US" sz="14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预览与演示</a:t>
            </a:r>
            <a:endParaRPr lang="zh-CN" sz="1400" dirty="0"/>
          </a:p>
        </p:txBody>
      </p:sp>
      <p:sp>
        <p:nvSpPr>
          <p:cNvPr id="8" name="Text 5"/>
          <p:cNvSpPr/>
          <p:nvPr/>
        </p:nvSpPr>
        <p:spPr>
          <a:xfrm>
            <a:off x="441960" y="609600"/>
            <a:ext cx="10165080" cy="433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3416"/>
              </a:lnSpc>
              <a:buNone/>
            </a:pPr>
            <a:r>
              <a:rPr lang="zh-CN" altLang="en-US" sz="28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阶段总结与后续计划</a:t>
            </a:r>
            <a:endParaRPr lang="zh-CN" sz="2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01930"/>
            <a:ext cx="914400" cy="9144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41960" y="1264920"/>
            <a:ext cx="11308080" cy="1524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41960" y="1463040"/>
            <a:ext cx="113080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总结已经获得证据支持的进展，并将尚未解决的问题落实到可检查的后续工作。</a:t>
            </a:r>
            <a:endParaRPr lang="zh-CN" sz="1600" dirty="0"/>
          </a:p>
        </p:txBody>
      </p:sp>
      <p:sp>
        <p:nvSpPr>
          <p:cNvPr id="12" name="Text 8"/>
          <p:cNvSpPr/>
          <p:nvPr/>
        </p:nvSpPr>
        <p:spPr>
          <a:xfrm>
            <a:off x="441960" y="1950720"/>
            <a:ext cx="5379720" cy="330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600"/>
              </a:lnSpc>
              <a:buNone/>
            </a:pPr>
            <a:r>
              <a:rPr lang="zh-CN" altLang="en-US" sz="20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阶段总结</a:t>
            </a:r>
            <a:endParaRPr lang="zh-CN" sz="2000" dirty="0"/>
          </a:p>
        </p:txBody>
      </p:sp>
      <p:sp>
        <p:nvSpPr>
          <p:cNvPr id="13" name="Shape 9"/>
          <p:cNvSpPr/>
          <p:nvPr/>
        </p:nvSpPr>
        <p:spPr>
          <a:xfrm>
            <a:off x="441960" y="2402681"/>
            <a:ext cx="5379720" cy="1195507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79120" y="2524601"/>
            <a:ext cx="510540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已完成的工作</a:t>
            </a:r>
            <a:endParaRPr lang="zh-CN" sz="1800" dirty="0"/>
          </a:p>
        </p:txBody>
      </p:sp>
      <p:sp>
        <p:nvSpPr>
          <p:cNvPr id="15" name="Text 11"/>
          <p:cNvSpPr/>
          <p:nvPr/>
        </p:nvSpPr>
        <p:spPr>
          <a:xfrm>
            <a:off x="579120" y="2882741"/>
            <a:ext cx="5156200" cy="589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 eaLnBrk="1" latinLnBrk="0" hangingPunct="1">
              <a:lnSpc>
                <a:spcPts val="2320"/>
              </a:lnSpc>
              <a:buNone/>
            </a:pPr>
            <a:r>
              <a:rPr lang="zh-CN" altLang="en-US" sz="16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已实现的方法与完成的实验，注明代码版本、数据范围和记录位置。</a:t>
            </a:r>
            <a:endParaRPr lang="zh-CN" sz="1600" dirty="0"/>
          </a:p>
        </p:txBody>
      </p:sp>
      <p:sp>
        <p:nvSpPr>
          <p:cNvPr id="16" name="Shape 12"/>
          <p:cNvSpPr/>
          <p:nvPr/>
        </p:nvSpPr>
        <p:spPr>
          <a:xfrm>
            <a:off x="441960" y="3689628"/>
            <a:ext cx="5379720" cy="1195507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79120" y="3811548"/>
            <a:ext cx="510540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证据支持的结论</a:t>
            </a:r>
            <a:endParaRPr lang="zh-CN" sz="1800" dirty="0"/>
          </a:p>
        </p:txBody>
      </p:sp>
      <p:sp>
        <p:nvSpPr>
          <p:cNvPr id="18" name="Text 14"/>
          <p:cNvSpPr/>
          <p:nvPr/>
        </p:nvSpPr>
        <p:spPr>
          <a:xfrm>
            <a:off x="579120" y="4169688"/>
            <a:ext cx="5156200" cy="589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 eaLnBrk="1" latinLnBrk="0" hangingPunct="1">
              <a:lnSpc>
                <a:spcPts val="2320"/>
              </a:lnSpc>
              <a:buNone/>
            </a:pPr>
            <a:r>
              <a:rPr lang="zh-CN" altLang="en-US" sz="16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关联对应图表，写明结论适用的场景与条件；初步观察标明尚待复核。</a:t>
            </a:r>
            <a:endParaRPr lang="zh-CN" sz="1600" dirty="0"/>
          </a:p>
        </p:txBody>
      </p:sp>
      <p:sp>
        <p:nvSpPr>
          <p:cNvPr id="19" name="Shape 15"/>
          <p:cNvSpPr/>
          <p:nvPr/>
        </p:nvSpPr>
        <p:spPr>
          <a:xfrm>
            <a:off x="441960" y="4976574"/>
            <a:ext cx="5379720" cy="1195626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79120" y="5098494"/>
            <a:ext cx="510540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仍待解决的问题</a:t>
            </a:r>
            <a:endParaRPr lang="zh-CN" sz="1800" dirty="0"/>
          </a:p>
        </p:txBody>
      </p:sp>
      <p:sp>
        <p:nvSpPr>
          <p:cNvPr id="21" name="Text 17"/>
          <p:cNvSpPr/>
          <p:nvPr/>
        </p:nvSpPr>
        <p:spPr>
          <a:xfrm>
            <a:off x="579120" y="5456634"/>
            <a:ext cx="5156200" cy="589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 eaLnBrk="1" latinLnBrk="0" hangingPunct="1">
              <a:lnSpc>
                <a:spcPts val="2320"/>
              </a:lnSpc>
              <a:buNone/>
            </a:pPr>
            <a:r>
              <a:rPr lang="zh-CN" altLang="en-US" sz="16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未覆盖的场景、失败情形及主要限制，说明其对当前判断的影响。</a:t>
            </a:r>
            <a:endParaRPr lang="zh-CN" sz="1600" dirty="0"/>
          </a:p>
        </p:txBody>
      </p:sp>
      <p:sp>
        <p:nvSpPr>
          <p:cNvPr id="22" name="Text 18"/>
          <p:cNvSpPr/>
          <p:nvPr/>
        </p:nvSpPr>
        <p:spPr>
          <a:xfrm>
            <a:off x="6362700" y="1950720"/>
            <a:ext cx="5387340" cy="330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600"/>
              </a:lnSpc>
              <a:buNone/>
            </a:pPr>
            <a:r>
              <a:rPr lang="zh-CN" altLang="en-US" sz="20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下一步计划</a:t>
            </a:r>
            <a:endParaRPr lang="zh-CN" sz="2000" dirty="0"/>
          </a:p>
        </p:txBody>
      </p:sp>
      <p:sp>
        <p:nvSpPr>
          <p:cNvPr id="23" name="Shape 19"/>
          <p:cNvSpPr/>
          <p:nvPr/>
        </p:nvSpPr>
        <p:spPr>
          <a:xfrm>
            <a:off x="6362700" y="2417921"/>
            <a:ext cx="1023580" cy="337661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6362700" y="2747963"/>
            <a:ext cx="102358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454140" y="2456021"/>
            <a:ext cx="840700" cy="257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030"/>
              </a:lnSpc>
              <a:buNone/>
            </a:pPr>
            <a:r>
              <a:rPr lang="zh-CN" alt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工作阶段</a:t>
            </a:r>
            <a:endParaRPr lang="zh-CN" sz="1400" dirty="0"/>
          </a:p>
        </p:txBody>
      </p:sp>
      <p:sp>
        <p:nvSpPr>
          <p:cNvPr id="26" name="Shape 22"/>
          <p:cNvSpPr/>
          <p:nvPr/>
        </p:nvSpPr>
        <p:spPr>
          <a:xfrm>
            <a:off x="7386280" y="2417921"/>
            <a:ext cx="1939409" cy="337661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7386280" y="2747963"/>
            <a:ext cx="1939409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7477720" y="2456021"/>
            <a:ext cx="1756529" cy="257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030"/>
              </a:lnSpc>
              <a:buNone/>
            </a:pPr>
            <a:r>
              <a:rPr lang="zh-CN" alt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关键任务</a:t>
            </a:r>
            <a:endParaRPr lang="zh-CN" sz="1400" dirty="0"/>
          </a:p>
        </p:txBody>
      </p:sp>
      <p:sp>
        <p:nvSpPr>
          <p:cNvPr id="29" name="Shape 25"/>
          <p:cNvSpPr/>
          <p:nvPr/>
        </p:nvSpPr>
        <p:spPr>
          <a:xfrm>
            <a:off x="9325689" y="2417921"/>
            <a:ext cx="2424351" cy="337661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9325689" y="2747963"/>
            <a:ext cx="2424351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9417129" y="2456021"/>
            <a:ext cx="2241471" cy="257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030"/>
              </a:lnSpc>
              <a:buNone/>
            </a:pPr>
            <a:r>
              <a:rPr lang="zh-CN" alt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验收产出</a:t>
            </a:r>
            <a:endParaRPr lang="zh-CN" sz="1400" dirty="0"/>
          </a:p>
        </p:txBody>
      </p:sp>
      <p:sp>
        <p:nvSpPr>
          <p:cNvPr id="32" name="Shape 28"/>
          <p:cNvSpPr/>
          <p:nvPr/>
        </p:nvSpPr>
        <p:spPr>
          <a:xfrm>
            <a:off x="6362700" y="2755583"/>
            <a:ext cx="1023580" cy="59912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6362700" y="3347085"/>
            <a:ext cx="102358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6454140" y="2926318"/>
            <a:ext cx="840700" cy="257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030"/>
              </a:lnSpc>
              <a:buNone/>
            </a:pPr>
            <a:r>
              <a:rPr lang="zh-CN" altLang="en-US" sz="1400" b="1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近期</a:t>
            </a:r>
            <a:endParaRPr lang="zh-CN" sz="1400" dirty="0"/>
          </a:p>
        </p:txBody>
      </p:sp>
      <p:sp>
        <p:nvSpPr>
          <p:cNvPr id="35" name="Shape 31"/>
          <p:cNvSpPr/>
          <p:nvPr/>
        </p:nvSpPr>
        <p:spPr>
          <a:xfrm>
            <a:off x="7386280" y="2755583"/>
            <a:ext cx="1939409" cy="59912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7386280" y="3347085"/>
            <a:ext cx="1939409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7477720" y="2797493"/>
            <a:ext cx="1800979" cy="515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 eaLnBrk="1" latinLnBrk="0" hangingPunct="1">
              <a:lnSpc>
                <a:spcPts val="2030"/>
              </a:lnSpc>
              <a:buNone/>
            </a:pPr>
            <a:r>
              <a:rPr lang="zh-CN" altLang="en-US" sz="14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统一实验设置</a:t>
            </a:r>
            <a:endParaRPr lang="zh-CN" sz="1400" dirty="0"/>
          </a:p>
          <a:p>
            <a:pPr algn="l" indent="0" marL="0" eaLnBrk="1" latinLnBrk="0" hangingPunct="1">
              <a:lnSpc>
                <a:spcPts val="2030"/>
              </a:lnSpc>
              <a:buNone/>
            </a:pPr>
            <a:r>
              <a:rPr lang="zh-CN" altLang="en-US" sz="14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固定数据划分</a:t>
            </a:r>
            <a:endParaRPr lang="zh-CN" sz="1400" dirty="0"/>
          </a:p>
        </p:txBody>
      </p:sp>
      <p:sp>
        <p:nvSpPr>
          <p:cNvPr id="38" name="Shape 34"/>
          <p:cNvSpPr/>
          <p:nvPr/>
        </p:nvSpPr>
        <p:spPr>
          <a:xfrm>
            <a:off x="9325689" y="2755583"/>
            <a:ext cx="2424351" cy="59912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9325689" y="3347085"/>
            <a:ext cx="2424351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9417129" y="2797493"/>
            <a:ext cx="2285921" cy="515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 eaLnBrk="1" latinLnBrk="0" hangingPunct="1">
              <a:lnSpc>
                <a:spcPts val="2030"/>
              </a:lnSpc>
              <a:buNone/>
            </a:pPr>
            <a:r>
              <a:rPr lang="zh-CN" altLang="en-US" sz="14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参数清单、数据版本</a:t>
            </a:r>
            <a:endParaRPr lang="zh-CN" sz="1400" dirty="0"/>
          </a:p>
          <a:p>
            <a:pPr algn="l" indent="0" marL="0" eaLnBrk="1" latinLnBrk="0" hangingPunct="1">
              <a:lnSpc>
                <a:spcPts val="2030"/>
              </a:lnSpc>
              <a:buNone/>
            </a:pPr>
            <a:r>
              <a:rPr lang="zh-CN" altLang="en-US" sz="14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及可复现脚本</a:t>
            </a:r>
            <a:endParaRPr lang="zh-CN" sz="1400" dirty="0"/>
          </a:p>
        </p:txBody>
      </p:sp>
      <p:sp>
        <p:nvSpPr>
          <p:cNvPr id="41" name="Shape 37"/>
          <p:cNvSpPr/>
          <p:nvPr/>
        </p:nvSpPr>
        <p:spPr>
          <a:xfrm>
            <a:off x="6362700" y="3354705"/>
            <a:ext cx="1023580" cy="599123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sp>
        <p:nvSpPr>
          <p:cNvPr id="42" name="Shape 38"/>
          <p:cNvSpPr/>
          <p:nvPr/>
        </p:nvSpPr>
        <p:spPr>
          <a:xfrm>
            <a:off x="6362700" y="3946208"/>
            <a:ext cx="102358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6454140" y="3525441"/>
            <a:ext cx="840700" cy="257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030"/>
              </a:lnSpc>
              <a:buNone/>
            </a:pPr>
            <a:r>
              <a:rPr lang="zh-CN" altLang="en-US" sz="1400" b="1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随后</a:t>
            </a:r>
            <a:endParaRPr lang="zh-CN" sz="1400" dirty="0"/>
          </a:p>
        </p:txBody>
      </p:sp>
      <p:sp>
        <p:nvSpPr>
          <p:cNvPr id="44" name="Shape 40"/>
          <p:cNvSpPr/>
          <p:nvPr/>
        </p:nvSpPr>
        <p:spPr>
          <a:xfrm>
            <a:off x="7386280" y="3354705"/>
            <a:ext cx="1939409" cy="599123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sp>
        <p:nvSpPr>
          <p:cNvPr id="45" name="Shape 41"/>
          <p:cNvSpPr/>
          <p:nvPr/>
        </p:nvSpPr>
        <p:spPr>
          <a:xfrm>
            <a:off x="7386280" y="3946208"/>
            <a:ext cx="1939409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46" name="Text 42"/>
          <p:cNvSpPr/>
          <p:nvPr/>
        </p:nvSpPr>
        <p:spPr>
          <a:xfrm>
            <a:off x="7477720" y="3396615"/>
            <a:ext cx="1800979" cy="515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 eaLnBrk="1" latinLnBrk="0" hangingPunct="1">
              <a:lnSpc>
                <a:spcPts val="2030"/>
              </a:lnSpc>
              <a:buNone/>
            </a:pPr>
            <a:r>
              <a:rPr lang="zh-CN" altLang="en-US" sz="14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补充对照实验</a:t>
            </a:r>
            <a:endParaRPr lang="zh-CN" sz="1400" dirty="0"/>
          </a:p>
          <a:p>
            <a:pPr algn="l" indent="0" marL="0" eaLnBrk="1" latinLnBrk="0" hangingPunct="1">
              <a:lnSpc>
                <a:spcPts val="2030"/>
              </a:lnSpc>
              <a:buNone/>
            </a:pPr>
            <a:r>
              <a:rPr lang="zh-CN" altLang="en-US" sz="14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开展关键消融</a:t>
            </a:r>
            <a:endParaRPr lang="zh-CN" sz="1400" dirty="0"/>
          </a:p>
        </p:txBody>
      </p:sp>
      <p:sp>
        <p:nvSpPr>
          <p:cNvPr id="47" name="Shape 43"/>
          <p:cNvSpPr/>
          <p:nvPr/>
        </p:nvSpPr>
        <p:spPr>
          <a:xfrm>
            <a:off x="9325689" y="3354705"/>
            <a:ext cx="2424351" cy="599123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sp>
        <p:nvSpPr>
          <p:cNvPr id="48" name="Shape 44"/>
          <p:cNvSpPr/>
          <p:nvPr/>
        </p:nvSpPr>
        <p:spPr>
          <a:xfrm>
            <a:off x="9325689" y="3946208"/>
            <a:ext cx="2424351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49" name="Text 45"/>
          <p:cNvSpPr/>
          <p:nvPr/>
        </p:nvSpPr>
        <p:spPr>
          <a:xfrm>
            <a:off x="9417129" y="3396615"/>
            <a:ext cx="2285921" cy="515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 eaLnBrk="1" latinLnBrk="0" hangingPunct="1">
              <a:lnSpc>
                <a:spcPts val="2030"/>
              </a:lnSpc>
              <a:buNone/>
            </a:pPr>
            <a:r>
              <a:rPr lang="zh-CN" altLang="en-US" sz="14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均值 ± 标准差</a:t>
            </a:r>
            <a:endParaRPr lang="zh-CN" sz="1400" dirty="0"/>
          </a:p>
          <a:p>
            <a:pPr algn="l" indent="0" marL="0" eaLnBrk="1" latinLnBrk="0" hangingPunct="1">
              <a:lnSpc>
                <a:spcPts val="2030"/>
              </a:lnSpc>
              <a:buNone/>
            </a:pPr>
            <a:r>
              <a:rPr lang="zh-CN" altLang="en-US" sz="14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重复次数及日志</a:t>
            </a:r>
            <a:endParaRPr lang="zh-CN" sz="1400" dirty="0"/>
          </a:p>
        </p:txBody>
      </p:sp>
      <p:sp>
        <p:nvSpPr>
          <p:cNvPr id="50" name="Shape 46"/>
          <p:cNvSpPr/>
          <p:nvPr/>
        </p:nvSpPr>
        <p:spPr>
          <a:xfrm>
            <a:off x="6362700" y="3953828"/>
            <a:ext cx="1023580" cy="59912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Shape 47"/>
          <p:cNvSpPr/>
          <p:nvPr/>
        </p:nvSpPr>
        <p:spPr>
          <a:xfrm>
            <a:off x="6362700" y="4545330"/>
            <a:ext cx="102358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52" name="Text 48"/>
          <p:cNvSpPr/>
          <p:nvPr/>
        </p:nvSpPr>
        <p:spPr>
          <a:xfrm>
            <a:off x="6454140" y="4124563"/>
            <a:ext cx="840700" cy="257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030"/>
              </a:lnSpc>
              <a:buNone/>
            </a:pPr>
            <a:r>
              <a:rPr lang="zh-CN" altLang="en-US" sz="1400" b="1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并行</a:t>
            </a:r>
            <a:endParaRPr lang="zh-CN" sz="1400" dirty="0"/>
          </a:p>
        </p:txBody>
      </p:sp>
      <p:sp>
        <p:nvSpPr>
          <p:cNvPr id="53" name="Shape 49"/>
          <p:cNvSpPr/>
          <p:nvPr/>
        </p:nvSpPr>
        <p:spPr>
          <a:xfrm>
            <a:off x="7386280" y="3953828"/>
            <a:ext cx="1939409" cy="59912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Shape 50"/>
          <p:cNvSpPr/>
          <p:nvPr/>
        </p:nvSpPr>
        <p:spPr>
          <a:xfrm>
            <a:off x="7386280" y="4545330"/>
            <a:ext cx="1939409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55" name="Text 51"/>
          <p:cNvSpPr/>
          <p:nvPr/>
        </p:nvSpPr>
        <p:spPr>
          <a:xfrm>
            <a:off x="7477720" y="3995738"/>
            <a:ext cx="1800979" cy="515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 eaLnBrk="1" latinLnBrk="0" hangingPunct="1">
              <a:lnSpc>
                <a:spcPts val="2030"/>
              </a:lnSpc>
              <a:buNone/>
            </a:pPr>
            <a:r>
              <a:rPr lang="zh-CN" altLang="en-US" sz="14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分析异常结果</a:t>
            </a:r>
            <a:endParaRPr lang="zh-CN" sz="1400" dirty="0"/>
          </a:p>
          <a:p>
            <a:pPr algn="l" indent="0" marL="0" eaLnBrk="1" latinLnBrk="0" hangingPunct="1">
              <a:lnSpc>
                <a:spcPts val="2030"/>
              </a:lnSpc>
              <a:buNone/>
            </a:pPr>
            <a:r>
              <a:rPr lang="zh-CN" altLang="en-US" sz="14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归纳失败案例</a:t>
            </a:r>
            <a:endParaRPr lang="zh-CN" sz="1400" dirty="0"/>
          </a:p>
        </p:txBody>
      </p:sp>
      <p:sp>
        <p:nvSpPr>
          <p:cNvPr id="56" name="Shape 52"/>
          <p:cNvSpPr/>
          <p:nvPr/>
        </p:nvSpPr>
        <p:spPr>
          <a:xfrm>
            <a:off x="9325689" y="3953828"/>
            <a:ext cx="2424351" cy="59912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" name="Shape 53"/>
          <p:cNvSpPr/>
          <p:nvPr/>
        </p:nvSpPr>
        <p:spPr>
          <a:xfrm>
            <a:off x="9325689" y="4545330"/>
            <a:ext cx="2424351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58" name="Text 54"/>
          <p:cNvSpPr/>
          <p:nvPr/>
        </p:nvSpPr>
        <p:spPr>
          <a:xfrm>
            <a:off x="9417129" y="3995738"/>
            <a:ext cx="2285921" cy="515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 eaLnBrk="1" latinLnBrk="0" hangingPunct="1">
              <a:lnSpc>
                <a:spcPts val="2030"/>
              </a:lnSpc>
              <a:buNone/>
            </a:pPr>
            <a:r>
              <a:rPr lang="zh-CN" altLang="en-US" sz="14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差异解释与边界条件</a:t>
            </a:r>
            <a:endParaRPr lang="zh-CN" sz="1400" dirty="0"/>
          </a:p>
          <a:p>
            <a:pPr algn="l" indent="0" marL="0" eaLnBrk="1" latinLnBrk="0" hangingPunct="1">
              <a:lnSpc>
                <a:spcPts val="2030"/>
              </a:lnSpc>
              <a:buNone/>
            </a:pPr>
            <a:r>
              <a:rPr lang="zh-CN" altLang="en-US" sz="14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典型样例定位</a:t>
            </a:r>
            <a:endParaRPr lang="zh-CN" sz="1400" dirty="0"/>
          </a:p>
        </p:txBody>
      </p:sp>
      <p:sp>
        <p:nvSpPr>
          <p:cNvPr id="59" name="Shape 55"/>
          <p:cNvSpPr/>
          <p:nvPr/>
        </p:nvSpPr>
        <p:spPr>
          <a:xfrm>
            <a:off x="6362700" y="4552950"/>
            <a:ext cx="1023580" cy="599123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sp>
        <p:nvSpPr>
          <p:cNvPr id="60" name="Shape 56"/>
          <p:cNvSpPr/>
          <p:nvPr/>
        </p:nvSpPr>
        <p:spPr>
          <a:xfrm>
            <a:off x="6362700" y="5144453"/>
            <a:ext cx="102358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61" name="Text 57"/>
          <p:cNvSpPr/>
          <p:nvPr/>
        </p:nvSpPr>
        <p:spPr>
          <a:xfrm>
            <a:off x="6454140" y="4723686"/>
            <a:ext cx="840700" cy="257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030"/>
              </a:lnSpc>
              <a:buNone/>
            </a:pPr>
            <a:r>
              <a:rPr lang="zh-CN" altLang="en-US" sz="1400" b="1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下次汇报</a:t>
            </a:r>
            <a:endParaRPr lang="zh-CN" sz="1400" dirty="0"/>
          </a:p>
        </p:txBody>
      </p:sp>
      <p:sp>
        <p:nvSpPr>
          <p:cNvPr id="62" name="Shape 58"/>
          <p:cNvSpPr/>
          <p:nvPr/>
        </p:nvSpPr>
        <p:spPr>
          <a:xfrm>
            <a:off x="7386280" y="4552950"/>
            <a:ext cx="1939409" cy="599123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sp>
        <p:nvSpPr>
          <p:cNvPr id="63" name="Shape 59"/>
          <p:cNvSpPr/>
          <p:nvPr/>
        </p:nvSpPr>
        <p:spPr>
          <a:xfrm>
            <a:off x="7386280" y="5144453"/>
            <a:ext cx="1939409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64" name="Text 60"/>
          <p:cNvSpPr/>
          <p:nvPr/>
        </p:nvSpPr>
        <p:spPr>
          <a:xfrm>
            <a:off x="7477720" y="4594860"/>
            <a:ext cx="1800979" cy="515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 eaLnBrk="1" latinLnBrk="0" hangingPunct="1">
              <a:lnSpc>
                <a:spcPts val="2030"/>
              </a:lnSpc>
              <a:buNone/>
            </a:pPr>
            <a:r>
              <a:rPr lang="zh-CN" altLang="en-US" sz="14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汇总新增证据</a:t>
            </a:r>
            <a:endParaRPr lang="zh-CN" sz="1400" dirty="0"/>
          </a:p>
          <a:p>
            <a:pPr algn="l" indent="0" marL="0" eaLnBrk="1" latinLnBrk="0" hangingPunct="1">
              <a:lnSpc>
                <a:spcPts val="2030"/>
              </a:lnSpc>
              <a:buNone/>
            </a:pPr>
            <a:r>
              <a:rPr lang="zh-CN" altLang="en-US" sz="14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逐项回应问题</a:t>
            </a:r>
            <a:endParaRPr lang="zh-CN" sz="1400" dirty="0"/>
          </a:p>
        </p:txBody>
      </p:sp>
      <p:sp>
        <p:nvSpPr>
          <p:cNvPr id="65" name="Shape 61"/>
          <p:cNvSpPr/>
          <p:nvPr/>
        </p:nvSpPr>
        <p:spPr>
          <a:xfrm>
            <a:off x="9325689" y="4552950"/>
            <a:ext cx="2424351" cy="599123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sp>
        <p:nvSpPr>
          <p:cNvPr id="66" name="Shape 62"/>
          <p:cNvSpPr/>
          <p:nvPr/>
        </p:nvSpPr>
        <p:spPr>
          <a:xfrm>
            <a:off x="9325689" y="5144453"/>
            <a:ext cx="2424351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67" name="Text 63"/>
          <p:cNvSpPr/>
          <p:nvPr/>
        </p:nvSpPr>
        <p:spPr>
          <a:xfrm>
            <a:off x="9417129" y="4594860"/>
            <a:ext cx="2285921" cy="515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 eaLnBrk="1" latinLnBrk="0" hangingPunct="1">
              <a:lnSpc>
                <a:spcPts val="2030"/>
              </a:lnSpc>
              <a:buNone/>
            </a:pPr>
            <a:r>
              <a:rPr lang="zh-CN" altLang="en-US" sz="14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更新图表与问题清单</a:t>
            </a:r>
            <a:endParaRPr lang="zh-CN" sz="1400" dirty="0"/>
          </a:p>
          <a:p>
            <a:pPr algn="l" indent="0" marL="0" eaLnBrk="1" latinLnBrk="0" hangingPunct="1">
              <a:lnSpc>
                <a:spcPts val="2030"/>
              </a:lnSpc>
              <a:buNone/>
            </a:pPr>
            <a:r>
              <a:rPr lang="zh-CN" altLang="en-US" sz="14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修订研究结论</a:t>
            </a:r>
            <a:endParaRPr lang="zh-CN" sz="1400" dirty="0"/>
          </a:p>
        </p:txBody>
      </p:sp>
      <p:sp>
        <p:nvSpPr>
          <p:cNvPr id="68" name="Shape 64"/>
          <p:cNvSpPr/>
          <p:nvPr/>
        </p:nvSpPr>
        <p:spPr>
          <a:xfrm>
            <a:off x="6355080" y="5273040"/>
            <a:ext cx="5394960" cy="899160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sp>
        <p:nvSpPr>
          <p:cNvPr id="69" name="Shape 65"/>
          <p:cNvSpPr/>
          <p:nvPr/>
        </p:nvSpPr>
        <p:spPr>
          <a:xfrm>
            <a:off x="6355080" y="5273040"/>
            <a:ext cx="45720" cy="89916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70" name="Text 66"/>
          <p:cNvSpPr/>
          <p:nvPr/>
        </p:nvSpPr>
        <p:spPr>
          <a:xfrm>
            <a:off x="6477000" y="5389840"/>
            <a:ext cx="5151120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indent="0" marL="0" eaLnBrk="1" latinLnBrk="0" hangingPunct="1">
              <a:lnSpc>
                <a:spcPts val="2320"/>
              </a:lnSpc>
              <a:buNone/>
            </a:pPr>
            <a:r>
              <a:rPr lang="zh-CN" altLang="en-US" sz="16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本次讨论：确认实验优先级和验收标准。</a:t>
            </a:r>
            <a:endParaRPr lang="zh-CN" sz="1600" dirty="0"/>
          </a:p>
        </p:txBody>
      </p:sp>
      <p:sp>
        <p:nvSpPr>
          <p:cNvPr id="71" name="Text 67"/>
          <p:cNvSpPr/>
          <p:nvPr/>
        </p:nvSpPr>
        <p:spPr>
          <a:xfrm>
            <a:off x="6477000" y="5760720"/>
            <a:ext cx="5151120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indent="0" marL="0" eaLnBrk="1" latinLnBrk="0" hangingPunct="1">
              <a:lnSpc>
                <a:spcPts val="2320"/>
              </a:lnSpc>
              <a:buNone/>
            </a:pPr>
            <a:r>
              <a:rPr lang="zh-CN" altLang="en-US" sz="16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各阶段时间按实际进展填写。</a:t>
            </a:r>
            <a:endParaRPr lang="zh-CN" sz="1600" dirty="0"/>
          </a:p>
        </p:txBody>
      </p:sp>
      <p:sp>
        <p:nvSpPr>
          <p:cNvPr id="72" name="Text 68"/>
          <p:cNvSpPr/>
          <p:nvPr/>
        </p:nvSpPr>
        <p:spPr>
          <a:xfrm>
            <a:off x="441960" y="6485334"/>
            <a:ext cx="2971800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丽水学院 · 科研汇报模板</a:t>
            </a:r>
            <a:endParaRPr lang="zh-CN" sz="1020" dirty="0"/>
          </a:p>
        </p:txBody>
      </p:sp>
      <p:sp>
        <p:nvSpPr>
          <p:cNvPr id="73" name="Text 69"/>
          <p:cNvSpPr/>
          <p:nvPr/>
        </p:nvSpPr>
        <p:spPr>
          <a:xfrm>
            <a:off x="3596640" y="6485334"/>
            <a:ext cx="7534632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阶段总结与任务安排示例，以实际工作记录为准</a:t>
            </a:r>
            <a:endParaRPr lang="zh-CN" sz="1020" dirty="0"/>
          </a:p>
        </p:txBody>
      </p:sp>
      <p:sp>
        <p:nvSpPr>
          <p:cNvPr id="74" name="Text 70"/>
          <p:cNvSpPr/>
          <p:nvPr/>
        </p:nvSpPr>
        <p:spPr>
          <a:xfrm>
            <a:off x="11314152" y="6485334"/>
            <a:ext cx="435888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 / 30</a:t>
            </a:r>
            <a:endParaRPr lang="zh-CN" sz="1020" dirty="0"/>
          </a:p>
        </p:txBody>
      </p:sp>
      <p:sp>
        <p:nvSpPr>
          <p:cNvPr id="75" name="Shape 71"/>
          <p:cNvSpPr/>
          <p:nvPr/>
        </p:nvSpPr>
        <p:spPr>
          <a:xfrm>
            <a:off x="441960" y="6355080"/>
            <a:ext cx="11308080" cy="7620"/>
          </a:xfrm>
          <a:prstGeom prst="rect">
            <a:avLst/>
          </a:prstGeom>
          <a:solidFill>
            <a:srgbClr val="D8E2E9"/>
          </a:solidFill>
          <a:ln w="12700">
            <a:solidFill>
              <a:srgbClr val="D8E2E9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753600" cy="5334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753600" y="0"/>
            <a:ext cx="2438400" cy="5334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219200" y="2282428"/>
            <a:ext cx="9753600" cy="1005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7920"/>
              </a:lnSpc>
              <a:buNone/>
            </a:pPr>
            <a:r>
              <a:rPr lang="zh-CN" altLang="en-US" sz="72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zh-CN" sz="7200" dirty="0"/>
          </a:p>
        </p:txBody>
      </p:sp>
      <p:sp>
        <p:nvSpPr>
          <p:cNvPr id="6" name="Shape 3"/>
          <p:cNvSpPr/>
          <p:nvPr/>
        </p:nvSpPr>
        <p:spPr>
          <a:xfrm>
            <a:off x="5810250" y="3516868"/>
            <a:ext cx="571500" cy="3048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219200" y="3775948"/>
            <a:ext cx="9753600" cy="576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4536"/>
              </a:lnSpc>
              <a:buNone/>
            </a:pPr>
            <a:r>
              <a:rPr lang="zh-CN" altLang="en-US" sz="3360" b="1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保存与交付</a:t>
            </a:r>
            <a:endParaRPr lang="zh-CN" sz="3360" dirty="0"/>
          </a:p>
        </p:txBody>
      </p:sp>
      <p:sp>
        <p:nvSpPr>
          <p:cNvPr id="8" name="Text 5"/>
          <p:cNvSpPr/>
          <p:nvPr/>
        </p:nvSpPr>
        <p:spPr>
          <a:xfrm>
            <a:off x="1219200" y="4489133"/>
            <a:ext cx="975360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607B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保留可继续编辑的源稿，再生成适合阅读与汇报的输出文件。</a:t>
            </a:r>
            <a:endParaRPr lang="zh-CN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753600" cy="5334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753600" y="0"/>
            <a:ext cx="2438400" cy="5334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41960" y="259080"/>
            <a:ext cx="289560" cy="228600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80060" y="259080"/>
            <a:ext cx="2133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buNone/>
            </a:pPr>
            <a:r>
              <a:rPr lang="zh-CN" altLang="en-US" sz="1200" b="1" dirty="0">
                <a:solidFill>
                  <a:srgbClr val="0F66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zh-CN" sz="1200" dirty="0"/>
          </a:p>
        </p:txBody>
      </p:sp>
      <p:sp>
        <p:nvSpPr>
          <p:cNvPr id="7" name="Text 4"/>
          <p:cNvSpPr/>
          <p:nvPr/>
        </p:nvSpPr>
        <p:spPr>
          <a:xfrm>
            <a:off x="838200" y="235625"/>
            <a:ext cx="9768840" cy="275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70"/>
              </a:lnSpc>
              <a:buNone/>
            </a:pPr>
            <a:r>
              <a:rPr lang="zh-CN" altLang="en-US" sz="14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保存与交付</a:t>
            </a:r>
            <a:endParaRPr lang="zh-CN" sz="1400" dirty="0"/>
          </a:p>
        </p:txBody>
      </p:sp>
      <p:sp>
        <p:nvSpPr>
          <p:cNvPr id="8" name="Text 5"/>
          <p:cNvSpPr/>
          <p:nvPr/>
        </p:nvSpPr>
        <p:spPr>
          <a:xfrm>
            <a:off x="441960" y="609600"/>
            <a:ext cx="10165080" cy="433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3416"/>
              </a:lnSpc>
              <a:buNone/>
            </a:pPr>
            <a:r>
              <a:rPr lang="zh-CN" altLang="en-US" sz="28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三种文件，各自承担一种任务</a:t>
            </a:r>
            <a:endParaRPr lang="zh-CN" sz="2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01930"/>
            <a:ext cx="914400" cy="9144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41960" y="1264920"/>
            <a:ext cx="11308080" cy="1524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41960" y="1463040"/>
            <a:ext cx="113080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先保存 HTML 源稿，再导出 PDF 与可编辑 PPTX；交付前至少做一次完整预览。</a:t>
            </a:r>
            <a:endParaRPr lang="zh-CN" sz="16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960" y="2011680"/>
            <a:ext cx="3647361" cy="3459480"/>
          </a:xfrm>
          <a:prstGeom prst="rect">
            <a:avLst/>
          </a:prstGeom>
        </p:spPr>
      </p:pic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011680"/>
            <a:ext cx="2955727" cy="46482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16280" y="2095500"/>
            <a:ext cx="2437567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HTML：继续编辑</a:t>
            </a:r>
            <a:endParaRPr lang="zh-CN" sz="1800" dirty="0"/>
          </a:p>
        </p:txBody>
      </p:sp>
      <p:sp>
        <p:nvSpPr>
          <p:cNvPr id="15" name="Text 9"/>
          <p:cNvSpPr/>
          <p:nvPr/>
        </p:nvSpPr>
        <p:spPr>
          <a:xfrm>
            <a:off x="624840" y="2628900"/>
            <a:ext cx="3332401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名称显示在 Web Slide 旁边；点击名称可修改文稿文件名。</a:t>
            </a:r>
            <a:endParaRPr lang="zh-CN" sz="1600" dirty="0"/>
          </a:p>
        </p:txBody>
      </p:sp>
      <p:sp>
        <p:nvSpPr>
          <p:cNvPr id="16" name="Text 10"/>
          <p:cNvSpPr/>
          <p:nvPr/>
        </p:nvSpPr>
        <p:spPr>
          <a:xfrm>
            <a:off x="624840" y="3334941"/>
            <a:ext cx="3332401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样式、素材和备注均内嵌；可离线编辑、保存和放映。</a:t>
            </a:r>
            <a:endParaRPr lang="zh-CN" sz="1600" dirty="0"/>
          </a:p>
        </p:txBody>
      </p:sp>
      <p:sp>
        <p:nvSpPr>
          <p:cNvPr id="17" name="Text 11"/>
          <p:cNvSpPr/>
          <p:nvPr/>
        </p:nvSpPr>
        <p:spPr>
          <a:xfrm>
            <a:off x="624840" y="4040981"/>
            <a:ext cx="3332401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需要导出时拖回本地工作台；不要只依赖浏览器临时草稿。</a:t>
            </a:r>
            <a:endParaRPr lang="zh-CN" sz="1600" dirty="0"/>
          </a:p>
        </p:txBody>
      </p:sp>
      <p:sp>
        <p:nvSpPr>
          <p:cNvPr id="18" name="Text 12"/>
          <p:cNvSpPr/>
          <p:nvPr/>
        </p:nvSpPr>
        <p:spPr>
          <a:xfrm>
            <a:off x="624840" y="4747022"/>
            <a:ext cx="3281601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正式修改后另存一个新版本。</a:t>
            </a:r>
            <a:endParaRPr lang="zh-CN" sz="160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2201" y="2011680"/>
            <a:ext cx="3647480" cy="3459480"/>
          </a:xfrm>
          <a:prstGeom prst="rect">
            <a:avLst/>
          </a:prstGeom>
        </p:spPr>
      </p:pic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33161" y="2011680"/>
            <a:ext cx="2955727" cy="46482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4546521" y="2095500"/>
            <a:ext cx="2437567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PDF：稳定阅读</a:t>
            </a:r>
            <a:endParaRPr lang="zh-CN" sz="1800" dirty="0"/>
          </a:p>
        </p:txBody>
      </p:sp>
      <p:sp>
        <p:nvSpPr>
          <p:cNvPr id="22" name="Text 14"/>
          <p:cNvSpPr/>
          <p:nvPr/>
        </p:nvSpPr>
        <p:spPr>
          <a:xfrm>
            <a:off x="4455081" y="2628900"/>
            <a:ext cx="3332520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按标准宽屏输出十六比九；没有 A4 白边或浏览器页眉。</a:t>
            </a:r>
            <a:endParaRPr lang="zh-CN" sz="1600" dirty="0"/>
          </a:p>
        </p:txBody>
      </p:sp>
      <p:sp>
        <p:nvSpPr>
          <p:cNvPr id="23" name="Text 15"/>
          <p:cNvSpPr/>
          <p:nvPr/>
        </p:nvSpPr>
        <p:spPr>
          <a:xfrm>
            <a:off x="4455081" y="3334941"/>
            <a:ext cx="3332520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视频在 PDF 中显示静态画面；演讲者备注不进入可见页面。</a:t>
            </a:r>
            <a:endParaRPr lang="zh-CN" sz="1600" dirty="0"/>
          </a:p>
        </p:txBody>
      </p:sp>
      <p:sp>
        <p:nvSpPr>
          <p:cNvPr id="24" name="Text 16"/>
          <p:cNvSpPr/>
          <p:nvPr/>
        </p:nvSpPr>
        <p:spPr>
          <a:xfrm>
            <a:off x="4455081" y="4040981"/>
            <a:ext cx="3332520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检查图表和来源是否清楚；确认长链接和换行没有越界。</a:t>
            </a:r>
            <a:endParaRPr lang="zh-CN" sz="1600" dirty="0"/>
          </a:p>
        </p:txBody>
      </p:sp>
      <p:sp>
        <p:nvSpPr>
          <p:cNvPr id="25" name="Text 17"/>
          <p:cNvSpPr/>
          <p:nvPr/>
        </p:nvSpPr>
        <p:spPr>
          <a:xfrm>
            <a:off x="4455081" y="4747022"/>
            <a:ext cx="328172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适合打印、发送与归档阅读。</a:t>
            </a:r>
            <a:endParaRPr lang="zh-CN" sz="1600" dirty="0"/>
          </a:p>
        </p:txBody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02560" y="2011680"/>
            <a:ext cx="3647361" cy="3459480"/>
          </a:xfrm>
          <a:prstGeom prst="rect">
            <a:avLst/>
          </a:prstGeom>
        </p:spPr>
      </p:pic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63520" y="2011680"/>
            <a:ext cx="2955727" cy="464820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8376880" y="2095500"/>
            <a:ext cx="2437567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PPTX：继续汇报</a:t>
            </a:r>
            <a:endParaRPr lang="zh-CN" sz="1800" dirty="0"/>
          </a:p>
        </p:txBody>
      </p:sp>
      <p:sp>
        <p:nvSpPr>
          <p:cNvPr id="29" name="Text 19"/>
          <p:cNvSpPr/>
          <p:nvPr/>
        </p:nvSpPr>
        <p:spPr>
          <a:xfrm>
            <a:off x="8285440" y="2628900"/>
            <a:ext cx="3332401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文字与表格单元格保持可编辑；图片和视频作为独立对象输出。</a:t>
            </a:r>
            <a:endParaRPr lang="zh-CN" sz="1600" dirty="0"/>
          </a:p>
        </p:txBody>
      </p:sp>
      <p:sp>
        <p:nvSpPr>
          <p:cNvPr id="30" name="Text 20"/>
          <p:cNvSpPr/>
          <p:nvPr/>
        </p:nvSpPr>
        <p:spPr>
          <a:xfrm>
            <a:off x="8285440" y="3334941"/>
            <a:ext cx="3332401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章节名称明确关闭自动换行；正文主标题使用当前主题色。</a:t>
            </a:r>
            <a:endParaRPr lang="zh-CN" sz="1600" dirty="0"/>
          </a:p>
        </p:txBody>
      </p:sp>
      <p:sp>
        <p:nvSpPr>
          <p:cNvPr id="31" name="Text 21"/>
          <p:cNvSpPr/>
          <p:nvPr/>
        </p:nvSpPr>
        <p:spPr>
          <a:xfrm>
            <a:off x="8285440" y="4040981"/>
            <a:ext cx="3332401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并列媒体保持相同绝对高度；页面备注写入原生备注区域。</a:t>
            </a:r>
            <a:endParaRPr lang="zh-CN" sz="1600" dirty="0"/>
          </a:p>
        </p:txBody>
      </p:sp>
      <p:sp>
        <p:nvSpPr>
          <p:cNvPr id="32" name="Text 22"/>
          <p:cNvSpPr/>
          <p:nvPr/>
        </p:nvSpPr>
        <p:spPr>
          <a:xfrm>
            <a:off x="8285440" y="4747022"/>
            <a:ext cx="3281601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目标电脑仍需核对字体与播放。</a:t>
            </a:r>
            <a:endParaRPr lang="zh-CN" sz="1600" dirty="0"/>
          </a:p>
        </p:txBody>
      </p:sp>
      <p:sp>
        <p:nvSpPr>
          <p:cNvPr id="33" name="Shape 23"/>
          <p:cNvSpPr/>
          <p:nvPr/>
        </p:nvSpPr>
        <p:spPr>
          <a:xfrm>
            <a:off x="441960" y="5715000"/>
            <a:ext cx="11308080" cy="45720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34" name="Text 24"/>
          <p:cNvSpPr/>
          <p:nvPr/>
        </p:nvSpPr>
        <p:spPr>
          <a:xfrm>
            <a:off x="609600" y="5791200"/>
            <a:ext cx="109728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400"/>
              </a:lnSpc>
              <a:buNone/>
            </a:pPr>
            <a:r>
              <a:rPr lang="zh-CN" alt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交付前检查：内容准确、层级清楚、无孤字、无越界、媒体等高、来源可追踪。</a:t>
            </a:r>
            <a:endParaRPr lang="zh-CN" sz="1600" dirty="0"/>
          </a:p>
        </p:txBody>
      </p:sp>
      <p:sp>
        <p:nvSpPr>
          <p:cNvPr id="35" name="Text 25"/>
          <p:cNvSpPr/>
          <p:nvPr/>
        </p:nvSpPr>
        <p:spPr>
          <a:xfrm>
            <a:off x="441960" y="6485334"/>
            <a:ext cx="2971800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丽水学院 · Web Slide 使用示例</a:t>
            </a:r>
            <a:endParaRPr lang="zh-CN" sz="1020" dirty="0"/>
          </a:p>
        </p:txBody>
      </p:sp>
      <p:sp>
        <p:nvSpPr>
          <p:cNvPr id="36" name="Text 26"/>
          <p:cNvSpPr/>
          <p:nvPr/>
        </p:nvSpPr>
        <p:spPr>
          <a:xfrm>
            <a:off x="3596640" y="6485334"/>
            <a:ext cx="7534632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操作示例 · 内容与数据仅作演示</a:t>
            </a:r>
            <a:endParaRPr lang="zh-CN" sz="1020" dirty="0"/>
          </a:p>
        </p:txBody>
      </p:sp>
      <p:sp>
        <p:nvSpPr>
          <p:cNvPr id="37" name="Text 27"/>
          <p:cNvSpPr/>
          <p:nvPr/>
        </p:nvSpPr>
        <p:spPr>
          <a:xfrm>
            <a:off x="11314152" y="6485334"/>
            <a:ext cx="435888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26 / 30</a:t>
            </a:r>
            <a:endParaRPr lang="zh-CN" sz="1020" dirty="0"/>
          </a:p>
        </p:txBody>
      </p:sp>
      <p:sp>
        <p:nvSpPr>
          <p:cNvPr id="38" name="Shape 28"/>
          <p:cNvSpPr/>
          <p:nvPr/>
        </p:nvSpPr>
        <p:spPr>
          <a:xfrm>
            <a:off x="441960" y="6355080"/>
            <a:ext cx="11308080" cy="7620"/>
          </a:xfrm>
          <a:prstGeom prst="rect">
            <a:avLst/>
          </a:prstGeom>
          <a:solidFill>
            <a:srgbClr val="D8E2E9"/>
          </a:solidFill>
          <a:ln w="12700">
            <a:solidFill>
              <a:srgbClr val="D8E2E9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753600" cy="5334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753600" y="0"/>
            <a:ext cx="2438400" cy="5334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41960" y="259080"/>
            <a:ext cx="381000" cy="228600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80060" y="259080"/>
            <a:ext cx="3048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buNone/>
            </a:pPr>
            <a:r>
              <a:rPr lang="zh-CN" altLang="en-US" sz="1200" b="1" dirty="0">
                <a:solidFill>
                  <a:srgbClr val="0F66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附录</a:t>
            </a:r>
            <a:endParaRPr lang="zh-CN" sz="1200" dirty="0"/>
          </a:p>
        </p:txBody>
      </p:sp>
      <p:sp>
        <p:nvSpPr>
          <p:cNvPr id="7" name="Text 4"/>
          <p:cNvSpPr/>
          <p:nvPr/>
        </p:nvSpPr>
        <p:spPr>
          <a:xfrm>
            <a:off x="929640" y="235625"/>
            <a:ext cx="9677400" cy="275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70"/>
              </a:lnSpc>
              <a:buNone/>
            </a:pPr>
            <a:r>
              <a:rPr lang="zh-CN" altLang="en-US" sz="14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参考与作者</a:t>
            </a:r>
            <a:endParaRPr lang="zh-CN" sz="1400" dirty="0"/>
          </a:p>
        </p:txBody>
      </p:sp>
      <p:sp>
        <p:nvSpPr>
          <p:cNvPr id="8" name="Text 5"/>
          <p:cNvSpPr/>
          <p:nvPr/>
        </p:nvSpPr>
        <p:spPr>
          <a:xfrm>
            <a:off x="441960" y="609600"/>
            <a:ext cx="10165080" cy="433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3416"/>
              </a:lnSpc>
              <a:buNone/>
            </a:pPr>
            <a:r>
              <a:rPr lang="zh-CN" altLang="en-US" sz="28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模板资料与协同工作方式</a:t>
            </a:r>
            <a:endParaRPr lang="zh-CN" sz="2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01930"/>
            <a:ext cx="914400" cy="9144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41960" y="1264920"/>
            <a:ext cx="11308080" cy="1524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41960" y="1463040"/>
            <a:ext cx="113080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先保留可追踪资料，再请 AI 生成结构化页面；人工端负责精修与最终确认。</a:t>
            </a:r>
            <a:endParaRPr lang="zh-CN" sz="1600" dirty="0"/>
          </a:p>
        </p:txBody>
      </p:sp>
      <p:sp>
        <p:nvSpPr>
          <p:cNvPr id="12" name="Shape 8"/>
          <p:cNvSpPr/>
          <p:nvPr/>
        </p:nvSpPr>
        <p:spPr>
          <a:xfrm>
            <a:off x="441960" y="1950720"/>
            <a:ext cx="3647361" cy="2667000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79120" y="2072640"/>
            <a:ext cx="3373041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 AI 的材料</a:t>
            </a:r>
            <a:endParaRPr lang="zh-CN" sz="1800" dirty="0"/>
          </a:p>
        </p:txBody>
      </p:sp>
      <p:sp>
        <p:nvSpPr>
          <p:cNvPr id="14" name="Text 10"/>
          <p:cNvSpPr/>
          <p:nvPr/>
        </p:nvSpPr>
        <p:spPr>
          <a:xfrm>
            <a:off x="579120" y="2476500"/>
            <a:ext cx="3373041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学校标识与需要遵循的主题色。</a:t>
            </a:r>
            <a:endParaRPr lang="zh-CN" sz="1600" dirty="0"/>
          </a:p>
        </p:txBody>
      </p:sp>
      <p:sp>
        <p:nvSpPr>
          <p:cNvPr id="15" name="Text 11"/>
          <p:cNvSpPr/>
          <p:nvPr/>
        </p:nvSpPr>
        <p:spPr>
          <a:xfrm>
            <a:off x="579120" y="2867620"/>
            <a:ext cx="3373041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论文、图表、公式及引用来源。</a:t>
            </a:r>
            <a:endParaRPr lang="zh-CN" sz="1600" dirty="0"/>
          </a:p>
        </p:txBody>
      </p:sp>
      <p:sp>
        <p:nvSpPr>
          <p:cNvPr id="16" name="Text 12"/>
          <p:cNvSpPr/>
          <p:nvPr/>
        </p:nvSpPr>
        <p:spPr>
          <a:xfrm>
            <a:off x="579120" y="3258741"/>
            <a:ext cx="3423841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受众、时长、章节目标与必须保留的信息。</a:t>
            </a:r>
            <a:endParaRPr lang="zh-CN" sz="1600" dirty="0"/>
          </a:p>
        </p:txBody>
      </p:sp>
      <p:sp>
        <p:nvSpPr>
          <p:cNvPr id="17" name="Text 13"/>
          <p:cNvSpPr/>
          <p:nvPr/>
        </p:nvSpPr>
        <p:spPr>
          <a:xfrm>
            <a:off x="579120" y="3964781"/>
            <a:ext cx="3373041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已有 HTML 可作为修改起点。</a:t>
            </a:r>
            <a:endParaRPr lang="zh-CN" sz="1600" dirty="0"/>
          </a:p>
        </p:txBody>
      </p:sp>
      <p:sp>
        <p:nvSpPr>
          <p:cNvPr id="18" name="Shape 14"/>
          <p:cNvSpPr/>
          <p:nvPr/>
        </p:nvSpPr>
        <p:spPr>
          <a:xfrm>
            <a:off x="4272201" y="1950720"/>
            <a:ext cx="3647480" cy="2667000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409361" y="2072640"/>
            <a:ext cx="337316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人工端的操作</a:t>
            </a:r>
            <a:endParaRPr lang="zh-CN" sz="1800" dirty="0"/>
          </a:p>
        </p:txBody>
      </p:sp>
      <p:sp>
        <p:nvSpPr>
          <p:cNvPr id="20" name="Text 16"/>
          <p:cNvSpPr/>
          <p:nvPr/>
        </p:nvSpPr>
        <p:spPr>
          <a:xfrm>
            <a:off x="4409361" y="2476500"/>
            <a:ext cx="337316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检查内容顺序，再调整模块。</a:t>
            </a:r>
            <a:endParaRPr lang="zh-CN" sz="1600" dirty="0"/>
          </a:p>
        </p:txBody>
      </p:sp>
      <p:sp>
        <p:nvSpPr>
          <p:cNvPr id="21" name="Text 17"/>
          <p:cNvSpPr/>
          <p:nvPr/>
        </p:nvSpPr>
        <p:spPr>
          <a:xfrm>
            <a:off x="4409361" y="2867620"/>
            <a:ext cx="337316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文字可加粗、改色与调整行距。</a:t>
            </a:r>
            <a:endParaRPr lang="zh-CN" sz="1600" dirty="0"/>
          </a:p>
        </p:txBody>
      </p:sp>
      <p:sp>
        <p:nvSpPr>
          <p:cNvPr id="22" name="Text 18"/>
          <p:cNvSpPr/>
          <p:nvPr/>
        </p:nvSpPr>
        <p:spPr>
          <a:xfrm>
            <a:off x="4409361" y="3258741"/>
            <a:ext cx="337316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替换媒体，复查取景与等高。</a:t>
            </a:r>
            <a:endParaRPr lang="zh-CN" sz="1600" dirty="0"/>
          </a:p>
        </p:txBody>
      </p:sp>
      <p:sp>
        <p:nvSpPr>
          <p:cNvPr id="23" name="Text 19"/>
          <p:cNvSpPr/>
          <p:nvPr/>
        </p:nvSpPr>
        <p:spPr>
          <a:xfrm>
            <a:off x="4409361" y="3649861"/>
            <a:ext cx="337316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备注补充讲解，导出前复查。</a:t>
            </a:r>
            <a:endParaRPr lang="zh-CN" sz="1600" dirty="0"/>
          </a:p>
        </p:txBody>
      </p:sp>
      <p:sp>
        <p:nvSpPr>
          <p:cNvPr id="24" name="Shape 20"/>
          <p:cNvSpPr/>
          <p:nvPr/>
        </p:nvSpPr>
        <p:spPr>
          <a:xfrm>
            <a:off x="8102560" y="1950720"/>
            <a:ext cx="3647361" cy="2667000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8239720" y="2072640"/>
            <a:ext cx="3373041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可复用的资源</a:t>
            </a:r>
            <a:endParaRPr lang="zh-CN" sz="1800" dirty="0"/>
          </a:p>
        </p:txBody>
      </p:sp>
      <p:sp>
        <p:nvSpPr>
          <p:cNvPr id="26" name="Text 22"/>
          <p:cNvSpPr/>
          <p:nvPr/>
        </p:nvSpPr>
        <p:spPr>
          <a:xfrm>
            <a:off x="8239720" y="2476500"/>
            <a:ext cx="3373041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SKILL.md 规定 AI 工作流程。</a:t>
            </a:r>
            <a:endParaRPr lang="zh-CN" sz="1600" dirty="0"/>
          </a:p>
        </p:txBody>
      </p:sp>
      <p:sp>
        <p:nvSpPr>
          <p:cNvPr id="27" name="Text 23"/>
          <p:cNvSpPr/>
          <p:nvPr/>
        </p:nvSpPr>
        <p:spPr>
          <a:xfrm>
            <a:off x="8239720" y="2867620"/>
            <a:ext cx="3373041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根目录 HTML 可继续编辑。</a:t>
            </a:r>
            <a:endParaRPr lang="zh-CN" sz="1600" dirty="0"/>
          </a:p>
        </p:txBody>
      </p:sp>
      <p:sp>
        <p:nvSpPr>
          <p:cNvPr id="28" name="Text 24"/>
          <p:cNvSpPr/>
          <p:nvPr/>
        </p:nvSpPr>
        <p:spPr>
          <a:xfrm>
            <a:off x="8239720" y="3258741"/>
            <a:ext cx="3373041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学校标识应核对官网原件。</a:t>
            </a:r>
            <a:endParaRPr lang="zh-CN" sz="1600" dirty="0"/>
          </a:p>
        </p:txBody>
      </p:sp>
      <p:sp>
        <p:nvSpPr>
          <p:cNvPr id="29" name="Text 25"/>
          <p:cNvSpPr/>
          <p:nvPr/>
        </p:nvSpPr>
        <p:spPr>
          <a:xfrm>
            <a:off x="8239720" y="3649861"/>
            <a:ext cx="3373041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下方汇总高校官方资源入口。</a:t>
            </a:r>
            <a:endParaRPr lang="zh-CN" sz="1600" dirty="0"/>
          </a:p>
        </p:txBody>
      </p:sp>
      <p:sp>
        <p:nvSpPr>
          <p:cNvPr id="30" name="Shape 26"/>
          <p:cNvSpPr/>
          <p:nvPr/>
        </p:nvSpPr>
        <p:spPr>
          <a:xfrm>
            <a:off x="441960" y="4800600"/>
            <a:ext cx="3769281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594360" y="4861560"/>
            <a:ext cx="3464481" cy="264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080"/>
              </a:lnSpc>
              <a:buNone/>
            </a:pPr>
            <a:r>
              <a:rPr lang="zh-CN" altLang="en-US" sz="16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资料交接</a:t>
            </a:r>
            <a:endParaRPr lang="zh-CN" sz="1600" dirty="0"/>
          </a:p>
        </p:txBody>
      </p:sp>
      <p:sp>
        <p:nvSpPr>
          <p:cNvPr id="32" name="Text 28"/>
          <p:cNvSpPr/>
          <p:nvPr/>
        </p:nvSpPr>
        <p:spPr>
          <a:xfrm>
            <a:off x="594360" y="5186720"/>
            <a:ext cx="3464481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indent="0" marL="0" eaLnBrk="1" latinLnBrk="0" hangingPunct="1">
              <a:lnSpc>
                <a:spcPts val="1960"/>
              </a:lnSpc>
              <a:buNone/>
            </a:pPr>
            <a:r>
              <a:rPr lang="zh-CN" altLang="en-US" sz="14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记录版本、来源与尚缺材料。</a:t>
            </a:r>
            <a:endParaRPr lang="zh-CN" sz="1400" dirty="0"/>
          </a:p>
        </p:txBody>
      </p:sp>
      <p:sp>
        <p:nvSpPr>
          <p:cNvPr id="33" name="Shape 29"/>
          <p:cNvSpPr/>
          <p:nvPr/>
        </p:nvSpPr>
        <p:spPr>
          <a:xfrm>
            <a:off x="4203621" y="4953000"/>
            <a:ext cx="7620" cy="426720"/>
          </a:xfrm>
          <a:prstGeom prst="rect">
            <a:avLst/>
          </a:prstGeom>
          <a:solidFill>
            <a:srgbClr val="9EA8AE"/>
          </a:solidFill>
          <a:ln w="12700">
            <a:solidFill>
              <a:srgbClr val="9EA8AE">
                <a:alpha val="0"/>
              </a:srgbClr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4211241" y="4800600"/>
            <a:ext cx="37694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4363641" y="4861560"/>
            <a:ext cx="3464600" cy="264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080"/>
              </a:lnSpc>
              <a:buNone/>
            </a:pPr>
            <a:r>
              <a:rPr lang="zh-CN" altLang="en-US" sz="16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人工复核</a:t>
            </a:r>
            <a:endParaRPr lang="zh-CN" sz="1600" dirty="0"/>
          </a:p>
        </p:txBody>
      </p:sp>
      <p:sp>
        <p:nvSpPr>
          <p:cNvPr id="36" name="Text 32"/>
          <p:cNvSpPr/>
          <p:nvPr/>
        </p:nvSpPr>
        <p:spPr>
          <a:xfrm>
            <a:off x="4363641" y="5186720"/>
            <a:ext cx="346460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indent="0" marL="0" eaLnBrk="1" latinLnBrk="0" hangingPunct="1">
              <a:lnSpc>
                <a:spcPts val="1960"/>
              </a:lnSpc>
              <a:buNone/>
            </a:pPr>
            <a:r>
              <a:rPr lang="zh-CN" altLang="en-US" sz="14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核对事实、取景和引用链接。</a:t>
            </a:r>
            <a:endParaRPr lang="zh-CN" sz="1400" dirty="0"/>
          </a:p>
        </p:txBody>
      </p:sp>
      <p:sp>
        <p:nvSpPr>
          <p:cNvPr id="37" name="Shape 33"/>
          <p:cNvSpPr/>
          <p:nvPr/>
        </p:nvSpPr>
        <p:spPr>
          <a:xfrm>
            <a:off x="7973020" y="4953000"/>
            <a:ext cx="7620" cy="426720"/>
          </a:xfrm>
          <a:prstGeom prst="rect">
            <a:avLst/>
          </a:prstGeom>
          <a:solidFill>
            <a:srgbClr val="9EA8AE"/>
          </a:solidFill>
          <a:ln w="12700">
            <a:solidFill>
              <a:srgbClr val="9EA8AE">
                <a:alpha val="0"/>
              </a:srgbClr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7980640" y="4800600"/>
            <a:ext cx="3769281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8133040" y="4861560"/>
            <a:ext cx="3464481" cy="264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080"/>
              </a:lnSpc>
              <a:buNone/>
            </a:pPr>
            <a:r>
              <a:rPr lang="zh-CN" altLang="en-US" sz="16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下轮修改</a:t>
            </a:r>
            <a:endParaRPr lang="zh-CN" sz="1600" dirty="0"/>
          </a:p>
        </p:txBody>
      </p:sp>
      <p:sp>
        <p:nvSpPr>
          <p:cNvPr id="40" name="Text 36"/>
          <p:cNvSpPr/>
          <p:nvPr/>
        </p:nvSpPr>
        <p:spPr>
          <a:xfrm>
            <a:off x="8133040" y="5186720"/>
            <a:ext cx="3464481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indent="0" marL="0" eaLnBrk="1" latinLnBrk="0" hangingPunct="1">
              <a:lnSpc>
                <a:spcPts val="1960"/>
              </a:lnSpc>
              <a:buNone/>
            </a:pPr>
            <a:r>
              <a:rPr lang="zh-CN" altLang="en-US" sz="14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标出待改页面和验收标准。</a:t>
            </a:r>
            <a:endParaRPr lang="zh-CN" sz="1400" dirty="0"/>
          </a:p>
        </p:txBody>
      </p:sp>
      <p:sp>
        <p:nvSpPr>
          <p:cNvPr id="41" name="Shape 37"/>
          <p:cNvSpPr/>
          <p:nvPr/>
        </p:nvSpPr>
        <p:spPr>
          <a:xfrm>
            <a:off x="441960" y="5715000"/>
            <a:ext cx="11308080" cy="45720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609600" y="5791200"/>
            <a:ext cx="109728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400"/>
              </a:lnSpc>
              <a:buNone/>
            </a:pPr>
            <a:r>
              <a:rPr lang="zh-CN" alt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以真实资料为起点，以可编辑源稿为交接；保留来源、人工判断和下一轮修改的入口。</a:t>
            </a:r>
            <a:endParaRPr lang="zh-CN" sz="1600" dirty="0"/>
          </a:p>
        </p:txBody>
      </p:sp>
      <p:sp>
        <p:nvSpPr>
          <p:cNvPr id="43" name="Text 39"/>
          <p:cNvSpPr/>
          <p:nvPr/>
        </p:nvSpPr>
        <p:spPr>
          <a:xfrm>
            <a:off x="441960" y="6485334"/>
            <a:ext cx="2971800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丽水学院 · 附录</a:t>
            </a:r>
            <a:endParaRPr lang="zh-CN" sz="1020" dirty="0"/>
          </a:p>
        </p:txBody>
      </p:sp>
      <p:sp>
        <p:nvSpPr>
          <p:cNvPr id="44" name="Text 40">
            <a:hlinkClick r:id="rId2" tooltip=""/>
          </p:cNvPr>
          <p:cNvSpPr/>
          <p:nvPr/>
        </p:nvSpPr>
        <p:spPr>
          <a:xfrm>
            <a:off x="3596640" y="6485334"/>
            <a:ext cx="7534632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u="sng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中国高校校徽（LOGO）官方下载资源汇总</a:t>
            </a:r>
            <a:endParaRPr lang="zh-CN" sz="1020" dirty="0"/>
          </a:p>
        </p:txBody>
      </p:sp>
      <p:sp>
        <p:nvSpPr>
          <p:cNvPr id="45" name="Text 41"/>
          <p:cNvSpPr/>
          <p:nvPr/>
        </p:nvSpPr>
        <p:spPr>
          <a:xfrm>
            <a:off x="11314152" y="6485334"/>
            <a:ext cx="435888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27 / 30</a:t>
            </a:r>
            <a:endParaRPr lang="zh-CN" sz="1020" dirty="0"/>
          </a:p>
        </p:txBody>
      </p:sp>
      <p:sp>
        <p:nvSpPr>
          <p:cNvPr id="46" name="Shape 42"/>
          <p:cNvSpPr/>
          <p:nvPr/>
        </p:nvSpPr>
        <p:spPr>
          <a:xfrm>
            <a:off x="441960" y="6355080"/>
            <a:ext cx="11308080" cy="7620"/>
          </a:xfrm>
          <a:prstGeom prst="rect">
            <a:avLst/>
          </a:prstGeom>
          <a:solidFill>
            <a:srgbClr val="D8E2E9"/>
          </a:solidFill>
          <a:ln w="12700">
            <a:solidFill>
              <a:srgbClr val="D8E2E9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8160" y="259080"/>
            <a:ext cx="3048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buNone/>
            </a:pPr>
            <a:r>
              <a:rPr lang="zh-CN" altLang="en-US" sz="12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</a:t>
            </a:r>
            <a:endParaRPr lang="zh-CN" sz="1200" dirty="0"/>
          </a:p>
        </p:txBody>
      </p:sp>
      <p:sp>
        <p:nvSpPr>
          <p:cNvPr id="4" name="Text 1"/>
          <p:cNvSpPr/>
          <p:nvPr/>
        </p:nvSpPr>
        <p:spPr>
          <a:xfrm>
            <a:off x="1005840" y="235625"/>
            <a:ext cx="9601200" cy="275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70"/>
              </a:lnSpc>
              <a:buNone/>
            </a:pPr>
            <a:r>
              <a:rPr lang="zh-CN" altLang="en-US" sz="1400" b="1" dirty="0">
                <a:solidFill>
                  <a:srgbClr val="4064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参考与作者</a:t>
            </a:r>
            <a:endParaRPr lang="zh-CN" sz="1400" dirty="0"/>
          </a:p>
        </p:txBody>
      </p:sp>
      <p:sp>
        <p:nvSpPr>
          <p:cNvPr id="5" name="Text 2"/>
          <p:cNvSpPr/>
          <p:nvPr/>
        </p:nvSpPr>
        <p:spPr>
          <a:xfrm>
            <a:off x="441960" y="609600"/>
            <a:ext cx="10165080" cy="433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3416"/>
              </a:lnSpc>
              <a:buNone/>
            </a:pPr>
            <a:r>
              <a:rPr lang="zh-CN" altLang="en-US" sz="28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参考文献著录示例</a:t>
            </a:r>
            <a:endParaRPr lang="zh-CN" sz="28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201930"/>
            <a:ext cx="914400" cy="9144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41960" y="1463040"/>
            <a:ext cx="113080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按文献本体选择类型, 在线载体用 /OL; 著录分隔符使用英文标点, 其后留一个空格。</a:t>
            </a:r>
            <a:endParaRPr lang="zh-CN" sz="1600" dirty="0"/>
          </a:p>
        </p:txBody>
      </p:sp>
      <p:sp>
        <p:nvSpPr>
          <p:cNvPr id="8" name="Text 4"/>
          <p:cNvSpPr/>
          <p:nvPr/>
        </p:nvSpPr>
        <p:spPr>
          <a:xfrm>
            <a:off x="441960" y="1991320"/>
            <a:ext cx="32004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[1]</a:t>
            </a:r>
            <a:endParaRPr lang="zh-CN" sz="1200" dirty="0"/>
          </a:p>
        </p:txBody>
      </p:sp>
      <p:sp>
        <p:nvSpPr>
          <p:cNvPr id="9" name="Text 5"/>
          <p:cNvSpPr/>
          <p:nvPr/>
        </p:nvSpPr>
        <p:spPr>
          <a:xfrm>
            <a:off x="807720" y="1991320"/>
            <a:ext cx="1094232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徐建委. 历史的起点: "史记"中的时间设置及其意义[J]. 北京大学学报(哲学社会科学版), 2025, 62(2): 117-127.</a:t>
            </a:r>
            <a:endParaRPr lang="zh-CN" sz="1200" dirty="0"/>
          </a:p>
        </p:txBody>
      </p:sp>
      <p:sp>
        <p:nvSpPr>
          <p:cNvPr id="10" name="Text 6"/>
          <p:cNvSpPr/>
          <p:nvPr/>
        </p:nvSpPr>
        <p:spPr>
          <a:xfrm>
            <a:off x="441960" y="2296120"/>
            <a:ext cx="32004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[2]</a:t>
            </a:r>
            <a:endParaRPr lang="zh-CN" sz="1200" dirty="0"/>
          </a:p>
        </p:txBody>
      </p:sp>
      <p:sp>
        <p:nvSpPr>
          <p:cNvPr id="11" name="Text 7"/>
          <p:cNvSpPr/>
          <p:nvPr/>
        </p:nvSpPr>
        <p:spPr>
          <a:xfrm>
            <a:off x="807720" y="2296120"/>
            <a:ext cx="1094232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Peebles P Z Jr. Probability, random variables, and random signal principles[M]. 4th ed. New York: McGraw-Hill, 2001.</a:t>
            </a:r>
            <a:endParaRPr lang="zh-CN" sz="1200" dirty="0"/>
          </a:p>
        </p:txBody>
      </p:sp>
      <p:sp>
        <p:nvSpPr>
          <p:cNvPr id="12" name="Text 8"/>
          <p:cNvSpPr/>
          <p:nvPr/>
        </p:nvSpPr>
        <p:spPr>
          <a:xfrm>
            <a:off x="441960" y="2600920"/>
            <a:ext cx="32004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[3]</a:t>
            </a:r>
            <a:endParaRPr lang="zh-CN" sz="1200" dirty="0"/>
          </a:p>
        </p:txBody>
      </p:sp>
      <p:sp>
        <p:nvSpPr>
          <p:cNvPr id="13" name="Text 9"/>
          <p:cNvSpPr/>
          <p:nvPr/>
        </p:nvSpPr>
        <p:spPr>
          <a:xfrm>
            <a:off x="807720" y="2600920"/>
            <a:ext cx="1094232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丁文详. 数字革命与竞争国际化[N]. 中国青年报, 2000-11-20(15).</a:t>
            </a:r>
            <a:endParaRPr lang="zh-CN" sz="1200" dirty="0"/>
          </a:p>
        </p:txBody>
      </p:sp>
      <p:sp>
        <p:nvSpPr>
          <p:cNvPr id="14" name="Text 10"/>
          <p:cNvSpPr/>
          <p:nvPr/>
        </p:nvSpPr>
        <p:spPr>
          <a:xfrm>
            <a:off x="441960" y="2905720"/>
            <a:ext cx="32004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[4]</a:t>
            </a:r>
            <a:endParaRPr lang="zh-CN" sz="1200" dirty="0"/>
          </a:p>
        </p:txBody>
      </p:sp>
      <p:sp>
        <p:nvSpPr>
          <p:cNvPr id="15" name="Text 11"/>
          <p:cNvSpPr/>
          <p:nvPr/>
        </p:nvSpPr>
        <p:spPr>
          <a:xfrm>
            <a:off x="807720" y="2905720"/>
            <a:ext cx="1094232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Cairns B R. Infrared spectroscopic studies of solid oxygen[D]. Berkeley: University of California, Berkeley, 1965: 15.</a:t>
            </a:r>
            <a:endParaRPr lang="zh-CN" sz="1200" dirty="0"/>
          </a:p>
        </p:txBody>
      </p:sp>
      <p:sp>
        <p:nvSpPr>
          <p:cNvPr id="16" name="Text 12"/>
          <p:cNvSpPr/>
          <p:nvPr/>
        </p:nvSpPr>
        <p:spPr>
          <a:xfrm>
            <a:off x="441960" y="3210520"/>
            <a:ext cx="32004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[5]</a:t>
            </a:r>
            <a:endParaRPr lang="zh-CN" sz="1200" dirty="0"/>
          </a:p>
        </p:txBody>
      </p:sp>
      <p:sp>
        <p:nvSpPr>
          <p:cNvPr id="17" name="Text 13"/>
          <p:cNvSpPr/>
          <p:nvPr/>
        </p:nvSpPr>
        <p:spPr>
          <a:xfrm>
            <a:off x="807720" y="3210520"/>
            <a:ext cx="1094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Yufin S A. Geoecology and computers: proceedings of the Third International Conference on Advances of Computer Methods in Geotechnical and Geoenvironmental Engineering, Moscow, Russia, February 1-4, 2000[C]. Rotterdam: A. A. Balkema, 2000.</a:t>
            </a:r>
            <a:endParaRPr lang="zh-CN" sz="1200" dirty="0"/>
          </a:p>
        </p:txBody>
      </p:sp>
      <p:sp>
        <p:nvSpPr>
          <p:cNvPr id="18" name="Text 14"/>
          <p:cNvSpPr/>
          <p:nvPr/>
        </p:nvSpPr>
        <p:spPr>
          <a:xfrm>
            <a:off x="441960" y="3721060"/>
            <a:ext cx="32004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[6]</a:t>
            </a:r>
            <a:endParaRPr lang="zh-CN" sz="1200" dirty="0"/>
          </a:p>
        </p:txBody>
      </p:sp>
      <p:sp>
        <p:nvSpPr>
          <p:cNvPr id="19" name="Text 15"/>
          <p:cNvSpPr/>
          <p:nvPr/>
        </p:nvSpPr>
        <p:spPr>
          <a:xfrm>
            <a:off x="807720" y="3721060"/>
            <a:ext cx="1094232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GB/T 7714-2025 信息与文献 参考文献著录规则[S].</a:t>
            </a:r>
            <a:endParaRPr lang="zh-CN" sz="1200" dirty="0"/>
          </a:p>
        </p:txBody>
      </p:sp>
      <p:sp>
        <p:nvSpPr>
          <p:cNvPr id="20" name="Text 16"/>
          <p:cNvSpPr/>
          <p:nvPr/>
        </p:nvSpPr>
        <p:spPr>
          <a:xfrm>
            <a:off x="441960" y="4025860"/>
            <a:ext cx="32004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[7]</a:t>
            </a:r>
            <a:endParaRPr lang="zh-CN" sz="1200" dirty="0"/>
          </a:p>
        </p:txBody>
      </p:sp>
      <p:sp>
        <p:nvSpPr>
          <p:cNvPr id="21" name="Text 17"/>
          <p:cNvSpPr/>
          <p:nvPr/>
        </p:nvSpPr>
        <p:spPr>
          <a:xfrm>
            <a:off x="807720" y="4025860"/>
            <a:ext cx="1094232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邓一刚. 全智能节电器: CN200610171314.3[P]. 2008-01-16: 8-9.</a:t>
            </a:r>
            <a:endParaRPr lang="zh-CN" sz="1200" dirty="0"/>
          </a:p>
        </p:txBody>
      </p:sp>
      <p:sp>
        <p:nvSpPr>
          <p:cNvPr id="22" name="Text 18"/>
          <p:cNvSpPr/>
          <p:nvPr/>
        </p:nvSpPr>
        <p:spPr>
          <a:xfrm>
            <a:off x="441960" y="4330660"/>
            <a:ext cx="32004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[8]</a:t>
            </a:r>
            <a:endParaRPr lang="zh-CN" sz="1200" dirty="0"/>
          </a:p>
        </p:txBody>
      </p:sp>
      <p:sp>
        <p:nvSpPr>
          <p:cNvPr id="23" name="Text 19"/>
          <p:cNvSpPr/>
          <p:nvPr/>
        </p:nvSpPr>
        <p:spPr>
          <a:xfrm>
            <a:off x="807720" y="4330660"/>
            <a:ext cx="1094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汤万金, 杨跃翔, 刘文, 等. 人体安全重要技术标准研制最终报告: 7178999X-2006BAK04A10/10.2013[R/OL]. 2013-09-30. http://www.nstrs.cn/xiangxiBG.aspx?id=41707.</a:t>
            </a:r>
            <a:endParaRPr lang="zh-CN" sz="1200" dirty="0"/>
          </a:p>
        </p:txBody>
      </p:sp>
      <p:sp>
        <p:nvSpPr>
          <p:cNvPr id="24" name="Text 20"/>
          <p:cNvSpPr/>
          <p:nvPr/>
        </p:nvSpPr>
        <p:spPr>
          <a:xfrm>
            <a:off x="441960" y="4841200"/>
            <a:ext cx="32004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[9]</a:t>
            </a:r>
            <a:endParaRPr lang="zh-CN" sz="1200" dirty="0"/>
          </a:p>
        </p:txBody>
      </p:sp>
      <p:sp>
        <p:nvSpPr>
          <p:cNvPr id="25" name="Text 21"/>
          <p:cNvSpPr/>
          <p:nvPr/>
        </p:nvSpPr>
        <p:spPr>
          <a:xfrm>
            <a:off x="807720" y="4841200"/>
            <a:ext cx="1094232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Library of Congress[EB/OL]. [2020-06-12]. https://www.loc.gov.</a:t>
            </a:r>
            <a:endParaRPr lang="zh-CN" sz="1200" dirty="0"/>
          </a:p>
        </p:txBody>
      </p:sp>
      <p:sp>
        <p:nvSpPr>
          <p:cNvPr id="26" name="Text 22"/>
          <p:cNvSpPr/>
          <p:nvPr/>
        </p:nvSpPr>
        <p:spPr>
          <a:xfrm>
            <a:off x="441960" y="5146000"/>
            <a:ext cx="32004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[10]</a:t>
            </a:r>
            <a:endParaRPr lang="zh-CN" sz="1200" dirty="0"/>
          </a:p>
        </p:txBody>
      </p:sp>
      <p:sp>
        <p:nvSpPr>
          <p:cNvPr id="27" name="Text 23"/>
          <p:cNvSpPr/>
          <p:nvPr/>
        </p:nvSpPr>
        <p:spPr>
          <a:xfrm>
            <a:off x="807720" y="5146000"/>
            <a:ext cx="1094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IHME. Global burden of disease study 2019 (GBD 2019) data resources[DS/OL]. Global Health Data Exchange(2021)[2025-07-15]. https://ghdx.healthdata.org/gbd-2019.</a:t>
            </a:r>
            <a:endParaRPr lang="zh-CN" sz="1200" dirty="0"/>
          </a:p>
        </p:txBody>
      </p:sp>
      <p:sp>
        <p:nvSpPr>
          <p:cNvPr id="28" name="Text 24"/>
          <p:cNvSpPr/>
          <p:nvPr/>
        </p:nvSpPr>
        <p:spPr>
          <a:xfrm>
            <a:off x="441960" y="5656540"/>
            <a:ext cx="32004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[11]</a:t>
            </a:r>
            <a:endParaRPr lang="zh-CN" sz="1200" dirty="0"/>
          </a:p>
        </p:txBody>
      </p:sp>
      <p:sp>
        <p:nvSpPr>
          <p:cNvPr id="29" name="Text 25"/>
          <p:cNvSpPr/>
          <p:nvPr/>
        </p:nvSpPr>
        <p:spPr>
          <a:xfrm>
            <a:off x="807720" y="5656540"/>
            <a:ext cx="1094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Jenkins S D, Ruostekoski J. Controlled manipulation of light by cooperative response of atoms in an optical lattice[PP/OL]. V2. (2012-03-18)[2020-06-24]. https://doi.org/10.48550/arXiv.1112.6136.</a:t>
            </a:r>
            <a:endParaRPr lang="zh-CN" sz="1200" dirty="0"/>
          </a:p>
        </p:txBody>
      </p:sp>
      <p:sp>
        <p:nvSpPr>
          <p:cNvPr id="30" name="Text 26"/>
          <p:cNvSpPr/>
          <p:nvPr/>
        </p:nvSpPr>
        <p:spPr>
          <a:xfrm>
            <a:off x="441960" y="6489144"/>
            <a:ext cx="2286000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丽水学院 · 科研汇报示例</a:t>
            </a:r>
            <a:endParaRPr lang="zh-CN" sz="1020" dirty="0"/>
          </a:p>
        </p:txBody>
      </p:sp>
      <p:sp>
        <p:nvSpPr>
          <p:cNvPr id="31" name="Text 27"/>
          <p:cNvSpPr/>
          <p:nvPr/>
        </p:nvSpPr>
        <p:spPr>
          <a:xfrm>
            <a:off x="11306175" y="6489144"/>
            <a:ext cx="443865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28</a:t>
            </a:r>
            <a:r>
              <a:rPr lang="zh-CN" alt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/ </a:t>
            </a:r>
            <a:r>
              <a:rPr lang="zh-CN" alt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</a:t>
            </a:r>
            <a:endParaRPr lang="zh-CN" sz="102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753600" cy="5334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53600" y="0"/>
            <a:ext cx="2438400" cy="5334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41960" y="259080"/>
            <a:ext cx="381000" cy="228600"/>
          </a:xfrm>
          <a:prstGeom prst="rect">
            <a:avLst/>
          </a:prstGeom>
          <a:solidFill>
            <a:srgbClr val="EDF6F5"/>
          </a:solidFill>
          <a:ln w="12700">
            <a:solidFill>
              <a:srgbClr val="EDF6F5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80060" y="259080"/>
            <a:ext cx="3048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buNone/>
            </a:pPr>
            <a:r>
              <a:rPr lang="zh-CN" altLang="en-US" sz="1200" b="1" dirty="0">
                <a:solidFill>
                  <a:srgbClr val="0F66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附录</a:t>
            </a:r>
            <a:endParaRPr lang="zh-CN" sz="1200" dirty="0"/>
          </a:p>
        </p:txBody>
      </p:sp>
      <p:sp>
        <p:nvSpPr>
          <p:cNvPr id="6" name="Text 4"/>
          <p:cNvSpPr/>
          <p:nvPr/>
        </p:nvSpPr>
        <p:spPr>
          <a:xfrm>
            <a:off x="929640" y="235625"/>
            <a:ext cx="9677400" cy="275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70"/>
              </a:lnSpc>
              <a:buNone/>
            </a:pPr>
            <a:r>
              <a:rPr lang="zh-CN" altLang="en-US" sz="14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参考与作者</a:t>
            </a:r>
            <a:endParaRPr lang="zh-CN" sz="1400" dirty="0"/>
          </a:p>
        </p:txBody>
      </p:sp>
      <p:sp>
        <p:nvSpPr>
          <p:cNvPr id="7" name="Text 5"/>
          <p:cNvSpPr/>
          <p:nvPr/>
        </p:nvSpPr>
        <p:spPr>
          <a:xfrm>
            <a:off x="441960" y="609600"/>
            <a:ext cx="10165080" cy="433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3416"/>
              </a:lnSpc>
              <a:buNone/>
            </a:pPr>
            <a:r>
              <a:rPr lang="zh-CN" altLang="en-US" sz="28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作者简介</a:t>
            </a:r>
            <a:endParaRPr lang="zh-CN" sz="28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01930"/>
            <a:ext cx="914400" cy="9144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41960" y="1264920"/>
            <a:ext cx="11308080" cy="1524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41960" y="1463040"/>
            <a:ext cx="2590800" cy="4770120"/>
          </a:xfrm>
          <a:prstGeom prst="rect">
            <a:avLst/>
          </a:prstGeom>
          <a:solidFill>
            <a:srgbClr val="F1F7FB"/>
          </a:solidFill>
          <a:ln w="7620">
            <a:solidFill>
              <a:srgbClr val="DFEBF3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1653540"/>
            <a:ext cx="1493520" cy="16764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01980" y="3421380"/>
            <a:ext cx="2270760" cy="330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600"/>
              </a:lnSpc>
              <a:buNone/>
            </a:pPr>
            <a:r>
              <a:rPr lang="zh-CN" altLang="en-US" sz="20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作者姓名</a:t>
            </a:r>
            <a:endParaRPr lang="zh-CN" sz="2000" dirty="0"/>
          </a:p>
        </p:txBody>
      </p:sp>
      <p:sp>
        <p:nvSpPr>
          <p:cNvPr id="13" name="Text 9"/>
          <p:cNvSpPr/>
          <p:nvPr/>
        </p:nvSpPr>
        <p:spPr>
          <a:xfrm>
            <a:off x="601980" y="3842861"/>
            <a:ext cx="2270760" cy="257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030"/>
              </a:lnSpc>
              <a:buNone/>
            </a:pPr>
            <a:r>
              <a:rPr lang="zh-CN" altLang="en-US" sz="14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职称／学位</a:t>
            </a:r>
            <a:endParaRPr lang="zh-CN" sz="1400" dirty="0"/>
          </a:p>
        </p:txBody>
      </p:sp>
      <p:sp>
        <p:nvSpPr>
          <p:cNvPr id="14" name="Text 10"/>
          <p:cNvSpPr/>
          <p:nvPr/>
        </p:nvSpPr>
        <p:spPr>
          <a:xfrm>
            <a:off x="601980" y="4191952"/>
            <a:ext cx="2270760" cy="515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030"/>
              </a:lnSpc>
              <a:buNone/>
            </a:pPr>
            <a:r>
              <a:rPr lang="zh-CN" altLang="en-US" sz="14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学院／研究机构</a:t>
            </a:r>
            <a:endParaRPr lang="zh-CN" sz="1400" dirty="0"/>
          </a:p>
          <a:p>
            <a:pPr algn="ctr" indent="0" marL="0" eaLnBrk="1" latinLnBrk="0" hangingPunct="1">
              <a:lnSpc>
                <a:spcPts val="2030"/>
              </a:lnSpc>
              <a:buNone/>
            </a:pPr>
            <a:r>
              <a:rPr lang="zh-CN" altLang="en-US" sz="14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团队／实验室</a:t>
            </a:r>
            <a:endParaRPr lang="zh-CN" sz="1400" dirty="0"/>
          </a:p>
        </p:txBody>
      </p:sp>
      <p:sp>
        <p:nvSpPr>
          <p:cNvPr id="15" name="Text 11"/>
          <p:cNvSpPr/>
          <p:nvPr/>
        </p:nvSpPr>
        <p:spPr>
          <a:xfrm>
            <a:off x="601980" y="4890135"/>
            <a:ext cx="22707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740"/>
              </a:lnSpc>
              <a:buNone/>
            </a:pPr>
            <a:r>
              <a:rPr lang="zh-CN" altLang="en-US" sz="12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邮箱：name@example.com</a:t>
            </a:r>
            <a:endParaRPr lang="zh-CN" sz="1200" dirty="0"/>
          </a:p>
        </p:txBody>
      </p:sp>
      <p:sp>
        <p:nvSpPr>
          <p:cNvPr id="16" name="Text 12"/>
          <p:cNvSpPr/>
          <p:nvPr/>
        </p:nvSpPr>
        <p:spPr>
          <a:xfrm>
            <a:off x="601980" y="5547360"/>
            <a:ext cx="107442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700"/>
              </a:lnSpc>
              <a:buNone/>
            </a:pPr>
            <a:r>
              <a:rPr lang="zh-CN" altLang="en-US" sz="20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XX</a:t>
            </a:r>
            <a:endParaRPr lang="zh-CN" sz="2000" dirty="0"/>
          </a:p>
        </p:txBody>
      </p:sp>
      <p:sp>
        <p:nvSpPr>
          <p:cNvPr id="17" name="Text 13"/>
          <p:cNvSpPr/>
          <p:nvPr/>
        </p:nvSpPr>
        <p:spPr>
          <a:xfrm>
            <a:off x="601980" y="5920740"/>
            <a:ext cx="1074420" cy="213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80"/>
              </a:lnSpc>
              <a:buNone/>
            </a:pPr>
            <a:r>
              <a:rPr lang="zh-CN" altLang="en-US" sz="1200" dirty="0">
                <a:solidFill>
                  <a:srgbClr val="526B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论文（篇）</a:t>
            </a:r>
            <a:endParaRPr lang="zh-CN" sz="1200" dirty="0"/>
          </a:p>
        </p:txBody>
      </p:sp>
      <p:sp>
        <p:nvSpPr>
          <p:cNvPr id="18" name="Text 14"/>
          <p:cNvSpPr/>
          <p:nvPr/>
        </p:nvSpPr>
        <p:spPr>
          <a:xfrm>
            <a:off x="1798320" y="5547360"/>
            <a:ext cx="107442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700"/>
              </a:lnSpc>
              <a:buNone/>
            </a:pPr>
            <a:r>
              <a:rPr lang="zh-CN" altLang="en-US" sz="20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XX</a:t>
            </a:r>
            <a:endParaRPr lang="zh-CN" sz="2000" dirty="0"/>
          </a:p>
        </p:txBody>
      </p:sp>
      <p:sp>
        <p:nvSpPr>
          <p:cNvPr id="19" name="Text 15"/>
          <p:cNvSpPr/>
          <p:nvPr/>
        </p:nvSpPr>
        <p:spPr>
          <a:xfrm>
            <a:off x="1798320" y="5920740"/>
            <a:ext cx="1074420" cy="213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80"/>
              </a:lnSpc>
              <a:buNone/>
            </a:pPr>
            <a:r>
              <a:rPr lang="zh-CN" altLang="en-US" sz="1200" dirty="0">
                <a:solidFill>
                  <a:srgbClr val="526B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项目（项）</a:t>
            </a:r>
            <a:endParaRPr lang="zh-CN" sz="1200" dirty="0"/>
          </a:p>
        </p:txBody>
      </p:sp>
      <p:sp>
        <p:nvSpPr>
          <p:cNvPr id="20" name="Shape 16"/>
          <p:cNvSpPr/>
          <p:nvPr/>
        </p:nvSpPr>
        <p:spPr>
          <a:xfrm>
            <a:off x="3276600" y="1463040"/>
            <a:ext cx="8473440" cy="1680686"/>
          </a:xfrm>
          <a:prstGeom prst="rect">
            <a:avLst/>
          </a:prstGeom>
          <a:solidFill>
            <a:srgbClr val="FFFFFF">
              <a:alpha val="0"/>
            </a:srgbClr>
          </a:solidFill>
          <a:ln w="7620">
            <a:solidFill>
              <a:srgbClr val="CFDDE6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3284220" y="1470660"/>
            <a:ext cx="8458200" cy="40005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3406140" y="1516380"/>
            <a:ext cx="8214360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430"/>
              </a:lnSpc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教育和工作经历</a:t>
            </a:r>
            <a:endParaRPr lang="zh-CN" sz="1800" dirty="0"/>
          </a:p>
        </p:txBody>
      </p:sp>
      <p:sp>
        <p:nvSpPr>
          <p:cNvPr id="23" name="Shape 19"/>
          <p:cNvSpPr/>
          <p:nvPr/>
        </p:nvSpPr>
        <p:spPr>
          <a:xfrm>
            <a:off x="3284220" y="1870710"/>
            <a:ext cx="2768560" cy="33266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3284220" y="2188131"/>
            <a:ext cx="2768560" cy="1524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3375660" y="1896070"/>
            <a:ext cx="258568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160"/>
              </a:lnSpc>
              <a:buNone/>
            </a:pPr>
            <a:r>
              <a:rPr lang="zh-CN" altLang="en-US" sz="16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起止时间</a:t>
            </a:r>
            <a:endParaRPr lang="zh-CN" sz="1600" dirty="0"/>
          </a:p>
        </p:txBody>
      </p:sp>
      <p:sp>
        <p:nvSpPr>
          <p:cNvPr id="26" name="Shape 22"/>
          <p:cNvSpPr/>
          <p:nvPr/>
        </p:nvSpPr>
        <p:spPr>
          <a:xfrm>
            <a:off x="6128980" y="1870710"/>
            <a:ext cx="2768560" cy="33266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6128980" y="2188131"/>
            <a:ext cx="2768560" cy="1524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6220420" y="1896070"/>
            <a:ext cx="258568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160"/>
              </a:lnSpc>
              <a:buNone/>
            </a:pPr>
            <a:r>
              <a:rPr lang="zh-CN" altLang="en-US" sz="16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学校／工作单位</a:t>
            </a:r>
            <a:endParaRPr lang="zh-CN" sz="1600" dirty="0"/>
          </a:p>
        </p:txBody>
      </p:sp>
      <p:sp>
        <p:nvSpPr>
          <p:cNvPr id="29" name="Shape 25"/>
          <p:cNvSpPr/>
          <p:nvPr/>
        </p:nvSpPr>
        <p:spPr>
          <a:xfrm>
            <a:off x="8973741" y="1870710"/>
            <a:ext cx="2768679" cy="33266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8973741" y="2188131"/>
            <a:ext cx="2768679" cy="1524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9065181" y="1896070"/>
            <a:ext cx="2585799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160"/>
              </a:lnSpc>
              <a:buNone/>
            </a:pPr>
            <a:r>
              <a:rPr lang="zh-CN" altLang="en-US" sz="16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学位／专业／职务</a:t>
            </a:r>
            <a:endParaRPr lang="zh-CN" sz="1600" dirty="0"/>
          </a:p>
        </p:txBody>
      </p:sp>
      <p:sp>
        <p:nvSpPr>
          <p:cNvPr id="32" name="Shape 28"/>
          <p:cNvSpPr/>
          <p:nvPr/>
        </p:nvSpPr>
        <p:spPr>
          <a:xfrm>
            <a:off x="3284220" y="2203371"/>
            <a:ext cx="2768560" cy="3159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3375660" y="2236351"/>
            <a:ext cx="2585680" cy="257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030"/>
              </a:lnSpc>
              <a:buNone/>
            </a:pPr>
            <a:r>
              <a:rPr lang="zh-CN" altLang="en-US" sz="14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20XX—20XX</a:t>
            </a:r>
            <a:endParaRPr lang="zh-CN" sz="1400" dirty="0"/>
          </a:p>
        </p:txBody>
      </p:sp>
      <p:sp>
        <p:nvSpPr>
          <p:cNvPr id="34" name="Shape 30"/>
          <p:cNvSpPr/>
          <p:nvPr/>
        </p:nvSpPr>
        <p:spPr>
          <a:xfrm>
            <a:off x="6128980" y="2203371"/>
            <a:ext cx="2768560" cy="3159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6220420" y="2236351"/>
            <a:ext cx="2585680" cy="257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030"/>
              </a:lnSpc>
              <a:buNone/>
            </a:pPr>
            <a:r>
              <a:rPr lang="zh-CN" altLang="en-US" sz="14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学校及院系</a:t>
            </a:r>
            <a:endParaRPr lang="zh-CN" sz="1400" dirty="0"/>
          </a:p>
        </p:txBody>
      </p:sp>
      <p:sp>
        <p:nvSpPr>
          <p:cNvPr id="36" name="Shape 32"/>
          <p:cNvSpPr/>
          <p:nvPr/>
        </p:nvSpPr>
        <p:spPr>
          <a:xfrm>
            <a:off x="8973741" y="2203371"/>
            <a:ext cx="2768679" cy="3159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9065181" y="2236351"/>
            <a:ext cx="2585799" cy="257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030"/>
              </a:lnSpc>
              <a:buNone/>
            </a:pPr>
            <a:r>
              <a:rPr lang="zh-CN" altLang="en-US" sz="14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学位与专业</a:t>
            </a:r>
            <a:endParaRPr lang="zh-CN" sz="1400" dirty="0"/>
          </a:p>
        </p:txBody>
      </p:sp>
      <p:sp>
        <p:nvSpPr>
          <p:cNvPr id="38" name="Shape 34"/>
          <p:cNvSpPr/>
          <p:nvPr/>
        </p:nvSpPr>
        <p:spPr>
          <a:xfrm>
            <a:off x="3284220" y="2519363"/>
            <a:ext cx="2768560" cy="3083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3375660" y="2544723"/>
            <a:ext cx="2585680" cy="257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030"/>
              </a:lnSpc>
              <a:buNone/>
            </a:pPr>
            <a:r>
              <a:rPr lang="zh-CN" altLang="en-US" sz="14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20XX—20XX</a:t>
            </a:r>
            <a:endParaRPr lang="zh-CN" sz="1400" dirty="0"/>
          </a:p>
        </p:txBody>
      </p:sp>
      <p:sp>
        <p:nvSpPr>
          <p:cNvPr id="40" name="Shape 36"/>
          <p:cNvSpPr/>
          <p:nvPr/>
        </p:nvSpPr>
        <p:spPr>
          <a:xfrm>
            <a:off x="6128980" y="2519363"/>
            <a:ext cx="2768560" cy="3083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6220420" y="2544723"/>
            <a:ext cx="2585680" cy="257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030"/>
              </a:lnSpc>
              <a:buNone/>
            </a:pPr>
            <a:r>
              <a:rPr lang="zh-CN" altLang="en-US" sz="14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研究机构／工作单位</a:t>
            </a:r>
            <a:endParaRPr lang="zh-CN" sz="1400" dirty="0"/>
          </a:p>
        </p:txBody>
      </p:sp>
      <p:sp>
        <p:nvSpPr>
          <p:cNvPr id="42" name="Shape 38"/>
          <p:cNvSpPr/>
          <p:nvPr/>
        </p:nvSpPr>
        <p:spPr>
          <a:xfrm>
            <a:off x="8973741" y="2519363"/>
            <a:ext cx="2768679" cy="3083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9065181" y="2544723"/>
            <a:ext cx="2585799" cy="257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030"/>
              </a:lnSpc>
              <a:buNone/>
            </a:pPr>
            <a:r>
              <a:rPr lang="zh-CN" altLang="en-US" sz="14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科研岗位</a:t>
            </a:r>
            <a:endParaRPr lang="zh-CN" sz="1400" dirty="0"/>
          </a:p>
        </p:txBody>
      </p:sp>
      <p:sp>
        <p:nvSpPr>
          <p:cNvPr id="44" name="Shape 40"/>
          <p:cNvSpPr/>
          <p:nvPr/>
        </p:nvSpPr>
        <p:spPr>
          <a:xfrm>
            <a:off x="3284220" y="2827734"/>
            <a:ext cx="2768560" cy="3083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3375660" y="2853095"/>
            <a:ext cx="2585680" cy="257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030"/>
              </a:lnSpc>
              <a:buNone/>
            </a:pPr>
            <a:r>
              <a:rPr lang="zh-CN" altLang="en-US" sz="14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20XX—至今</a:t>
            </a:r>
            <a:endParaRPr lang="zh-CN" sz="1400" dirty="0"/>
          </a:p>
        </p:txBody>
      </p:sp>
      <p:sp>
        <p:nvSpPr>
          <p:cNvPr id="46" name="Shape 42"/>
          <p:cNvSpPr/>
          <p:nvPr/>
        </p:nvSpPr>
        <p:spPr>
          <a:xfrm>
            <a:off x="6128980" y="2827734"/>
            <a:ext cx="2768560" cy="3083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6220420" y="2853095"/>
            <a:ext cx="2585680" cy="257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030"/>
              </a:lnSpc>
              <a:buNone/>
            </a:pPr>
            <a:r>
              <a:rPr lang="zh-CN" altLang="en-US" sz="14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现工作单位</a:t>
            </a:r>
            <a:endParaRPr lang="zh-CN" sz="1400" dirty="0"/>
          </a:p>
        </p:txBody>
      </p:sp>
      <p:sp>
        <p:nvSpPr>
          <p:cNvPr id="48" name="Shape 44"/>
          <p:cNvSpPr/>
          <p:nvPr/>
        </p:nvSpPr>
        <p:spPr>
          <a:xfrm>
            <a:off x="8973741" y="2827734"/>
            <a:ext cx="2768679" cy="3083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" name="Text 45"/>
          <p:cNvSpPr/>
          <p:nvPr/>
        </p:nvSpPr>
        <p:spPr>
          <a:xfrm>
            <a:off x="9065181" y="2853095"/>
            <a:ext cx="2585799" cy="257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030"/>
              </a:lnSpc>
              <a:buNone/>
            </a:pPr>
            <a:r>
              <a:rPr lang="zh-CN" altLang="en-US" sz="14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现任职务</a:t>
            </a:r>
            <a:endParaRPr lang="zh-CN" sz="1400" dirty="0"/>
          </a:p>
        </p:txBody>
      </p:sp>
      <p:sp>
        <p:nvSpPr>
          <p:cNvPr id="50" name="Shape 46"/>
          <p:cNvSpPr/>
          <p:nvPr/>
        </p:nvSpPr>
        <p:spPr>
          <a:xfrm>
            <a:off x="3276600" y="3276600"/>
            <a:ext cx="8473440" cy="1364933"/>
          </a:xfrm>
          <a:prstGeom prst="rect">
            <a:avLst/>
          </a:prstGeom>
          <a:solidFill>
            <a:srgbClr val="FFFFFF">
              <a:alpha val="0"/>
            </a:srgbClr>
          </a:solidFill>
          <a:ln w="7620">
            <a:solidFill>
              <a:srgbClr val="CFDDE6"/>
            </a:solidFill>
            <a:prstDash val="solid"/>
          </a:ln>
        </p:spPr>
      </p:sp>
      <p:sp>
        <p:nvSpPr>
          <p:cNvPr id="51" name="Shape 47"/>
          <p:cNvSpPr/>
          <p:nvPr/>
        </p:nvSpPr>
        <p:spPr>
          <a:xfrm>
            <a:off x="3284220" y="3284220"/>
            <a:ext cx="8458200" cy="40005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52" name="Text 48"/>
          <p:cNvSpPr/>
          <p:nvPr/>
        </p:nvSpPr>
        <p:spPr>
          <a:xfrm>
            <a:off x="3406140" y="3329940"/>
            <a:ext cx="8214360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430"/>
              </a:lnSpc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主要学术任职／代表性项目（奖项）</a:t>
            </a:r>
            <a:endParaRPr lang="zh-CN" sz="1800" dirty="0"/>
          </a:p>
        </p:txBody>
      </p:sp>
      <p:sp>
        <p:nvSpPr>
          <p:cNvPr id="53" name="Shape 49"/>
          <p:cNvSpPr/>
          <p:nvPr/>
        </p:nvSpPr>
        <p:spPr>
          <a:xfrm>
            <a:off x="3284220" y="3684270"/>
            <a:ext cx="4229100" cy="35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Text 50"/>
          <p:cNvSpPr/>
          <p:nvPr/>
        </p:nvSpPr>
        <p:spPr>
          <a:xfrm>
            <a:off x="3406140" y="3729990"/>
            <a:ext cx="398526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60"/>
              </a:lnSpc>
              <a:buNone/>
            </a:pPr>
            <a:r>
              <a:rPr lang="zh-CN" altLang="en-US" sz="16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学术任职</a:t>
            </a:r>
            <a:endParaRPr lang="zh-CN" sz="1600" dirty="0"/>
          </a:p>
        </p:txBody>
      </p:sp>
      <p:sp>
        <p:nvSpPr>
          <p:cNvPr id="55" name="Shape 51"/>
          <p:cNvSpPr/>
          <p:nvPr/>
        </p:nvSpPr>
        <p:spPr>
          <a:xfrm>
            <a:off x="7513320" y="3684270"/>
            <a:ext cx="4229100" cy="35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Text 52"/>
          <p:cNvSpPr/>
          <p:nvPr/>
        </p:nvSpPr>
        <p:spPr>
          <a:xfrm>
            <a:off x="7635240" y="3729990"/>
            <a:ext cx="398526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60"/>
              </a:lnSpc>
              <a:buNone/>
            </a:pPr>
            <a:r>
              <a:rPr lang="zh-CN" altLang="en-US" sz="16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代表性项目与奖项</a:t>
            </a:r>
            <a:endParaRPr lang="zh-CN" sz="1600" dirty="0"/>
          </a:p>
        </p:txBody>
      </p:sp>
      <p:sp>
        <p:nvSpPr>
          <p:cNvPr id="57" name="Shape 53"/>
          <p:cNvSpPr/>
          <p:nvPr/>
        </p:nvSpPr>
        <p:spPr>
          <a:xfrm>
            <a:off x="3284220" y="4034790"/>
            <a:ext cx="4229100" cy="29956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8" name="Text 54"/>
          <p:cNvSpPr/>
          <p:nvPr/>
        </p:nvSpPr>
        <p:spPr>
          <a:xfrm>
            <a:off x="3406140" y="4060150"/>
            <a:ext cx="398526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960"/>
              </a:lnSpc>
              <a:buNone/>
            </a:pPr>
            <a:r>
              <a:rPr lang="zh-CN" altLang="en-US" sz="14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学术组织／期刊：职务</a:t>
            </a:r>
            <a:endParaRPr lang="zh-CN" sz="1400" dirty="0"/>
          </a:p>
        </p:txBody>
      </p:sp>
      <p:sp>
        <p:nvSpPr>
          <p:cNvPr id="59" name="Shape 55"/>
          <p:cNvSpPr/>
          <p:nvPr/>
        </p:nvSpPr>
        <p:spPr>
          <a:xfrm>
            <a:off x="7513320" y="4034790"/>
            <a:ext cx="4229100" cy="29956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0" name="Text 56"/>
          <p:cNvSpPr/>
          <p:nvPr/>
        </p:nvSpPr>
        <p:spPr>
          <a:xfrm>
            <a:off x="7635240" y="4060150"/>
            <a:ext cx="398526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960"/>
              </a:lnSpc>
              <a:buNone/>
            </a:pPr>
            <a:r>
              <a:rPr lang="zh-CN" altLang="en-US" sz="14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项目：名称、本人角色</a:t>
            </a:r>
            <a:endParaRPr lang="zh-CN" sz="1400" dirty="0"/>
          </a:p>
        </p:txBody>
      </p:sp>
      <p:sp>
        <p:nvSpPr>
          <p:cNvPr id="61" name="Shape 57"/>
          <p:cNvSpPr/>
          <p:nvPr/>
        </p:nvSpPr>
        <p:spPr>
          <a:xfrm>
            <a:off x="3284220" y="4334351"/>
            <a:ext cx="4229100" cy="29956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2" name="Text 58"/>
          <p:cNvSpPr/>
          <p:nvPr/>
        </p:nvSpPr>
        <p:spPr>
          <a:xfrm>
            <a:off x="3406140" y="4359712"/>
            <a:ext cx="398526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960"/>
              </a:lnSpc>
              <a:buNone/>
            </a:pPr>
            <a:r>
              <a:rPr lang="zh-CN" altLang="en-US" sz="14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任期／服务事项：时间</a:t>
            </a:r>
            <a:endParaRPr lang="zh-CN" sz="1400" dirty="0"/>
          </a:p>
        </p:txBody>
      </p:sp>
      <p:sp>
        <p:nvSpPr>
          <p:cNvPr id="63" name="Shape 59"/>
          <p:cNvSpPr/>
          <p:nvPr/>
        </p:nvSpPr>
        <p:spPr>
          <a:xfrm>
            <a:off x="7513320" y="4334351"/>
            <a:ext cx="4229100" cy="29956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4" name="Text 60"/>
          <p:cNvSpPr/>
          <p:nvPr/>
        </p:nvSpPr>
        <p:spPr>
          <a:xfrm>
            <a:off x="7635240" y="4359712"/>
            <a:ext cx="398526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960"/>
              </a:lnSpc>
              <a:buNone/>
            </a:pPr>
            <a:r>
              <a:rPr lang="zh-CN" altLang="en-US" sz="14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奖项：名称、年份／排名</a:t>
            </a:r>
            <a:endParaRPr lang="zh-CN" sz="1400" dirty="0"/>
          </a:p>
        </p:txBody>
      </p:sp>
      <p:sp>
        <p:nvSpPr>
          <p:cNvPr id="65" name="Shape 61"/>
          <p:cNvSpPr/>
          <p:nvPr/>
        </p:nvSpPr>
        <p:spPr>
          <a:xfrm>
            <a:off x="3276600" y="4763453"/>
            <a:ext cx="8473440" cy="1469708"/>
          </a:xfrm>
          <a:prstGeom prst="rect">
            <a:avLst/>
          </a:prstGeom>
          <a:solidFill>
            <a:srgbClr val="FFFFFF">
              <a:alpha val="0"/>
            </a:srgbClr>
          </a:solidFill>
          <a:ln w="7620">
            <a:solidFill>
              <a:srgbClr val="CFDDE6"/>
            </a:solidFill>
            <a:prstDash val="solid"/>
          </a:ln>
        </p:spPr>
      </p:sp>
      <p:sp>
        <p:nvSpPr>
          <p:cNvPr id="66" name="Shape 62"/>
          <p:cNvSpPr/>
          <p:nvPr/>
        </p:nvSpPr>
        <p:spPr>
          <a:xfrm>
            <a:off x="3284220" y="4771073"/>
            <a:ext cx="8458200" cy="40005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67" name="Text 63"/>
          <p:cNvSpPr/>
          <p:nvPr/>
        </p:nvSpPr>
        <p:spPr>
          <a:xfrm>
            <a:off x="3406140" y="4816793"/>
            <a:ext cx="8214360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430"/>
              </a:lnSpc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主要研究方向</a:t>
            </a:r>
            <a:endParaRPr lang="zh-CN" sz="1800" dirty="0"/>
          </a:p>
        </p:txBody>
      </p:sp>
      <p:sp>
        <p:nvSpPr>
          <p:cNvPr id="68" name="Shape 64"/>
          <p:cNvSpPr/>
          <p:nvPr/>
        </p:nvSpPr>
        <p:spPr>
          <a:xfrm>
            <a:off x="3284220" y="5171123"/>
            <a:ext cx="2819400" cy="38290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9" name="Text 65"/>
          <p:cNvSpPr/>
          <p:nvPr/>
        </p:nvSpPr>
        <p:spPr>
          <a:xfrm>
            <a:off x="3406140" y="5216843"/>
            <a:ext cx="257556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60"/>
              </a:lnSpc>
              <a:buNone/>
            </a:pPr>
            <a:r>
              <a:rPr lang="zh-CN" altLang="en-US" sz="16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研究方向一</a:t>
            </a:r>
            <a:endParaRPr lang="zh-CN" sz="1600" dirty="0"/>
          </a:p>
        </p:txBody>
      </p:sp>
      <p:sp>
        <p:nvSpPr>
          <p:cNvPr id="70" name="Shape 66"/>
          <p:cNvSpPr/>
          <p:nvPr/>
        </p:nvSpPr>
        <p:spPr>
          <a:xfrm>
            <a:off x="6103620" y="5171123"/>
            <a:ext cx="2819400" cy="38290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1" name="Text 67"/>
          <p:cNvSpPr/>
          <p:nvPr/>
        </p:nvSpPr>
        <p:spPr>
          <a:xfrm>
            <a:off x="6225540" y="5216843"/>
            <a:ext cx="257556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60"/>
              </a:lnSpc>
              <a:buNone/>
            </a:pPr>
            <a:r>
              <a:rPr lang="zh-CN" altLang="en-US" sz="16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研究方向二</a:t>
            </a:r>
            <a:endParaRPr lang="zh-CN" sz="1600" dirty="0"/>
          </a:p>
        </p:txBody>
      </p:sp>
      <p:sp>
        <p:nvSpPr>
          <p:cNvPr id="72" name="Shape 68"/>
          <p:cNvSpPr/>
          <p:nvPr/>
        </p:nvSpPr>
        <p:spPr>
          <a:xfrm>
            <a:off x="8923020" y="5171123"/>
            <a:ext cx="2819400" cy="38290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3" name="Text 69"/>
          <p:cNvSpPr/>
          <p:nvPr/>
        </p:nvSpPr>
        <p:spPr>
          <a:xfrm>
            <a:off x="9044940" y="5216843"/>
            <a:ext cx="257556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60"/>
              </a:lnSpc>
              <a:buNone/>
            </a:pPr>
            <a:r>
              <a:rPr lang="zh-CN" altLang="en-US" sz="1600" b="1" dirty="0">
                <a:solidFill>
                  <a:srgbClr val="0F66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研究方向三</a:t>
            </a:r>
            <a:endParaRPr lang="zh-CN" sz="1600" dirty="0"/>
          </a:p>
        </p:txBody>
      </p:sp>
      <p:sp>
        <p:nvSpPr>
          <p:cNvPr id="74" name="Shape 70"/>
          <p:cNvSpPr/>
          <p:nvPr/>
        </p:nvSpPr>
        <p:spPr>
          <a:xfrm>
            <a:off x="3284220" y="5554028"/>
            <a:ext cx="2819400" cy="67151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5" name="Text 71"/>
          <p:cNvSpPr/>
          <p:nvPr/>
        </p:nvSpPr>
        <p:spPr>
          <a:xfrm>
            <a:off x="3406140" y="5636419"/>
            <a:ext cx="2620010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 eaLnBrk="1" latinLnBrk="0" hangingPunct="1">
              <a:lnSpc>
                <a:spcPts val="1960"/>
              </a:lnSpc>
              <a:buNone/>
            </a:pPr>
            <a:r>
              <a:rPr lang="zh-CN" altLang="en-US" sz="14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研究对象：</a:t>
            </a:r>
            <a:endParaRPr lang="zh-CN" sz="1400" dirty="0"/>
          </a:p>
          <a:p>
            <a:pPr algn="l" indent="0" marL="0" eaLnBrk="1" latinLnBrk="0" hangingPunct="1">
              <a:lnSpc>
                <a:spcPts val="1960"/>
              </a:lnSpc>
              <a:buNone/>
            </a:pPr>
            <a:r>
              <a:rPr lang="zh-CN" altLang="en-US" sz="14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核心问题：</a:t>
            </a:r>
            <a:endParaRPr lang="zh-CN" sz="1400" dirty="0"/>
          </a:p>
        </p:txBody>
      </p:sp>
      <p:sp>
        <p:nvSpPr>
          <p:cNvPr id="76" name="Shape 72"/>
          <p:cNvSpPr/>
          <p:nvPr/>
        </p:nvSpPr>
        <p:spPr>
          <a:xfrm>
            <a:off x="6103620" y="5554028"/>
            <a:ext cx="2819400" cy="67151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7" name="Text 73"/>
          <p:cNvSpPr/>
          <p:nvPr/>
        </p:nvSpPr>
        <p:spPr>
          <a:xfrm>
            <a:off x="6225540" y="5636419"/>
            <a:ext cx="2620010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 eaLnBrk="1" latinLnBrk="0" hangingPunct="1">
              <a:lnSpc>
                <a:spcPts val="1960"/>
              </a:lnSpc>
              <a:buNone/>
            </a:pPr>
            <a:r>
              <a:rPr lang="zh-CN" altLang="en-US" sz="14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主要方法：</a:t>
            </a:r>
            <a:endParaRPr lang="zh-CN" sz="1400" dirty="0"/>
          </a:p>
          <a:p>
            <a:pPr algn="l" indent="0" marL="0" eaLnBrk="1" latinLnBrk="0" hangingPunct="1">
              <a:lnSpc>
                <a:spcPts val="1960"/>
              </a:lnSpc>
              <a:buNone/>
            </a:pPr>
            <a:r>
              <a:rPr lang="zh-CN" altLang="en-US" sz="14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技术特点：</a:t>
            </a:r>
            <a:endParaRPr lang="zh-CN" sz="1400" dirty="0"/>
          </a:p>
        </p:txBody>
      </p:sp>
      <p:sp>
        <p:nvSpPr>
          <p:cNvPr id="78" name="Shape 74"/>
          <p:cNvSpPr/>
          <p:nvPr/>
        </p:nvSpPr>
        <p:spPr>
          <a:xfrm>
            <a:off x="8923020" y="5554028"/>
            <a:ext cx="2819400" cy="67151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9" name="Text 75"/>
          <p:cNvSpPr/>
          <p:nvPr/>
        </p:nvSpPr>
        <p:spPr>
          <a:xfrm>
            <a:off x="9044940" y="5636419"/>
            <a:ext cx="2620010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 eaLnBrk="1" latinLnBrk="0" hangingPunct="1">
              <a:lnSpc>
                <a:spcPts val="1960"/>
              </a:lnSpc>
              <a:buNone/>
            </a:pPr>
            <a:r>
              <a:rPr lang="zh-CN" altLang="en-US" sz="14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应用场景：</a:t>
            </a:r>
            <a:endParaRPr lang="zh-CN" sz="1400" dirty="0"/>
          </a:p>
          <a:p>
            <a:pPr algn="l" indent="0" marL="0" eaLnBrk="1" latinLnBrk="0" hangingPunct="1">
              <a:lnSpc>
                <a:spcPts val="1960"/>
              </a:lnSpc>
              <a:buNone/>
            </a:pPr>
            <a:r>
              <a:rPr lang="zh-CN" altLang="en-US" sz="1400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研究目标：</a:t>
            </a:r>
            <a:endParaRPr lang="zh-CN" sz="1400" dirty="0"/>
          </a:p>
        </p:txBody>
      </p:sp>
      <p:sp>
        <p:nvSpPr>
          <p:cNvPr id="80" name="Text 76"/>
          <p:cNvSpPr/>
          <p:nvPr/>
        </p:nvSpPr>
        <p:spPr>
          <a:xfrm>
            <a:off x="441960" y="6485334"/>
            <a:ext cx="2971800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丽水学院 · 科研汇报示例</a:t>
            </a:r>
            <a:endParaRPr lang="zh-CN" sz="1020" dirty="0"/>
          </a:p>
        </p:txBody>
      </p:sp>
      <p:sp>
        <p:nvSpPr>
          <p:cNvPr id="81" name="Text 77"/>
          <p:cNvSpPr/>
          <p:nvPr/>
        </p:nvSpPr>
        <p:spPr>
          <a:xfrm>
            <a:off x="3596640" y="6485334"/>
            <a:ext cx="7534632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作者信息占位示例；请以本人简历与可核实成果为准</a:t>
            </a:r>
            <a:endParaRPr lang="zh-CN" sz="1020" dirty="0"/>
          </a:p>
        </p:txBody>
      </p:sp>
      <p:sp>
        <p:nvSpPr>
          <p:cNvPr id="82" name="Text 78"/>
          <p:cNvSpPr/>
          <p:nvPr/>
        </p:nvSpPr>
        <p:spPr>
          <a:xfrm>
            <a:off x="11314152" y="6485334"/>
            <a:ext cx="435888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29 / 30</a:t>
            </a:r>
            <a:endParaRPr lang="zh-CN" sz="1020" dirty="0"/>
          </a:p>
        </p:txBody>
      </p:sp>
      <p:sp>
        <p:nvSpPr>
          <p:cNvPr id="83" name="Shape 79"/>
          <p:cNvSpPr/>
          <p:nvPr/>
        </p:nvSpPr>
        <p:spPr>
          <a:xfrm>
            <a:off x="441960" y="6355080"/>
            <a:ext cx="11308080" cy="7620"/>
          </a:xfrm>
          <a:prstGeom prst="rect">
            <a:avLst/>
          </a:prstGeom>
          <a:solidFill>
            <a:srgbClr val="D8E2E9"/>
          </a:solidFill>
          <a:ln w="12700">
            <a:solidFill>
              <a:srgbClr val="D8E2E9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59843" y="438150"/>
            <a:ext cx="3272314" cy="9144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1790700"/>
            <a:ext cx="12192000" cy="2514600"/>
          </a:xfrm>
          <a:prstGeom prst="rect">
            <a:avLst/>
          </a:prstGeom>
          <a:solidFill>
            <a:srgbClr val="0F6674"/>
          </a:solidFill>
          <a:ln w="12700">
            <a:solidFill>
              <a:srgbClr val="0F6674">
                <a:alpha val="0"/>
              </a:srgbClr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685800" y="2515910"/>
            <a:ext cx="10820400" cy="660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5200"/>
              </a:lnSpc>
              <a:buNone/>
            </a:pPr>
            <a:r>
              <a:rPr lang="zh-CN" alt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清楚表达，留出呼吸</a:t>
            </a:r>
            <a:endParaRPr lang="zh-CN" sz="4000" dirty="0"/>
          </a:p>
        </p:txBody>
      </p:sp>
      <p:sp>
        <p:nvSpPr>
          <p:cNvPr id="6" name="Text 2"/>
          <p:cNvSpPr/>
          <p:nvPr/>
        </p:nvSpPr>
        <p:spPr>
          <a:xfrm>
            <a:off x="685800" y="3313509"/>
            <a:ext cx="10820400" cy="266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100"/>
              </a:lnSpc>
              <a:buNone/>
            </a:pPr>
            <a:r>
              <a:rPr lang="zh-CN" alt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以内容为中心，用一致的规范完成每一次研究汇报。</a:t>
            </a:r>
            <a:endParaRPr lang="zh-CN" sz="1400" dirty="0"/>
          </a:p>
        </p:txBody>
      </p:sp>
      <p:sp>
        <p:nvSpPr>
          <p:cNvPr id="7" name="Text 3"/>
          <p:cNvSpPr/>
          <p:nvPr/>
        </p:nvSpPr>
        <p:spPr>
          <a:xfrm>
            <a:off x="4186952" y="4671060"/>
            <a:ext cx="83820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indent="0" marL="0" eaLnBrk="1" latinLnBrk="0" hangingPunct="1">
              <a:lnSpc>
                <a:spcPts val="2240"/>
              </a:lnSpc>
              <a:buNone/>
            </a:pPr>
            <a:r>
              <a:rPr lang="zh-CN" altLang="en-US" sz="1600" dirty="0">
                <a:solidFill>
                  <a:srgbClr val="6B85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汇报人</a:t>
            </a:r>
            <a:endParaRPr lang="zh-CN" sz="1600" dirty="0"/>
          </a:p>
        </p:txBody>
      </p:sp>
      <p:sp>
        <p:nvSpPr>
          <p:cNvPr id="8" name="Text 4"/>
          <p:cNvSpPr/>
          <p:nvPr/>
        </p:nvSpPr>
        <p:spPr>
          <a:xfrm>
            <a:off x="5253752" y="4671060"/>
            <a:ext cx="2751296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520"/>
              </a:lnSpc>
              <a:buNone/>
            </a:pPr>
            <a:r>
              <a:rPr lang="zh-CN" altLang="en-US" sz="1800" b="1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 Slide 示例团队</a:t>
            </a:r>
            <a:endParaRPr lang="zh-CN" sz="1800" dirty="0"/>
          </a:p>
        </p:txBody>
      </p:sp>
      <p:sp>
        <p:nvSpPr>
          <p:cNvPr id="9" name="Text 5"/>
          <p:cNvSpPr/>
          <p:nvPr/>
        </p:nvSpPr>
        <p:spPr>
          <a:xfrm>
            <a:off x="4186952" y="5097780"/>
            <a:ext cx="83820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indent="0" marL="0" eaLnBrk="1" latinLnBrk="0" hangingPunct="1">
              <a:lnSpc>
                <a:spcPts val="2240"/>
              </a:lnSpc>
              <a:buNone/>
            </a:pPr>
            <a:r>
              <a:rPr lang="zh-CN" altLang="en-US" sz="1600" dirty="0">
                <a:solidFill>
                  <a:srgbClr val="6B85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学院</a:t>
            </a:r>
            <a:endParaRPr lang="zh-CN" sz="1600" dirty="0"/>
          </a:p>
        </p:txBody>
      </p:sp>
      <p:sp>
        <p:nvSpPr>
          <p:cNvPr id="10" name="Text 6"/>
          <p:cNvSpPr/>
          <p:nvPr/>
        </p:nvSpPr>
        <p:spPr>
          <a:xfrm>
            <a:off x="5253752" y="5097780"/>
            <a:ext cx="2751296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520"/>
              </a:lnSpc>
              <a:buNone/>
            </a:pPr>
            <a:r>
              <a:rPr lang="zh-CN" altLang="en-US" sz="1800" b="1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丽水学院 · 教学与科研演示</a:t>
            </a:r>
            <a:endParaRPr lang="zh-CN" sz="1800" dirty="0"/>
          </a:p>
        </p:txBody>
      </p:sp>
      <p:sp>
        <p:nvSpPr>
          <p:cNvPr id="11" name="Text 7"/>
          <p:cNvSpPr/>
          <p:nvPr/>
        </p:nvSpPr>
        <p:spPr>
          <a:xfrm>
            <a:off x="4186952" y="5524500"/>
            <a:ext cx="83820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indent="0" marL="0" eaLnBrk="1" latinLnBrk="0" hangingPunct="1">
              <a:lnSpc>
                <a:spcPts val="2240"/>
              </a:lnSpc>
              <a:buNone/>
            </a:pPr>
            <a:r>
              <a:rPr lang="zh-CN" altLang="en-US" sz="1600" dirty="0">
                <a:solidFill>
                  <a:srgbClr val="6B85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日期</a:t>
            </a:r>
            <a:endParaRPr lang="zh-CN" sz="1600" dirty="0"/>
          </a:p>
        </p:txBody>
      </p:sp>
      <p:sp>
        <p:nvSpPr>
          <p:cNvPr id="12" name="Text 8"/>
          <p:cNvSpPr/>
          <p:nvPr/>
        </p:nvSpPr>
        <p:spPr>
          <a:xfrm>
            <a:off x="5253752" y="5524500"/>
            <a:ext cx="2751296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520"/>
              </a:lnSpc>
              <a:buNone/>
            </a:pPr>
            <a:r>
              <a:rPr lang="zh-CN" altLang="en-US" sz="1800" b="1" dirty="0">
                <a:solidFill>
                  <a:srgbClr val="183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制作与演示指南</a:t>
            </a:r>
            <a:endParaRPr lang="zh-CN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丽水学院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丽水学院_WebSlide制作与演示指南</dc:title>
  <dc:subject>本地模块化科研汇报</dc:subject>
  <dc:creator>Web Slide</dc:creator>
  <cp:lastModifiedBy>Web Slide</cp:lastModifiedBy>
  <cp:revision>1</cp:revision>
  <dcterms:created xsi:type="dcterms:W3CDTF">2026-10-25T15:42:17Z</dcterms:created>
  <dcterms:modified xsi:type="dcterms:W3CDTF">2026-10-25T15:42:17Z</dcterms:modified>
</cp:coreProperties>
</file>