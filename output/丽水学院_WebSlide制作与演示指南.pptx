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字依据丽水学院官网学校概况及历史沿革。首图官网标注为1906年的处州学堂，作为源流资料配图；第二图为1946年重建处州师范学校。后两图为现代校园及图书馆，不代表2004年或对应阶段的实景。全部照片来源见 assets/丽水学院/manifest.json。实际研究现状汇报请替换为领域文献、方法演进及研究差距。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这页实际使用丽水学院的两份资源，既展示标志也验证不同宽高比的等高布局。完整标识不能拉伸；左右画面等高，宽度不同是预期结果。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此页参考共同母版主图布局，右侧采用三个实质说明区，避免只放两个短段造成大块空白。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此页参考共同母版的总结／计划排布。表格与下方文字块不能覆盖，左右整体下沿对齐；条目保持通常不超过四点。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5" Type="http://schemas.openxmlformats.org/officeDocument/2006/relationships/hyperlink" Target="https://www.lsu.edu.cn/47/list.htm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su.edu.cn/2017/0406/c51a216866/page.htm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lsu.edu.cn/51/list.htm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5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9843" y="438150"/>
            <a:ext cx="3272314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85800" y="2185630"/>
            <a:ext cx="10820400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zh-CN" sz="4000" dirty="0"/>
          </a:p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zh-CN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643670"/>
            <a:ext cx="1082040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zh-CN" sz="1400" dirty="0"/>
          </a:p>
        </p:txBody>
      </p:sp>
      <p:sp>
        <p:nvSpPr>
          <p:cNvPr id="7" name="Text 3"/>
          <p:cNvSpPr/>
          <p:nvPr/>
        </p:nvSpPr>
        <p:spPr>
          <a:xfrm>
            <a:off x="4186952" y="467106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5253752" y="4671060"/>
            <a:ext cx="27512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zh-CN" sz="1800" dirty="0"/>
          </a:p>
        </p:txBody>
      </p:sp>
      <p:sp>
        <p:nvSpPr>
          <p:cNvPr id="9" name="Text 5"/>
          <p:cNvSpPr/>
          <p:nvPr/>
        </p:nvSpPr>
        <p:spPr>
          <a:xfrm>
            <a:off x="4186952" y="509778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600" dirty="0"/>
          </a:p>
        </p:txBody>
      </p:sp>
      <p:sp>
        <p:nvSpPr>
          <p:cNvPr id="10" name="Text 6"/>
          <p:cNvSpPr/>
          <p:nvPr/>
        </p:nvSpPr>
        <p:spPr>
          <a:xfrm>
            <a:off x="5253752" y="5097780"/>
            <a:ext cx="27512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教学与科研演示</a:t>
            </a:r>
            <a:endParaRPr lang="zh-CN" sz="1800" dirty="0"/>
          </a:p>
        </p:txBody>
      </p:sp>
      <p:sp>
        <p:nvSpPr>
          <p:cNvPr id="11" name="Text 7"/>
          <p:cNvSpPr/>
          <p:nvPr/>
        </p:nvSpPr>
        <p:spPr>
          <a:xfrm>
            <a:off x="4186952" y="552450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5253752" y="5524500"/>
            <a:ext cx="27512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zh-CN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579120" y="207264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zh-CN" sz="2000" dirty="0"/>
          </a:p>
        </p:txBody>
      </p:sp>
      <p:sp>
        <p:nvSpPr>
          <p:cNvPr id="14" name="Text 10"/>
          <p:cNvSpPr/>
          <p:nvPr/>
        </p:nvSpPr>
        <p:spPr>
          <a:xfrm>
            <a:off x="579120" y="250936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9004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9160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zh-CN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24600" y="207264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zh-CN" sz="2000" dirty="0"/>
          </a:p>
        </p:txBody>
      </p:sp>
      <p:sp>
        <p:nvSpPr>
          <p:cNvPr id="20" name="Text 16"/>
          <p:cNvSpPr/>
          <p:nvPr/>
        </p:nvSpPr>
        <p:spPr>
          <a:xfrm>
            <a:off x="6324600" y="250936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29004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6324600" y="329160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zh-CN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579120" y="427482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zh-CN" sz="2000" dirty="0"/>
          </a:p>
        </p:txBody>
      </p:sp>
      <p:sp>
        <p:nvSpPr>
          <p:cNvPr id="26" name="Text 22"/>
          <p:cNvSpPr/>
          <p:nvPr/>
        </p:nvSpPr>
        <p:spPr>
          <a:xfrm>
            <a:off x="579120" y="471154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579120" y="510266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zh-CN" sz="1600" dirty="0"/>
          </a:p>
        </p:txBody>
      </p:sp>
      <p:sp>
        <p:nvSpPr>
          <p:cNvPr id="28" name="Text 24"/>
          <p:cNvSpPr/>
          <p:nvPr/>
        </p:nvSpPr>
        <p:spPr>
          <a:xfrm>
            <a:off x="579120" y="54937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zh-CN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zh-CN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24600" y="427482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zh-CN" sz="2000" dirty="0"/>
          </a:p>
        </p:txBody>
      </p:sp>
      <p:sp>
        <p:nvSpPr>
          <p:cNvPr id="32" name="Text 28"/>
          <p:cNvSpPr/>
          <p:nvPr/>
        </p:nvSpPr>
        <p:spPr>
          <a:xfrm>
            <a:off x="6324600" y="471154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6324600" y="510266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zh-CN" sz="1600" dirty="0"/>
          </a:p>
        </p:txBody>
      </p:sp>
      <p:sp>
        <p:nvSpPr>
          <p:cNvPr id="34" name="Text 30"/>
          <p:cNvSpPr/>
          <p:nvPr/>
        </p:nvSpPr>
        <p:spPr>
          <a:xfrm>
            <a:off x="6324600" y="54937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zh-CN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zh-CN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</a:t>
            </a:r>
            <a:endParaRPr lang="zh-CN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zh-CN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zh-CN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zh-CN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zh-CN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zh-CN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zh-CN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zh-CN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zh-CN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zh-CN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zh-CN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zh-CN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zh-CN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zh-CN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zh-CN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zh-CN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zh-CN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zh-CN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zh-CN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zh-CN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zh-CN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zh-CN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以校徽中的青色作为唯一主题色，配合深色文字与同色浅底，统一标题、表头和强调区域。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zh-CN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zh-CN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zh-CN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zh-CN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zh-CN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zh-CN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zh-CN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zh-CN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zh-CN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zh-CN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zh-CN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zh-CN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zh-CN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zh-CN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zh-CN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zh-CN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zh-CN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zh-CN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zh-CN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zh-CN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zh-CN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zh-CN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zh-CN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zh-CN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zh-CN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zh-CN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zh-CN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zh-CN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zh-CN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zh-CN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15200" y="2072640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zh-CN" sz="1800" dirty="0"/>
          </a:p>
        </p:txBody>
      </p:sp>
      <p:sp>
        <p:nvSpPr>
          <p:cNvPr id="135" name="Text 131"/>
          <p:cNvSpPr/>
          <p:nvPr/>
        </p:nvSpPr>
        <p:spPr>
          <a:xfrm>
            <a:off x="7315200" y="2476500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标题、表头与重点线条统一使用主题青色，浅青底用于分组；不另设第二种强调色。</a:t>
            </a:r>
            <a:endParaRPr lang="zh-CN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15200" y="3479721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zh-CN" sz="1800" dirty="0"/>
          </a:p>
        </p:txBody>
      </p:sp>
      <p:sp>
        <p:nvSpPr>
          <p:cNvPr id="138" name="Text 134"/>
          <p:cNvSpPr/>
          <p:nvPr/>
        </p:nvSpPr>
        <p:spPr>
          <a:xfrm>
            <a:off x="7315200" y="3883581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zh-CN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15200" y="4886920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zh-CN" sz="1800" dirty="0"/>
          </a:p>
        </p:txBody>
      </p:sp>
      <p:sp>
        <p:nvSpPr>
          <p:cNvPr id="141" name="Text 137"/>
          <p:cNvSpPr/>
          <p:nvPr/>
        </p:nvSpPr>
        <p:spPr>
          <a:xfrm>
            <a:off x="7315200" y="5290780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zh-CN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zh-CN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zh-CN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zh-CN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zh-CN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zh-CN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zh-CN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zh-CN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zh-CN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563880" y="502408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294120" y="502408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zh-CN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zh-CN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zh-CN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zh-CN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zh-CN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8701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zh-CN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zh-CN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zh-CN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zh-CN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zh-CN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zh-CN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8713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zh-CN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zh-CN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zh-CN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zh-CN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zh-CN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zh-CN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zh-CN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8701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zh-CN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zh-CN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zh-CN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zh-CN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学校概况与办学沿革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从处州师范学堂到丽水学院，学校坚持“明德笃行”，在师范教育基础上拓展多学科办学，面向地方需求推进应用型人才培养与科研服务。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5730240"/>
            <a:ext cx="11308080" cy="472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772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1907年</a:t>
            </a:r>
            <a:endParaRPr lang="zh-CN" sz="2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95600"/>
            <a:ext cx="2369820" cy="11559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772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办学源流可追溯至1907年创办的处州师范学堂。以师范教育为起点，逐步形成服务地方教育发展的办学传统。</a:t>
            </a:r>
            <a:endParaRPr lang="zh-CN" sz="1400" dirty="0"/>
          </a:p>
        </p:txBody>
      </p:sp>
      <p:sp>
        <p:nvSpPr>
          <p:cNvPr id="18" name="Text 12"/>
          <p:cNvSpPr/>
          <p:nvPr/>
        </p:nvSpPr>
        <p:spPr>
          <a:xfrm>
            <a:off x="83820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师范薪火初传</a:t>
            </a:r>
            <a:endParaRPr lang="zh-CN" sz="18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2331720"/>
            <a:ext cx="30480" cy="363474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875020"/>
            <a:ext cx="182880" cy="1828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342138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42138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354330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1946年</a:t>
            </a:r>
            <a:endParaRPr lang="zh-CN" sz="2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2895600"/>
            <a:ext cx="2369820" cy="115597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54330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抗战胜利后，在云和重建浙江省处州师范学校。此后迁回丽水，在办学条件恢复中延续师范教育传统与人才培养。</a:t>
            </a:r>
            <a:endParaRPr lang="zh-CN" sz="1400" dirty="0"/>
          </a:p>
        </p:txBody>
      </p:sp>
      <p:sp>
        <p:nvSpPr>
          <p:cNvPr id="26" name="Text 17"/>
          <p:cNvSpPr/>
          <p:nvPr/>
        </p:nvSpPr>
        <p:spPr>
          <a:xfrm>
            <a:off x="357378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重建延续文脉</a:t>
            </a:r>
            <a:endParaRPr lang="zh-CN" sz="18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140" y="2331720"/>
            <a:ext cx="30480" cy="3634740"/>
          </a:xfrm>
          <a:prstGeom prst="rect">
            <a:avLst/>
          </a:prstGeom>
        </p:spPr>
      </p:pic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9940" y="5875020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15696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15696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627888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2004年</a:t>
            </a:r>
            <a:endParaRPr lang="zh-CN" sz="24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8880" y="2895600"/>
            <a:ext cx="2369820" cy="115597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27888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经教育部批准，学校升格更名为丽水学院。在原有办学基础上拓展本科教育，逐步形成多学科协调发展的格局。</a:t>
            </a:r>
            <a:endParaRPr lang="zh-CN" sz="1400" dirty="0"/>
          </a:p>
        </p:txBody>
      </p:sp>
      <p:sp>
        <p:nvSpPr>
          <p:cNvPr id="34" name="Text 22"/>
          <p:cNvSpPr/>
          <p:nvPr/>
        </p:nvSpPr>
        <p:spPr>
          <a:xfrm>
            <a:off x="630936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升本拓展格局</a:t>
            </a:r>
            <a:endParaRPr lang="zh-CN" sz="1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720" y="2331720"/>
            <a:ext cx="30480" cy="3634740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65520" y="5875020"/>
            <a:ext cx="182880" cy="182880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889254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889254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9" name="Text 25"/>
          <p:cNvSpPr/>
          <p:nvPr/>
        </p:nvSpPr>
        <p:spPr>
          <a:xfrm>
            <a:off x="901446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新时代</a:t>
            </a:r>
            <a:endParaRPr lang="zh-CN" sz="24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4460" y="2895600"/>
            <a:ext cx="2369820" cy="115597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01446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坚持应用型办学方向，立足丽水、面向区域发展需要。围绕人才培养与科研服务，推进学科建设与产教协同发展。</a:t>
            </a:r>
            <a:endParaRPr lang="zh-CN" sz="1400" dirty="0"/>
          </a:p>
        </p:txBody>
      </p:sp>
      <p:sp>
        <p:nvSpPr>
          <p:cNvPr id="42" name="Text 27"/>
          <p:cNvSpPr/>
          <p:nvPr/>
        </p:nvSpPr>
        <p:spPr>
          <a:xfrm>
            <a:off x="904494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服务地方发展</a:t>
            </a:r>
            <a:endParaRPr lang="zh-CN" sz="1800" dirty="0"/>
          </a:p>
        </p:txBody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7300" y="2331720"/>
            <a:ext cx="30480" cy="3634740"/>
          </a:xfrm>
          <a:prstGeom prst="rect">
            <a:avLst/>
          </a:prstGeom>
        </p:spPr>
      </p:pic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1100" y="5875020"/>
            <a:ext cx="182880" cy="182880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科研汇报模板</a:t>
            </a:r>
            <a:endParaRPr lang="zh-CN" sz="1020" dirty="0"/>
          </a:p>
        </p:txBody>
      </p:sp>
      <p:sp>
        <p:nvSpPr>
          <p:cNvPr id="46" name="Text 29">
            <a:hlinkClick r:id="rId15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来源：丽水学院官网·学校概况与历史沿革；配图为校史／校园资料，非逐年实景</a:t>
            </a:r>
            <a:endParaRPr lang="zh-CN" sz="1020" dirty="0"/>
          </a:p>
        </p:txBody>
      </p:sp>
      <p:sp>
        <p:nvSpPr>
          <p:cNvPr id="47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zh-CN" sz="1020" dirty="0"/>
          </a:p>
        </p:txBody>
      </p:sp>
      <p:sp>
        <p:nvSpPr>
          <p:cNvPr id="48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zh-CN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52425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78880" y="2072640"/>
            <a:ext cx="5334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zh-CN" sz="1800" dirty="0"/>
          </a:p>
        </p:txBody>
      </p:sp>
      <p:sp>
        <p:nvSpPr>
          <p:cNvPr id="19" name="Text 15"/>
          <p:cNvSpPr/>
          <p:nvPr/>
        </p:nvSpPr>
        <p:spPr>
          <a:xfrm>
            <a:off x="6278880" y="2476500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zh-CN" sz="1600" dirty="0"/>
          </a:p>
        </p:txBody>
      </p:sp>
      <p:sp>
        <p:nvSpPr>
          <p:cNvPr id="20" name="Text 16"/>
          <p:cNvSpPr/>
          <p:nvPr/>
        </p:nvSpPr>
        <p:spPr>
          <a:xfrm>
            <a:off x="6278880" y="2867620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6278880" y="3258741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zh-CN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1960" y="4152900"/>
            <a:ext cx="5516880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zh-CN" sz="1800" dirty="0"/>
          </a:p>
        </p:txBody>
      </p:sp>
      <p:sp>
        <p:nvSpPr>
          <p:cNvPr id="25" name="Text 21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zh-CN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zh-CN" sz="1600" dirty="0"/>
          </a:p>
        </p:txBody>
      </p:sp>
      <p:sp>
        <p:nvSpPr>
          <p:cNvPr id="28" name="Shape 24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zh-CN" sz="1800" dirty="0"/>
          </a:p>
        </p:txBody>
      </p:sp>
      <p:sp>
        <p:nvSpPr>
          <p:cNvPr id="30" name="Text 26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zh-CN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zh-CN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zh-CN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zh-CN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zh-CN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zh-CN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zh-CN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zh-CN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zh-CN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zh-CN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zh-CN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zh-CN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zh-CN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zh-CN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zh-CN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3880" y="4418409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zh-CN" sz="1600" dirty="0"/>
          </a:p>
        </p:txBody>
      </p:sp>
      <p:sp>
        <p:nvSpPr>
          <p:cNvPr id="20" name="Text 16"/>
          <p:cNvSpPr/>
          <p:nvPr/>
        </p:nvSpPr>
        <p:spPr>
          <a:xfrm>
            <a:off x="563880" y="480953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563880" y="520065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563880" y="559177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zh-CN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zh-CN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zh-CN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zh-CN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zh-CN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zh-CN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zh-CN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zh-CN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zh-CN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zh-CN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zh-CN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DF6F5"/>
          </a:solidFill>
          <a:ln w="15240">
            <a:solidFill>
              <a:srgbClr val="A4BDC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240"/>
              </a:lnSpc>
              <a:buNone/>
            </a:pPr>
            <a:r>
              <a:rPr lang="zh-CN" altLang="en-US" sz="324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zh-CN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zh-CN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40"/>
              </a:lnSpc>
              <a:buNone/>
            </a:pPr>
            <a:r>
              <a:rPr lang="zh-CN" altLang="en-US" sz="12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zh-CN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zh-CN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141720" y="1950720"/>
            <a:ext cx="5608320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94120" y="2026920"/>
            <a:ext cx="5303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zh-CN" sz="1800" dirty="0"/>
          </a:p>
        </p:txBody>
      </p:sp>
      <p:sp>
        <p:nvSpPr>
          <p:cNvPr id="22" name="Text 18"/>
          <p:cNvSpPr/>
          <p:nvPr/>
        </p:nvSpPr>
        <p:spPr>
          <a:xfrm>
            <a:off x="6294120" y="252222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6294120" y="2913340"/>
            <a:ext cx="53543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zh-CN" sz="1600" dirty="0"/>
          </a:p>
        </p:txBody>
      </p:sp>
      <p:sp>
        <p:nvSpPr>
          <p:cNvPr id="24" name="Text 20"/>
          <p:cNvSpPr/>
          <p:nvPr/>
        </p:nvSpPr>
        <p:spPr>
          <a:xfrm>
            <a:off x="6294120" y="361938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zh-CN" sz="1600" dirty="0"/>
          </a:p>
        </p:txBody>
      </p:sp>
      <p:sp>
        <p:nvSpPr>
          <p:cNvPr id="25" name="Text 21"/>
          <p:cNvSpPr/>
          <p:nvPr/>
        </p:nvSpPr>
        <p:spPr>
          <a:xfrm>
            <a:off x="6294120" y="401050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zh-CN" sz="1600" dirty="0"/>
          </a:p>
        </p:txBody>
      </p:sp>
      <p:sp>
        <p:nvSpPr>
          <p:cNvPr id="26" name="Text 22"/>
          <p:cNvSpPr/>
          <p:nvPr/>
        </p:nvSpPr>
        <p:spPr>
          <a:xfrm>
            <a:off x="6294120" y="4447342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6294120" y="4884182"/>
            <a:ext cx="530352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zh-CN" sz="1400" dirty="0"/>
          </a:p>
        </p:txBody>
      </p:sp>
      <p:sp>
        <p:nvSpPr>
          <p:cNvPr id="28" name="Text 24"/>
          <p:cNvSpPr/>
          <p:nvPr/>
        </p:nvSpPr>
        <p:spPr>
          <a:xfrm>
            <a:off x="6278880" y="5376863"/>
            <a:ext cx="537845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zh-CN" sz="1400" dirty="0"/>
          </a:p>
        </p:txBody>
      </p:sp>
      <p:sp>
        <p:nvSpPr>
          <p:cNvPr id="29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30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1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zh-CN" sz="1020" dirty="0"/>
          </a:p>
        </p:txBody>
      </p:sp>
      <p:sp>
        <p:nvSpPr>
          <p:cNvPr id="32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zh-CN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zh-CN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2440" y="3870960"/>
            <a:ext cx="54559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zh-CN" sz="1800" dirty="0"/>
          </a:p>
        </p:txBody>
      </p:sp>
      <p:sp>
        <p:nvSpPr>
          <p:cNvPr id="20" name="Text 14"/>
          <p:cNvSpPr/>
          <p:nvPr/>
        </p:nvSpPr>
        <p:spPr>
          <a:xfrm>
            <a:off x="472440" y="4274820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472440" y="4665940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472440" y="5057061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zh-CN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172200" y="3870960"/>
            <a:ext cx="55473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zh-CN" sz="1800" dirty="0"/>
          </a:p>
        </p:txBody>
      </p:sp>
      <p:sp>
        <p:nvSpPr>
          <p:cNvPr id="25" name="Text 19"/>
          <p:cNvSpPr/>
          <p:nvPr/>
        </p:nvSpPr>
        <p:spPr>
          <a:xfrm>
            <a:off x="6172200" y="4274820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zh-CN" sz="1600" dirty="0"/>
          </a:p>
        </p:txBody>
      </p:sp>
      <p:sp>
        <p:nvSpPr>
          <p:cNvPr id="26" name="Text 20"/>
          <p:cNvSpPr/>
          <p:nvPr/>
        </p:nvSpPr>
        <p:spPr>
          <a:xfrm>
            <a:off x="6172200" y="4665940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zh-CN" sz="1600" dirty="0"/>
          </a:p>
        </p:txBody>
      </p:sp>
      <p:sp>
        <p:nvSpPr>
          <p:cNvPr id="27" name="Text 21"/>
          <p:cNvSpPr/>
          <p:nvPr/>
        </p:nvSpPr>
        <p:spPr>
          <a:xfrm>
            <a:off x="6172200" y="5057061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zh-CN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zh-CN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zh-CN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丽水学院校园风光</a:t>
            </a:r>
            <a:endParaRPr lang="zh-CN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学校官网校园风光资料；图片独立排布，说明不覆盖画面。</a:t>
            </a:r>
            <a:endParaRPr lang="zh-CN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zh-CN" sz="1800" dirty="0"/>
          </a:p>
        </p:txBody>
      </p:sp>
      <p:sp>
        <p:nvSpPr>
          <p:cNvPr id="18" name="Text 13"/>
          <p:cNvSpPr/>
          <p:nvPr/>
        </p:nvSpPr>
        <p:spPr>
          <a:xfrm>
            <a:off x="8046720" y="247650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zh-CN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zh-CN" sz="1800" dirty="0"/>
          </a:p>
        </p:txBody>
      </p:sp>
      <p:sp>
        <p:nvSpPr>
          <p:cNvPr id="21" name="Text 16"/>
          <p:cNvSpPr/>
          <p:nvPr/>
        </p:nvSpPr>
        <p:spPr>
          <a:xfrm>
            <a:off x="8046720" y="3883581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zh-CN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zh-CN" sz="1800" dirty="0"/>
          </a:p>
        </p:txBody>
      </p:sp>
      <p:sp>
        <p:nvSpPr>
          <p:cNvPr id="24" name="Text 19"/>
          <p:cNvSpPr/>
          <p:nvPr/>
        </p:nvSpPr>
        <p:spPr>
          <a:xfrm>
            <a:off x="8046720" y="529078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zh-CN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zh-CN" sz="1020" dirty="0"/>
          </a:p>
        </p:txBody>
      </p:sp>
      <p:sp>
        <p:nvSpPr>
          <p:cNvPr id="26" name="Text 21">
            <a:hlinkClick r:id="rId3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校园图像：丽水学院官网·校园风光</a:t>
            </a:r>
            <a:endParaRPr lang="zh-CN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zh-CN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校园景观</a:t>
            </a:r>
            <a:endParaRPr lang="zh-CN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zh-CN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图书馆</a:t>
            </a:r>
            <a:endParaRPr lang="zh-CN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zh-CN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zh-CN" sz="1020" dirty="0"/>
          </a:p>
        </p:txBody>
      </p:sp>
      <p:sp>
        <p:nvSpPr>
          <p:cNvPr id="23" name="Text 17">
            <a:hlinkClick r:id="rId4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校园景观与图书馆：丽水学院官网；图像用于等高排版示范</a:t>
            </a:r>
            <a:endParaRPr lang="zh-CN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zh-CN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zh-CN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zh-CN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zh-CN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zh-CN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zh-CN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zh-CN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zh-CN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zh-CN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zh-CN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zh-CN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zh-CN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zh-CN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zh-CN" sz="1020" dirty="0"/>
          </a:p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zh-CN" sz="1020" dirty="0"/>
          </a:p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zh-CN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zh-CN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zh-CN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4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zh-CN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021800"/>
            <a:ext cx="653474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zh-CN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20" y="2562820"/>
            <a:ext cx="3141107" cy="6292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220" y="3344466"/>
            <a:ext cx="65703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zh-CN" sz="1600" dirty="0"/>
          </a:p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zh-CN" sz="1600" dirty="0"/>
          </a:p>
        </p:txBody>
      </p:sp>
      <p:sp>
        <p:nvSpPr>
          <p:cNvPr id="11" name="Text 6"/>
          <p:cNvSpPr/>
          <p:nvPr/>
        </p:nvSpPr>
        <p:spPr>
          <a:xfrm>
            <a:off x="609600" y="4308277"/>
            <a:ext cx="653474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zh-CN" sz="18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848" y="5022890"/>
            <a:ext cx="1690449" cy="18811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7220" y="5489377"/>
            <a:ext cx="6570305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</a:t>
            </a:r>
            <a:r>
              <a:rPr lang="zh-CN" altLang="en-US" sz="1600" i="1" dirty="0">
                <a:solidFill>
                  <a:srgbClr val="18383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</a:t>
            </a: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控制步长，停止条件由实验设定。</a:t>
            </a:r>
            <a:endParaRPr lang="zh-CN" sz="1600" dirty="0"/>
          </a:p>
        </p:txBody>
      </p:sp>
      <p:sp>
        <p:nvSpPr>
          <p:cNvPr id="14" name="Text 8"/>
          <p:cNvSpPr/>
          <p:nvPr/>
        </p:nvSpPr>
        <p:spPr>
          <a:xfrm>
            <a:off x="7853005" y="1945600"/>
            <a:ext cx="3897035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zh-CN" sz="2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005" y="2438281"/>
            <a:ext cx="165497" cy="981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60725" y="236708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zh-CN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005" y="2701885"/>
            <a:ext cx="424339" cy="139779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60725" y="265152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个输入样本与对应的目标值</a:t>
            </a:r>
            <a:endParaRPr lang="zh-CN" sz="12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005" y="2990969"/>
            <a:ext cx="91440" cy="1406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60725" y="294108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zh-CN" sz="12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3005" y="3273981"/>
            <a:ext cx="102156" cy="14347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60725" y="322552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λ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0；控制参数约束</a:t>
            </a:r>
            <a:endParaRPr lang="zh-CN" sz="12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3005" y="3586282"/>
            <a:ext cx="107871" cy="9798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60725" y="351508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0；结合损失变化选择</a:t>
            </a:r>
            <a:endParaRPr lang="zh-CN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005" y="3864412"/>
            <a:ext cx="65484" cy="12084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60725" y="380464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zh-CN" sz="1200" dirty="0"/>
          </a:p>
        </p:txBody>
      </p:sp>
      <p:sp>
        <p:nvSpPr>
          <p:cNvPr id="27" name="Text 15"/>
          <p:cNvSpPr/>
          <p:nvPr/>
        </p:nvSpPr>
        <p:spPr>
          <a:xfrm>
            <a:off x="7997785" y="4373880"/>
            <a:ext cx="360747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zh-CN" sz="1800" dirty="0"/>
          </a:p>
        </p:txBody>
      </p:sp>
      <p:sp>
        <p:nvSpPr>
          <p:cNvPr id="28" name="Text 16"/>
          <p:cNvSpPr/>
          <p:nvPr/>
        </p:nvSpPr>
        <p:spPr>
          <a:xfrm>
            <a:off x="7997785" y="473202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zh-CN" sz="12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5985" y="4791313"/>
            <a:ext cx="349210" cy="108347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9689425" y="473202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zh-CN" sz="1200" dirty="0"/>
          </a:p>
        </p:txBody>
      </p:sp>
      <p:sp>
        <p:nvSpPr>
          <p:cNvPr id="31" name="Text 18"/>
          <p:cNvSpPr/>
          <p:nvPr/>
        </p:nvSpPr>
        <p:spPr>
          <a:xfrm>
            <a:off x="7997785" y="500634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zh-CN" sz="120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985" y="5075396"/>
            <a:ext cx="97274" cy="88821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9689425" y="500634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zh-CN" sz="1200" dirty="0"/>
          </a:p>
        </p:txBody>
      </p:sp>
      <p:sp>
        <p:nvSpPr>
          <p:cNvPr id="34" name="Text 20"/>
          <p:cNvSpPr/>
          <p:nvPr/>
        </p:nvSpPr>
        <p:spPr>
          <a:xfrm>
            <a:off x="7997785" y="528066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zh-CN" sz="12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5985" y="5331857"/>
            <a:ext cx="137041" cy="12442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9689425" y="528066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zh-CN" sz="1200" dirty="0"/>
          </a:p>
        </p:txBody>
      </p:sp>
      <p:sp>
        <p:nvSpPr>
          <p:cNvPr id="37" name="Text 22"/>
          <p:cNvSpPr/>
          <p:nvPr/>
        </p:nvSpPr>
        <p:spPr>
          <a:xfrm>
            <a:off x="7997785" y="555498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zh-CN" sz="12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5985" y="5596533"/>
            <a:ext cx="629126" cy="14382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9689425" y="555498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zh-CN" sz="1200" dirty="0"/>
          </a:p>
        </p:txBody>
      </p:sp>
      <p:sp>
        <p:nvSpPr>
          <p:cNvPr id="40" name="Text 24"/>
          <p:cNvSpPr/>
          <p:nvPr/>
        </p:nvSpPr>
        <p:spPr>
          <a:xfrm>
            <a:off x="7997785" y="5844540"/>
            <a:ext cx="360747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zh-CN" sz="1200" dirty="0"/>
          </a:p>
        </p:txBody>
      </p:sp>
      <p:sp>
        <p:nvSpPr>
          <p:cNvPr id="41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zh-CN" sz="1020" dirty="0"/>
          </a:p>
        </p:txBody>
      </p:sp>
      <p:sp>
        <p:nvSpPr>
          <p:cNvPr id="42" name="Text 26">
            <a:hlinkClick r:id="rId15" tooltip="" action="ppaction://hlinksldjump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377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zh-CN" sz="1020" dirty="0"/>
          </a:p>
        </p:txBody>
      </p:sp>
      <p:sp>
        <p:nvSpPr>
          <p:cNvPr id="43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zh-CN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7284720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zh-CN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zh-CN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zh-CN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zh-CN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zh-CN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zh-CN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zh-CN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zh-CN" sz="1400" dirty="0"/>
          </a:p>
        </p:txBody>
      </p:sp>
      <p:sp>
        <p:nvSpPr>
          <p:cNvPr id="23" name="Text 19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zh-CN" sz="1400" dirty="0"/>
          </a:p>
        </p:txBody>
      </p:sp>
      <p:sp>
        <p:nvSpPr>
          <p:cNvPr id="24" name="Shape 20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zh-CN" sz="1800" dirty="0"/>
          </a:p>
        </p:txBody>
      </p:sp>
      <p:sp>
        <p:nvSpPr>
          <p:cNvPr id="26" name="Text 22"/>
          <p:cNvSpPr/>
          <p:nvPr/>
        </p:nvSpPr>
        <p:spPr>
          <a:xfrm>
            <a:off x="8046720" y="247650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zh-CN" sz="1600" dirty="0"/>
          </a:p>
        </p:txBody>
      </p:sp>
      <p:sp>
        <p:nvSpPr>
          <p:cNvPr id="27" name="Shape 23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zh-CN" sz="1800" dirty="0"/>
          </a:p>
        </p:txBody>
      </p:sp>
      <p:sp>
        <p:nvSpPr>
          <p:cNvPr id="29" name="Text 25"/>
          <p:cNvSpPr/>
          <p:nvPr/>
        </p:nvSpPr>
        <p:spPr>
          <a:xfrm>
            <a:off x="8046720" y="3883581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zh-CN" sz="1800" dirty="0"/>
          </a:p>
        </p:txBody>
      </p:sp>
      <p:sp>
        <p:nvSpPr>
          <p:cNvPr id="32" name="Text 28"/>
          <p:cNvSpPr/>
          <p:nvPr/>
        </p:nvSpPr>
        <p:spPr>
          <a:xfrm>
            <a:off x="8046720" y="529078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zh-CN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zh-CN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zh-CN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3647361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22826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39343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zh-CN" sz="1600" dirty="0"/>
          </a:p>
        </p:txBody>
      </p:sp>
      <p:sp>
        <p:nvSpPr>
          <p:cNvPr id="18" name="Text 14"/>
          <p:cNvSpPr/>
          <p:nvPr/>
        </p:nvSpPr>
        <p:spPr>
          <a:xfrm>
            <a:off x="594360" y="4640342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zh-CN" sz="1600" dirty="0"/>
          </a:p>
        </p:txBody>
      </p:sp>
      <p:sp>
        <p:nvSpPr>
          <p:cNvPr id="19" name="Shape 15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72201" y="1950720"/>
            <a:ext cx="3647480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zh-CN" sz="1800" dirty="0"/>
          </a:p>
        </p:txBody>
      </p:sp>
      <p:sp>
        <p:nvSpPr>
          <p:cNvPr id="22" name="Text 18"/>
          <p:cNvSpPr/>
          <p:nvPr/>
        </p:nvSpPr>
        <p:spPr>
          <a:xfrm>
            <a:off x="4424601" y="2522220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322826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zh-CN" sz="1600" dirty="0"/>
          </a:p>
        </p:txBody>
      </p:sp>
      <p:sp>
        <p:nvSpPr>
          <p:cNvPr id="24" name="Text 20"/>
          <p:cNvSpPr/>
          <p:nvPr/>
        </p:nvSpPr>
        <p:spPr>
          <a:xfrm>
            <a:off x="4424601" y="393430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zh-CN" sz="1600" dirty="0"/>
          </a:p>
        </p:txBody>
      </p:sp>
      <p:sp>
        <p:nvSpPr>
          <p:cNvPr id="25" name="Text 21"/>
          <p:cNvSpPr/>
          <p:nvPr/>
        </p:nvSpPr>
        <p:spPr>
          <a:xfrm>
            <a:off x="4424601" y="4640342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zh-CN" sz="1600" dirty="0"/>
          </a:p>
        </p:txBody>
      </p:sp>
      <p:sp>
        <p:nvSpPr>
          <p:cNvPr id="26" name="Shape 22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102560" y="1950720"/>
            <a:ext cx="3647361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zh-CN" sz="1800" dirty="0"/>
          </a:p>
        </p:txBody>
      </p:sp>
      <p:sp>
        <p:nvSpPr>
          <p:cNvPr id="29" name="Text 25"/>
          <p:cNvSpPr/>
          <p:nvPr/>
        </p:nvSpPr>
        <p:spPr>
          <a:xfrm>
            <a:off x="8254960" y="252222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zh-CN" sz="1600" dirty="0"/>
          </a:p>
        </p:txBody>
      </p:sp>
      <p:sp>
        <p:nvSpPr>
          <p:cNvPr id="30" name="Text 26"/>
          <p:cNvSpPr/>
          <p:nvPr/>
        </p:nvSpPr>
        <p:spPr>
          <a:xfrm>
            <a:off x="8254960" y="322826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zh-CN" sz="1600" dirty="0"/>
          </a:p>
        </p:txBody>
      </p:sp>
      <p:sp>
        <p:nvSpPr>
          <p:cNvPr id="31" name="Text 27"/>
          <p:cNvSpPr/>
          <p:nvPr/>
        </p:nvSpPr>
        <p:spPr>
          <a:xfrm>
            <a:off x="8254960" y="39343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8254960" y="4640342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zh-CN" sz="1600" dirty="0"/>
          </a:p>
        </p:txBody>
      </p:sp>
      <p:sp>
        <p:nvSpPr>
          <p:cNvPr id="33" name="Shape 29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zh-CN" sz="1600" dirty="0"/>
          </a:p>
        </p:txBody>
      </p:sp>
      <p:sp>
        <p:nvSpPr>
          <p:cNvPr id="35" name="Text 31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36" name="Text 32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zh-CN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zh-CN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zh-CN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2476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zh-CN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zh-CN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2476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zh-CN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zh-CN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zh-CN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zh-CN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zh-CN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zh-CN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zh-CN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zh-CN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zh-CN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zh-CN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zh-CN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zh-CN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zh-CN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zh-CN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579120" y="4937760"/>
            <a:ext cx="3484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zh-CN" sz="1800" dirty="0"/>
          </a:p>
        </p:txBody>
      </p:sp>
      <p:sp>
        <p:nvSpPr>
          <p:cNvPr id="30" name="Text 20"/>
          <p:cNvSpPr/>
          <p:nvPr/>
        </p:nvSpPr>
        <p:spPr>
          <a:xfrm>
            <a:off x="579120" y="5341620"/>
            <a:ext cx="3535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92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38280" y="4937760"/>
            <a:ext cx="3484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zh-CN" sz="1800" dirty="0"/>
          </a:p>
        </p:txBody>
      </p:sp>
      <p:sp>
        <p:nvSpPr>
          <p:cNvPr id="33" name="Text 23"/>
          <p:cNvSpPr/>
          <p:nvPr/>
        </p:nvSpPr>
        <p:spPr>
          <a:xfrm>
            <a:off x="4338280" y="5341620"/>
            <a:ext cx="353564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952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zh-CN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097441" y="4937760"/>
            <a:ext cx="348495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zh-CN" sz="1800" dirty="0"/>
          </a:p>
        </p:txBody>
      </p:sp>
      <p:sp>
        <p:nvSpPr>
          <p:cNvPr id="36" name="Text 26"/>
          <p:cNvSpPr/>
          <p:nvPr/>
        </p:nvSpPr>
        <p:spPr>
          <a:xfrm>
            <a:off x="8097441" y="5341620"/>
            <a:ext cx="35357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92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zh-CN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zh-CN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441960" y="1950720"/>
            <a:ext cx="537972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zh-CN" sz="2000" dirty="0"/>
          </a:p>
        </p:txBody>
      </p:sp>
      <p:sp>
        <p:nvSpPr>
          <p:cNvPr id="13" name="Shape 9"/>
          <p:cNvSpPr/>
          <p:nvPr/>
        </p:nvSpPr>
        <p:spPr>
          <a:xfrm>
            <a:off x="441960" y="2402681"/>
            <a:ext cx="5379720" cy="1195507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79120" y="2524601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79120" y="2882741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已实现的方法与完成的实验，注明代码版本、数据范围和记录位置。</a:t>
            </a:r>
            <a:endParaRPr lang="zh-CN" sz="1600" dirty="0"/>
          </a:p>
        </p:txBody>
      </p:sp>
      <p:sp>
        <p:nvSpPr>
          <p:cNvPr id="16" name="Shape 12"/>
          <p:cNvSpPr/>
          <p:nvPr/>
        </p:nvSpPr>
        <p:spPr>
          <a:xfrm>
            <a:off x="441960" y="3689628"/>
            <a:ext cx="5379720" cy="1195507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79120" y="3811548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zh-CN" sz="1800" dirty="0"/>
          </a:p>
        </p:txBody>
      </p:sp>
      <p:sp>
        <p:nvSpPr>
          <p:cNvPr id="18" name="Text 14"/>
          <p:cNvSpPr/>
          <p:nvPr/>
        </p:nvSpPr>
        <p:spPr>
          <a:xfrm>
            <a:off x="579120" y="4169688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关联对应图表，写明结论适用的场景与条件；初步观察标明尚待复核。</a:t>
            </a:r>
            <a:endParaRPr lang="zh-CN" sz="1600" dirty="0"/>
          </a:p>
        </p:txBody>
      </p:sp>
      <p:sp>
        <p:nvSpPr>
          <p:cNvPr id="19" name="Shape 15"/>
          <p:cNvSpPr/>
          <p:nvPr/>
        </p:nvSpPr>
        <p:spPr>
          <a:xfrm>
            <a:off x="441960" y="4976574"/>
            <a:ext cx="5379720" cy="1195626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79120" y="5098494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zh-CN" sz="1800" dirty="0"/>
          </a:p>
        </p:txBody>
      </p:sp>
      <p:sp>
        <p:nvSpPr>
          <p:cNvPr id="21" name="Text 17"/>
          <p:cNvSpPr/>
          <p:nvPr/>
        </p:nvSpPr>
        <p:spPr>
          <a:xfrm>
            <a:off x="579120" y="5456634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未覆盖的场景、失败情形及主要限制，说明其对当前判断的影响。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6362700" y="1950720"/>
            <a:ext cx="538734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zh-CN" sz="2000" dirty="0"/>
          </a:p>
        </p:txBody>
      </p:sp>
      <p:sp>
        <p:nvSpPr>
          <p:cNvPr id="23" name="Shape 19"/>
          <p:cNvSpPr/>
          <p:nvPr/>
        </p:nvSpPr>
        <p:spPr>
          <a:xfrm>
            <a:off x="6362700" y="2417921"/>
            <a:ext cx="1023580" cy="33766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2700" y="274796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454140" y="2456021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工作阶段</a:t>
            </a:r>
            <a:endParaRPr lang="zh-CN" sz="1400" dirty="0"/>
          </a:p>
        </p:txBody>
      </p:sp>
      <p:sp>
        <p:nvSpPr>
          <p:cNvPr id="26" name="Shape 22"/>
          <p:cNvSpPr/>
          <p:nvPr/>
        </p:nvSpPr>
        <p:spPr>
          <a:xfrm>
            <a:off x="7386280" y="2417921"/>
            <a:ext cx="1939409" cy="33766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86280" y="274796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477720" y="2456021"/>
            <a:ext cx="175652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关键任务</a:t>
            </a:r>
            <a:endParaRPr lang="zh-CN" sz="1400" dirty="0"/>
          </a:p>
        </p:txBody>
      </p:sp>
      <p:sp>
        <p:nvSpPr>
          <p:cNvPr id="29" name="Shape 25"/>
          <p:cNvSpPr/>
          <p:nvPr/>
        </p:nvSpPr>
        <p:spPr>
          <a:xfrm>
            <a:off x="9325689" y="2417921"/>
            <a:ext cx="2424351" cy="33766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325689" y="274796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417129" y="2456021"/>
            <a:ext cx="2241471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验收产出</a:t>
            </a:r>
            <a:endParaRPr lang="zh-CN" sz="1400" dirty="0"/>
          </a:p>
        </p:txBody>
      </p:sp>
      <p:sp>
        <p:nvSpPr>
          <p:cNvPr id="32" name="Shape 28"/>
          <p:cNvSpPr/>
          <p:nvPr/>
        </p:nvSpPr>
        <p:spPr>
          <a:xfrm>
            <a:off x="6362700" y="2755583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362700" y="3347085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54140" y="2926318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zh-CN" sz="1400" dirty="0"/>
          </a:p>
        </p:txBody>
      </p:sp>
      <p:sp>
        <p:nvSpPr>
          <p:cNvPr id="35" name="Shape 31"/>
          <p:cNvSpPr/>
          <p:nvPr/>
        </p:nvSpPr>
        <p:spPr>
          <a:xfrm>
            <a:off x="7386280" y="2755583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386280" y="3347085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7477720" y="2797493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zh-CN" sz="1400" dirty="0"/>
          </a:p>
        </p:txBody>
      </p:sp>
      <p:sp>
        <p:nvSpPr>
          <p:cNvPr id="38" name="Shape 34"/>
          <p:cNvSpPr/>
          <p:nvPr/>
        </p:nvSpPr>
        <p:spPr>
          <a:xfrm>
            <a:off x="9325689" y="2755583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325689" y="3347085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417129" y="2797493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及可复现脚本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6362700" y="3354705"/>
            <a:ext cx="1023580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362700" y="3946208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54140" y="3525441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7386280" y="3354705"/>
            <a:ext cx="1939409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386280" y="3946208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477720" y="3396615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zh-CN" sz="1400" dirty="0"/>
          </a:p>
        </p:txBody>
      </p:sp>
      <p:sp>
        <p:nvSpPr>
          <p:cNvPr id="47" name="Shape 43"/>
          <p:cNvSpPr/>
          <p:nvPr/>
        </p:nvSpPr>
        <p:spPr>
          <a:xfrm>
            <a:off x="9325689" y="3354705"/>
            <a:ext cx="2424351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325689" y="3946208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417129" y="3396615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重复次数及日志</a:t>
            </a:r>
            <a:endParaRPr lang="zh-CN" sz="1400" dirty="0"/>
          </a:p>
        </p:txBody>
      </p:sp>
      <p:sp>
        <p:nvSpPr>
          <p:cNvPr id="50" name="Shape 46"/>
          <p:cNvSpPr/>
          <p:nvPr/>
        </p:nvSpPr>
        <p:spPr>
          <a:xfrm>
            <a:off x="6362700" y="3953828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62700" y="4545330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6454140" y="4124563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zh-CN" sz="1400" dirty="0"/>
          </a:p>
        </p:txBody>
      </p:sp>
      <p:sp>
        <p:nvSpPr>
          <p:cNvPr id="53" name="Shape 49"/>
          <p:cNvSpPr/>
          <p:nvPr/>
        </p:nvSpPr>
        <p:spPr>
          <a:xfrm>
            <a:off x="7386280" y="3953828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386280" y="4545330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7477720" y="3995738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zh-CN" sz="1400" dirty="0"/>
          </a:p>
        </p:txBody>
      </p:sp>
      <p:sp>
        <p:nvSpPr>
          <p:cNvPr id="56" name="Shape 52"/>
          <p:cNvSpPr/>
          <p:nvPr/>
        </p:nvSpPr>
        <p:spPr>
          <a:xfrm>
            <a:off x="9325689" y="3953828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9325689" y="4545330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9417129" y="3995738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典型样例定位</a:t>
            </a:r>
            <a:endParaRPr lang="zh-CN" sz="1400" dirty="0"/>
          </a:p>
        </p:txBody>
      </p:sp>
      <p:sp>
        <p:nvSpPr>
          <p:cNvPr id="59" name="Shape 55"/>
          <p:cNvSpPr/>
          <p:nvPr/>
        </p:nvSpPr>
        <p:spPr>
          <a:xfrm>
            <a:off x="6362700" y="4552950"/>
            <a:ext cx="1023580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362700" y="514445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6454140" y="4723686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zh-CN" sz="1400" dirty="0"/>
          </a:p>
        </p:txBody>
      </p:sp>
      <p:sp>
        <p:nvSpPr>
          <p:cNvPr id="62" name="Shape 58"/>
          <p:cNvSpPr/>
          <p:nvPr/>
        </p:nvSpPr>
        <p:spPr>
          <a:xfrm>
            <a:off x="7386280" y="4552950"/>
            <a:ext cx="1939409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386280" y="514445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477720" y="4594860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zh-CN" sz="1400" dirty="0"/>
          </a:p>
        </p:txBody>
      </p:sp>
      <p:sp>
        <p:nvSpPr>
          <p:cNvPr id="65" name="Shape 61"/>
          <p:cNvSpPr/>
          <p:nvPr/>
        </p:nvSpPr>
        <p:spPr>
          <a:xfrm>
            <a:off x="9325689" y="4552950"/>
            <a:ext cx="2424351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325689" y="514445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9417129" y="4594860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修订研究结论</a:t>
            </a:r>
            <a:endParaRPr lang="zh-CN" sz="1400" dirty="0"/>
          </a:p>
        </p:txBody>
      </p:sp>
      <p:sp>
        <p:nvSpPr>
          <p:cNvPr id="68" name="Shape 64"/>
          <p:cNvSpPr/>
          <p:nvPr/>
        </p:nvSpPr>
        <p:spPr>
          <a:xfrm>
            <a:off x="6355080" y="5273040"/>
            <a:ext cx="5394960" cy="8991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355080" y="5273040"/>
            <a:ext cx="45720" cy="8991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6477000" y="5389840"/>
            <a:ext cx="515112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本次讨论：确认实验优先级和验收标准。</a:t>
            </a:r>
            <a:endParaRPr lang="zh-CN" sz="1600" dirty="0"/>
          </a:p>
        </p:txBody>
      </p:sp>
      <p:sp>
        <p:nvSpPr>
          <p:cNvPr id="71" name="Text 67"/>
          <p:cNvSpPr/>
          <p:nvPr/>
        </p:nvSpPr>
        <p:spPr>
          <a:xfrm>
            <a:off x="6477000" y="5760720"/>
            <a:ext cx="515112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zh-CN" sz="1600" dirty="0"/>
          </a:p>
        </p:txBody>
      </p:sp>
      <p:sp>
        <p:nvSpPr>
          <p:cNvPr id="72" name="Text 6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科研汇报模板</a:t>
            </a:r>
            <a:endParaRPr lang="zh-CN" sz="1020" dirty="0"/>
          </a:p>
        </p:txBody>
      </p:sp>
      <p:sp>
        <p:nvSpPr>
          <p:cNvPr id="73" name="Text 6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zh-CN" sz="1020" dirty="0"/>
          </a:p>
        </p:txBody>
      </p:sp>
      <p:sp>
        <p:nvSpPr>
          <p:cNvPr id="74" name="Text 7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zh-CN" sz="1020" dirty="0"/>
          </a:p>
        </p:txBody>
      </p:sp>
      <p:sp>
        <p:nvSpPr>
          <p:cNvPr id="75" name="Shape 7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zh-CN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zh-CN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zh-CN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zh-CN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zh-CN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zh-CN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zh-CN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zh-CN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zh-CN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zh-CN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zh-CN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zh-CN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zh-CN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zh-CN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zh-CN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zh-CN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zh-CN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zh-CN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zh-CN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337304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342384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79120" y="396478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zh-CN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09361" y="2072640"/>
            <a:ext cx="3373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zh-CN" sz="1800" dirty="0"/>
          </a:p>
        </p:txBody>
      </p:sp>
      <p:sp>
        <p:nvSpPr>
          <p:cNvPr id="20" name="Text 16"/>
          <p:cNvSpPr/>
          <p:nvPr/>
        </p:nvSpPr>
        <p:spPr>
          <a:xfrm>
            <a:off x="4409361" y="2476500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4409361" y="2867620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4409361" y="3258741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4409361" y="3649861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zh-CN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39720" y="2072640"/>
            <a:ext cx="337304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zh-CN" sz="1800" dirty="0"/>
          </a:p>
        </p:txBody>
      </p:sp>
      <p:sp>
        <p:nvSpPr>
          <p:cNvPr id="26" name="Text 22"/>
          <p:cNvSpPr/>
          <p:nvPr/>
        </p:nvSpPr>
        <p:spPr>
          <a:xfrm>
            <a:off x="8239720" y="247650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8239720" y="286762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zh-CN" sz="1600" dirty="0"/>
          </a:p>
        </p:txBody>
      </p:sp>
      <p:sp>
        <p:nvSpPr>
          <p:cNvPr id="28" name="Text 24"/>
          <p:cNvSpPr/>
          <p:nvPr/>
        </p:nvSpPr>
        <p:spPr>
          <a:xfrm>
            <a:off x="8239720" y="325874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zh-CN" sz="1600" dirty="0"/>
          </a:p>
        </p:txBody>
      </p:sp>
      <p:sp>
        <p:nvSpPr>
          <p:cNvPr id="29" name="Text 25"/>
          <p:cNvSpPr/>
          <p:nvPr/>
        </p:nvSpPr>
        <p:spPr>
          <a:xfrm>
            <a:off x="8239720" y="364986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zh-CN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zh-CN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zh-CN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zh-CN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zh-CN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附录</a:t>
            </a:r>
            <a:endParaRPr lang="zh-CN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zh-CN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zh-CN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zh-CN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zh-CN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zh-CN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zh-CN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zh-CN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zh-CN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zh-CN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zh-CN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zh-CN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zh-CN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zh-CN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zh-CN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zh-CN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zh-CN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zh-CN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zh-CN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zh-CN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zh-CN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zh-CN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zh-CN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zh-CN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zh-CN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zh-CN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zh-CN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zh-CN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zh-CN" sz="1200" dirty="0"/>
          </a:p>
        </p:txBody>
      </p:sp>
      <p:sp>
        <p:nvSpPr>
          <p:cNvPr id="6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7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zh-CN" sz="2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1960" y="1463040"/>
            <a:ext cx="2590800" cy="4770120"/>
          </a:xfrm>
          <a:prstGeom prst="rect">
            <a:avLst/>
          </a:prstGeom>
          <a:solidFill>
            <a:srgbClr val="F1F7FB"/>
          </a:solidFill>
          <a:ln w="7620">
            <a:solidFill>
              <a:srgbClr val="DFEBF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29320" y="3421380"/>
            <a:ext cx="101596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zh-CN" sz="2000" dirty="0"/>
          </a:p>
        </p:txBody>
      </p:sp>
      <p:sp>
        <p:nvSpPr>
          <p:cNvPr id="13" name="Text 9"/>
          <p:cNvSpPr/>
          <p:nvPr/>
        </p:nvSpPr>
        <p:spPr>
          <a:xfrm>
            <a:off x="1292900" y="3842861"/>
            <a:ext cx="888921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zh-CN" sz="1400" dirty="0"/>
          </a:p>
        </p:txBody>
      </p:sp>
      <p:sp>
        <p:nvSpPr>
          <p:cNvPr id="14" name="Text 10"/>
          <p:cNvSpPr/>
          <p:nvPr/>
        </p:nvSpPr>
        <p:spPr>
          <a:xfrm>
            <a:off x="1115139" y="4191952"/>
            <a:ext cx="124444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zh-CN" sz="1400" dirty="0"/>
          </a:p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zh-CN" sz="1400" dirty="0"/>
          </a:p>
        </p:txBody>
      </p:sp>
      <p:sp>
        <p:nvSpPr>
          <p:cNvPr id="15" name="Text 11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740"/>
              </a:lnSpc>
              <a:buNone/>
            </a:pPr>
            <a:r>
              <a:rPr lang="zh-CN" alt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zh-CN" sz="1200" dirty="0"/>
          </a:p>
        </p:txBody>
      </p:sp>
      <p:sp>
        <p:nvSpPr>
          <p:cNvPr id="16" name="Text 12"/>
          <p:cNvSpPr/>
          <p:nvPr/>
        </p:nvSpPr>
        <p:spPr>
          <a:xfrm>
            <a:off x="601980" y="5547360"/>
            <a:ext cx="10744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700"/>
              </a:lnSpc>
              <a:buNone/>
            </a:pPr>
            <a:r>
              <a:rPr lang="zh-CN" alt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zh-CN" sz="2000" dirty="0"/>
          </a:p>
        </p:txBody>
      </p:sp>
      <p:sp>
        <p:nvSpPr>
          <p:cNvPr id="17" name="Text 13"/>
          <p:cNvSpPr/>
          <p:nvPr/>
        </p:nvSpPr>
        <p:spPr>
          <a:xfrm>
            <a:off x="601980" y="5920740"/>
            <a:ext cx="107442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zh-CN" sz="1200" dirty="0"/>
          </a:p>
        </p:txBody>
      </p:sp>
      <p:sp>
        <p:nvSpPr>
          <p:cNvPr id="18" name="Text 14"/>
          <p:cNvSpPr/>
          <p:nvPr/>
        </p:nvSpPr>
        <p:spPr>
          <a:xfrm>
            <a:off x="1798320" y="5547360"/>
            <a:ext cx="10744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700"/>
              </a:lnSpc>
              <a:buNone/>
            </a:pPr>
            <a:r>
              <a:rPr lang="zh-CN" alt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zh-CN" sz="2000" dirty="0"/>
          </a:p>
        </p:txBody>
      </p:sp>
      <p:sp>
        <p:nvSpPr>
          <p:cNvPr id="19" name="Text 15"/>
          <p:cNvSpPr/>
          <p:nvPr/>
        </p:nvSpPr>
        <p:spPr>
          <a:xfrm>
            <a:off x="1798320" y="5920740"/>
            <a:ext cx="107442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zh-CN" sz="1200" dirty="0"/>
          </a:p>
        </p:txBody>
      </p:sp>
      <p:sp>
        <p:nvSpPr>
          <p:cNvPr id="20" name="Shape 16"/>
          <p:cNvSpPr/>
          <p:nvPr/>
        </p:nvSpPr>
        <p:spPr>
          <a:xfrm>
            <a:off x="3276600" y="1463040"/>
            <a:ext cx="8473440" cy="1680686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84220" y="1470660"/>
            <a:ext cx="8458200" cy="4000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zh-CN" sz="1800" dirty="0"/>
          </a:p>
        </p:txBody>
      </p:sp>
      <p:sp>
        <p:nvSpPr>
          <p:cNvPr id="23" name="Shape 19"/>
          <p:cNvSpPr/>
          <p:nvPr/>
        </p:nvSpPr>
        <p:spPr>
          <a:xfrm>
            <a:off x="328422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284220" y="2188131"/>
            <a:ext cx="276856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375660" y="1896070"/>
            <a:ext cx="25856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起止时间</a:t>
            </a:r>
            <a:endParaRPr lang="zh-CN" sz="1600" dirty="0"/>
          </a:p>
        </p:txBody>
      </p:sp>
      <p:sp>
        <p:nvSpPr>
          <p:cNvPr id="26" name="Shape 22"/>
          <p:cNvSpPr/>
          <p:nvPr/>
        </p:nvSpPr>
        <p:spPr>
          <a:xfrm>
            <a:off x="612898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28980" y="2188131"/>
            <a:ext cx="276856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220420" y="1896070"/>
            <a:ext cx="25856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学校／工作单位</a:t>
            </a:r>
            <a:endParaRPr lang="zh-CN" sz="1600" dirty="0"/>
          </a:p>
        </p:txBody>
      </p:sp>
      <p:sp>
        <p:nvSpPr>
          <p:cNvPr id="29" name="Shape 25"/>
          <p:cNvSpPr/>
          <p:nvPr/>
        </p:nvSpPr>
        <p:spPr>
          <a:xfrm>
            <a:off x="8973741" y="1870710"/>
            <a:ext cx="2768679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973741" y="2188131"/>
            <a:ext cx="2768679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065181" y="1896070"/>
            <a:ext cx="258579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学位／专业／职务</a:t>
            </a:r>
            <a:endParaRPr lang="zh-CN" sz="1600" dirty="0"/>
          </a:p>
        </p:txBody>
      </p:sp>
      <p:sp>
        <p:nvSpPr>
          <p:cNvPr id="32" name="Shape 28"/>
          <p:cNvSpPr/>
          <p:nvPr/>
        </p:nvSpPr>
        <p:spPr>
          <a:xfrm>
            <a:off x="328422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375660" y="2236351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zh-CN" sz="1400" dirty="0"/>
          </a:p>
        </p:txBody>
      </p:sp>
      <p:sp>
        <p:nvSpPr>
          <p:cNvPr id="34" name="Shape 30"/>
          <p:cNvSpPr/>
          <p:nvPr/>
        </p:nvSpPr>
        <p:spPr>
          <a:xfrm>
            <a:off x="612898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220420" y="2236351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zh-CN" sz="1400" dirty="0"/>
          </a:p>
        </p:txBody>
      </p:sp>
      <p:sp>
        <p:nvSpPr>
          <p:cNvPr id="36" name="Shape 32"/>
          <p:cNvSpPr/>
          <p:nvPr/>
        </p:nvSpPr>
        <p:spPr>
          <a:xfrm>
            <a:off x="8973741" y="2203371"/>
            <a:ext cx="2768679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065181" y="2236351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zh-CN" sz="1400" dirty="0"/>
          </a:p>
        </p:txBody>
      </p:sp>
      <p:sp>
        <p:nvSpPr>
          <p:cNvPr id="38" name="Shape 34"/>
          <p:cNvSpPr/>
          <p:nvPr/>
        </p:nvSpPr>
        <p:spPr>
          <a:xfrm>
            <a:off x="328422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375660" y="2544723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zh-CN" sz="1400" dirty="0"/>
          </a:p>
        </p:txBody>
      </p:sp>
      <p:sp>
        <p:nvSpPr>
          <p:cNvPr id="40" name="Shape 36"/>
          <p:cNvSpPr/>
          <p:nvPr/>
        </p:nvSpPr>
        <p:spPr>
          <a:xfrm>
            <a:off x="612898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220420" y="2544723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zh-CN" sz="1400" dirty="0"/>
          </a:p>
        </p:txBody>
      </p:sp>
      <p:sp>
        <p:nvSpPr>
          <p:cNvPr id="42" name="Shape 38"/>
          <p:cNvSpPr/>
          <p:nvPr/>
        </p:nvSpPr>
        <p:spPr>
          <a:xfrm>
            <a:off x="8973741" y="2519363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9065181" y="2544723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328422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3375660" y="2853095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zh-CN" sz="1400" dirty="0"/>
          </a:p>
        </p:txBody>
      </p:sp>
      <p:sp>
        <p:nvSpPr>
          <p:cNvPr id="46" name="Shape 42"/>
          <p:cNvSpPr/>
          <p:nvPr/>
        </p:nvSpPr>
        <p:spPr>
          <a:xfrm>
            <a:off x="612898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220420" y="2853095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zh-CN" sz="1400" dirty="0"/>
          </a:p>
        </p:txBody>
      </p:sp>
      <p:sp>
        <p:nvSpPr>
          <p:cNvPr id="48" name="Shape 44"/>
          <p:cNvSpPr/>
          <p:nvPr/>
        </p:nvSpPr>
        <p:spPr>
          <a:xfrm>
            <a:off x="8973741" y="2827734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065181" y="2853095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zh-CN" sz="1400" dirty="0"/>
          </a:p>
        </p:txBody>
      </p:sp>
      <p:sp>
        <p:nvSpPr>
          <p:cNvPr id="50" name="Shape 46"/>
          <p:cNvSpPr/>
          <p:nvPr/>
        </p:nvSpPr>
        <p:spPr>
          <a:xfrm>
            <a:off x="3276600" y="3276600"/>
            <a:ext cx="8473440" cy="1364933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3284220" y="3284220"/>
            <a:ext cx="8458200" cy="4000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3406140" y="3329940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zh-CN" sz="1800" dirty="0"/>
          </a:p>
        </p:txBody>
      </p:sp>
      <p:sp>
        <p:nvSpPr>
          <p:cNvPr id="53" name="Shape 49"/>
          <p:cNvSpPr/>
          <p:nvPr/>
        </p:nvSpPr>
        <p:spPr>
          <a:xfrm>
            <a:off x="32842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406140" y="3729990"/>
            <a:ext cx="39852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zh-CN" sz="1600" dirty="0"/>
          </a:p>
        </p:txBody>
      </p:sp>
      <p:sp>
        <p:nvSpPr>
          <p:cNvPr id="55" name="Shape 51"/>
          <p:cNvSpPr/>
          <p:nvPr/>
        </p:nvSpPr>
        <p:spPr>
          <a:xfrm>
            <a:off x="75133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635240" y="3729990"/>
            <a:ext cx="39852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zh-CN" sz="1600" dirty="0"/>
          </a:p>
        </p:txBody>
      </p:sp>
      <p:sp>
        <p:nvSpPr>
          <p:cNvPr id="57" name="Shape 53"/>
          <p:cNvSpPr/>
          <p:nvPr/>
        </p:nvSpPr>
        <p:spPr>
          <a:xfrm>
            <a:off x="32842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3406140" y="4060150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学术组织／期刊：职务</a:t>
            </a:r>
            <a:endParaRPr lang="zh-CN" sz="1400" dirty="0"/>
          </a:p>
        </p:txBody>
      </p:sp>
      <p:sp>
        <p:nvSpPr>
          <p:cNvPr id="59" name="Shape 55"/>
          <p:cNvSpPr/>
          <p:nvPr/>
        </p:nvSpPr>
        <p:spPr>
          <a:xfrm>
            <a:off x="75133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7635240" y="4060150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项目：名称、本人角色</a:t>
            </a:r>
            <a:endParaRPr lang="zh-CN" sz="1400" dirty="0"/>
          </a:p>
        </p:txBody>
      </p:sp>
      <p:sp>
        <p:nvSpPr>
          <p:cNvPr id="61" name="Shape 57"/>
          <p:cNvSpPr/>
          <p:nvPr/>
        </p:nvSpPr>
        <p:spPr>
          <a:xfrm>
            <a:off x="32842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406140" y="4359712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任期／服务事项：时间</a:t>
            </a:r>
            <a:endParaRPr lang="zh-CN" sz="1400" dirty="0"/>
          </a:p>
        </p:txBody>
      </p:sp>
      <p:sp>
        <p:nvSpPr>
          <p:cNvPr id="63" name="Shape 59"/>
          <p:cNvSpPr/>
          <p:nvPr/>
        </p:nvSpPr>
        <p:spPr>
          <a:xfrm>
            <a:off x="75133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635240" y="4359712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奖项：名称、年份／排名</a:t>
            </a:r>
            <a:endParaRPr lang="zh-CN" sz="1400" dirty="0"/>
          </a:p>
        </p:txBody>
      </p:sp>
      <p:sp>
        <p:nvSpPr>
          <p:cNvPr id="65" name="Shape 61"/>
          <p:cNvSpPr/>
          <p:nvPr/>
        </p:nvSpPr>
        <p:spPr>
          <a:xfrm>
            <a:off x="3276600" y="4763453"/>
            <a:ext cx="8473440" cy="1469708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3284220" y="4771073"/>
            <a:ext cx="8458200" cy="4000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3406140" y="4816793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zh-CN" sz="1800" dirty="0"/>
          </a:p>
        </p:txBody>
      </p:sp>
      <p:sp>
        <p:nvSpPr>
          <p:cNvPr id="68" name="Shape 64"/>
          <p:cNvSpPr/>
          <p:nvPr/>
        </p:nvSpPr>
        <p:spPr>
          <a:xfrm>
            <a:off x="32842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4061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zh-CN" sz="1600" dirty="0"/>
          </a:p>
        </p:txBody>
      </p:sp>
      <p:sp>
        <p:nvSpPr>
          <p:cNvPr id="70" name="Shape 66"/>
          <p:cNvSpPr/>
          <p:nvPr/>
        </p:nvSpPr>
        <p:spPr>
          <a:xfrm>
            <a:off x="61036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2255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zh-CN" sz="1600" dirty="0"/>
          </a:p>
        </p:txBody>
      </p:sp>
      <p:sp>
        <p:nvSpPr>
          <p:cNvPr id="72" name="Shape 68"/>
          <p:cNvSpPr/>
          <p:nvPr/>
        </p:nvSpPr>
        <p:spPr>
          <a:xfrm>
            <a:off x="89230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/>
          <p:nvPr/>
        </p:nvSpPr>
        <p:spPr>
          <a:xfrm>
            <a:off x="90449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zh-CN" sz="1600" dirty="0"/>
          </a:p>
        </p:txBody>
      </p:sp>
      <p:sp>
        <p:nvSpPr>
          <p:cNvPr id="74" name="Shape 70"/>
          <p:cNvSpPr/>
          <p:nvPr/>
        </p:nvSpPr>
        <p:spPr>
          <a:xfrm>
            <a:off x="32842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34061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研究对象：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</a:t>
            </a:r>
            <a:endParaRPr lang="zh-CN" sz="1400" dirty="0"/>
          </a:p>
        </p:txBody>
      </p:sp>
      <p:sp>
        <p:nvSpPr>
          <p:cNvPr id="76" name="Shape 72"/>
          <p:cNvSpPr/>
          <p:nvPr/>
        </p:nvSpPr>
        <p:spPr>
          <a:xfrm>
            <a:off x="61036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62255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主要方法：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技术特点：</a:t>
            </a:r>
            <a:endParaRPr lang="zh-CN" sz="1400" dirty="0"/>
          </a:p>
        </p:txBody>
      </p:sp>
      <p:sp>
        <p:nvSpPr>
          <p:cNvPr id="78" name="Shape 74"/>
          <p:cNvSpPr/>
          <p:nvPr/>
        </p:nvSpPr>
        <p:spPr>
          <a:xfrm>
            <a:off x="89230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90449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研究目标：</a:t>
            </a:r>
            <a:endParaRPr lang="zh-CN" sz="1400" dirty="0"/>
          </a:p>
        </p:txBody>
      </p:sp>
      <p:sp>
        <p:nvSpPr>
          <p:cNvPr id="80" name="Text 7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zh-CN" sz="1020" dirty="0"/>
          </a:p>
        </p:txBody>
      </p:sp>
      <p:sp>
        <p:nvSpPr>
          <p:cNvPr id="81" name="Text 7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zh-CN" sz="1020" dirty="0"/>
          </a:p>
        </p:txBody>
      </p:sp>
      <p:sp>
        <p:nvSpPr>
          <p:cNvPr id="82" name="Text 7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zh-CN" sz="1020" dirty="0"/>
          </a:p>
        </p:txBody>
      </p:sp>
      <p:sp>
        <p:nvSpPr>
          <p:cNvPr id="83" name="Shape 7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9843" y="438150"/>
            <a:ext cx="3272314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85800" y="2515910"/>
            <a:ext cx="10820400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zh-CN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313509"/>
            <a:ext cx="1082040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zh-CN" sz="1400" dirty="0"/>
          </a:p>
        </p:txBody>
      </p:sp>
      <p:sp>
        <p:nvSpPr>
          <p:cNvPr id="7" name="Text 3"/>
          <p:cNvSpPr/>
          <p:nvPr/>
        </p:nvSpPr>
        <p:spPr>
          <a:xfrm>
            <a:off x="4186952" y="467106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5253752" y="4671060"/>
            <a:ext cx="27512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zh-CN" sz="1800" dirty="0"/>
          </a:p>
        </p:txBody>
      </p:sp>
      <p:sp>
        <p:nvSpPr>
          <p:cNvPr id="9" name="Text 5"/>
          <p:cNvSpPr/>
          <p:nvPr/>
        </p:nvSpPr>
        <p:spPr>
          <a:xfrm>
            <a:off x="4186952" y="509778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600" dirty="0"/>
          </a:p>
        </p:txBody>
      </p:sp>
      <p:sp>
        <p:nvSpPr>
          <p:cNvPr id="10" name="Text 6"/>
          <p:cNvSpPr/>
          <p:nvPr/>
        </p:nvSpPr>
        <p:spPr>
          <a:xfrm>
            <a:off x="5253752" y="5097780"/>
            <a:ext cx="27512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教学与科研演示</a:t>
            </a:r>
            <a:endParaRPr lang="zh-CN" sz="1800" dirty="0"/>
          </a:p>
        </p:txBody>
      </p:sp>
      <p:sp>
        <p:nvSpPr>
          <p:cNvPr id="11" name="Text 7"/>
          <p:cNvSpPr/>
          <p:nvPr/>
        </p:nvSpPr>
        <p:spPr>
          <a:xfrm>
            <a:off x="4186952" y="552450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5253752" y="5524500"/>
            <a:ext cx="27512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zh-CN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丽水学院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丽水学院_WebSlide制作与演示指南</dc:title>
  <dc:subject>本地模块化科研汇报</dc:subject>
  <dc:creator>Web Slide</dc:creator>
  <cp:lastModifiedBy>Web Slide</cp:lastModifiedBy>
  <cp:revision>1</cp:revision>
  <dcterms:created xsi:type="dcterms:W3CDTF">2026-10-25T15:29:24Z</dcterms:created>
  <dcterms:modified xsi:type="dcterms:W3CDTF">2026-10-25T15:29:24Z</dcterms:modified>
</cp:coreProperties>
</file>