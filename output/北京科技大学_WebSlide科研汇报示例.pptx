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校史图文用于四阶段版式展示，实际研究请替换为文献、方法与研究差距。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这页实际使用北京科技大学的两份资源，既展示标志也验证不同宽高比的等高布局。完整标识不能拉伸；左右画面等高，宽度不同是预期结果。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4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85800" y="2185630"/>
            <a:ext cx="10820400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zh-CN" sz="4000" dirty="0"/>
          </a:p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zh-CN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643670"/>
            <a:ext cx="1082040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zh-CN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zh-CN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zh-CN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zh-CN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579120" y="207264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zh-CN" sz="2000" dirty="0"/>
          </a:p>
        </p:txBody>
      </p:sp>
      <p:sp>
        <p:nvSpPr>
          <p:cNvPr id="14" name="Text 10"/>
          <p:cNvSpPr/>
          <p:nvPr/>
        </p:nvSpPr>
        <p:spPr>
          <a:xfrm>
            <a:off x="579120" y="250936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9004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9160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zh-CN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24600" y="207264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zh-CN" sz="2000" dirty="0"/>
          </a:p>
        </p:txBody>
      </p:sp>
      <p:sp>
        <p:nvSpPr>
          <p:cNvPr id="20" name="Text 16"/>
          <p:cNvSpPr/>
          <p:nvPr/>
        </p:nvSpPr>
        <p:spPr>
          <a:xfrm>
            <a:off x="6324600" y="250936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29004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6324600" y="329160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zh-CN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579120" y="427482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zh-CN" sz="2000" dirty="0"/>
          </a:p>
        </p:txBody>
      </p:sp>
      <p:sp>
        <p:nvSpPr>
          <p:cNvPr id="26" name="Text 22"/>
          <p:cNvSpPr/>
          <p:nvPr/>
        </p:nvSpPr>
        <p:spPr>
          <a:xfrm>
            <a:off x="579120" y="471154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579120" y="510266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zh-CN" sz="1600" dirty="0"/>
          </a:p>
        </p:txBody>
      </p:sp>
      <p:sp>
        <p:nvSpPr>
          <p:cNvPr id="28" name="Text 24"/>
          <p:cNvSpPr/>
          <p:nvPr/>
        </p:nvSpPr>
        <p:spPr>
          <a:xfrm>
            <a:off x="579120" y="54937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zh-CN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zh-CN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24600" y="427482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zh-CN" sz="2000" dirty="0"/>
          </a:p>
        </p:txBody>
      </p:sp>
      <p:sp>
        <p:nvSpPr>
          <p:cNvPr id="32" name="Text 28"/>
          <p:cNvSpPr/>
          <p:nvPr/>
        </p:nvSpPr>
        <p:spPr>
          <a:xfrm>
            <a:off x="6324600" y="471154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6324600" y="510266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zh-CN" sz="1600" dirty="0"/>
          </a:p>
        </p:txBody>
      </p:sp>
      <p:sp>
        <p:nvSpPr>
          <p:cNvPr id="34" name="Text 30"/>
          <p:cNvSpPr/>
          <p:nvPr/>
        </p:nvSpPr>
        <p:spPr>
          <a:xfrm>
            <a:off x="6324600" y="54937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zh-CN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zh-CN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</a:t>
            </a:r>
            <a:endParaRPr lang="zh-CN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zh-CN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zh-CN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zh-CN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zh-CN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zh-CN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zh-CN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zh-CN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zh-CN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zh-CN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zh-CN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zh-CN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zh-CN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zh-CN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zh-CN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zh-CN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zh-CN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zh-CN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zh-CN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zh-CN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zh-CN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zh-CN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以科技蓝建立标题与图表层级，使用钢铁红强调关键判断；浅底与字号遵循统一口径。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zh-CN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zh-CN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zh-CN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zh-CN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zh-CN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zh-CN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zh-CN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zh-CN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zh-CN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zh-CN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zh-CN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zh-CN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zh-CN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zh-CN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zh-CN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zh-CN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zh-CN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zh-CN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zh-CN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zh-CN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zh-CN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zh-CN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zh-CN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zh-CN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zh-CN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zh-CN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zh-CN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zh-CN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zh-CN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zh-CN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15200" y="2072640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zh-CN" sz="1800" dirty="0"/>
          </a:p>
        </p:txBody>
      </p:sp>
      <p:sp>
        <p:nvSpPr>
          <p:cNvPr id="135" name="Text 131"/>
          <p:cNvSpPr/>
          <p:nvPr/>
        </p:nvSpPr>
        <p:spPr>
          <a:xfrm>
            <a:off x="7315200" y="2476500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科技蓝用于标题、表头与重点线条，浅蓝底用于分组；钢铁红适量强调结论。</a:t>
            </a:r>
            <a:endParaRPr lang="zh-CN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15200" y="3479721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zh-CN" sz="1800" dirty="0"/>
          </a:p>
        </p:txBody>
      </p:sp>
      <p:sp>
        <p:nvSpPr>
          <p:cNvPr id="138" name="Text 134"/>
          <p:cNvSpPr/>
          <p:nvPr/>
        </p:nvSpPr>
        <p:spPr>
          <a:xfrm>
            <a:off x="7315200" y="3883581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zh-CN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15200" y="4886920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zh-CN" sz="1800" dirty="0"/>
          </a:p>
        </p:txBody>
      </p:sp>
      <p:sp>
        <p:nvSpPr>
          <p:cNvPr id="141" name="Text 137"/>
          <p:cNvSpPr/>
          <p:nvPr/>
        </p:nvSpPr>
        <p:spPr>
          <a:xfrm>
            <a:off x="7315200" y="5290780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zh-CN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zh-CN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zh-CN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zh-CN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zh-CN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zh-CN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zh-CN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zh-CN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zh-CN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563880" y="502408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294120" y="502408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zh-CN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zh-CN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zh-CN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zh-CN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zh-CN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8701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zh-CN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zh-CN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zh-CN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zh-CN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zh-CN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zh-CN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8713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zh-CN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zh-CN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zh-CN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zh-CN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zh-CN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zh-CN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zh-CN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8701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zh-CN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zh-CN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zh-CN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研究现状分析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七十余载薪火相传，从1952年六校矿冶合流到新时代“双一流”建设，学校始终与祖国钢铁工业同频共振，走出了一条从单科性院校到多学科性研究型大学的跨越之路。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5730240"/>
            <a:ext cx="11308080" cy="472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772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</a:t>
            </a:r>
            <a:endParaRPr lang="zh-CN" sz="2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95600"/>
            <a:ext cx="2369820" cy="11559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772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1952年，清华大学、天津大学等六所高校的矿冶系科合流，成立北京钢铁工业学院，奠定学科根基与办学框架，服务新中国钢铁工业建设。</a:t>
            </a:r>
            <a:endParaRPr lang="zh-CN" sz="1400" dirty="0"/>
          </a:p>
        </p:txBody>
      </p:sp>
      <p:sp>
        <p:nvSpPr>
          <p:cNvPr id="18" name="Text 12"/>
          <p:cNvSpPr/>
          <p:nvPr/>
        </p:nvSpPr>
        <p:spPr>
          <a:xfrm>
            <a:off x="83820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六校矿冶合流</a:t>
            </a:r>
            <a:endParaRPr lang="zh-CN" sz="18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2331720"/>
            <a:ext cx="30480" cy="363474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875020"/>
            <a:ext cx="182880" cy="1828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342138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42138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354330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</a:t>
            </a:r>
            <a:endParaRPr lang="zh-CN" sz="2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2895600"/>
            <a:ext cx="2369820" cy="115597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54330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1960年，学校更名为北京钢铁学院，同年被批准为全国重点高等学校。学校立足矿冶优势，巩固学科基础，培养钢铁工业所需的专业人才。</a:t>
            </a:r>
            <a:endParaRPr lang="zh-CN" sz="1400" dirty="0"/>
          </a:p>
        </p:txBody>
      </p:sp>
      <p:sp>
        <p:nvSpPr>
          <p:cNvPr id="26" name="Text 17"/>
          <p:cNvSpPr/>
          <p:nvPr/>
        </p:nvSpPr>
        <p:spPr>
          <a:xfrm>
            <a:off x="357378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钢院列名重点</a:t>
            </a:r>
            <a:endParaRPr lang="zh-CN" sz="18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140" y="2331720"/>
            <a:ext cx="30480" cy="3634740"/>
          </a:xfrm>
          <a:prstGeom prst="rect">
            <a:avLst/>
          </a:prstGeom>
        </p:spPr>
      </p:pic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9940" y="5875020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15696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15696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627888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</a:t>
            </a:r>
            <a:endParaRPr lang="zh-CN" sz="24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8880" y="2895600"/>
            <a:ext cx="2369820" cy="115597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27888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1988年，学校正式更名为北京科技大学，迈入多科性大学发展阶段。以工为主，多学科协调发展，逐步拓展人才培养与科学研究的领域。</a:t>
            </a:r>
            <a:endParaRPr lang="zh-CN" sz="1400" dirty="0"/>
          </a:p>
        </p:txBody>
      </p:sp>
      <p:sp>
        <p:nvSpPr>
          <p:cNvPr id="34" name="Text 22"/>
          <p:cNvSpPr/>
          <p:nvPr/>
        </p:nvSpPr>
        <p:spPr>
          <a:xfrm>
            <a:off x="630936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北科定名转型</a:t>
            </a:r>
            <a:endParaRPr lang="zh-CN" sz="1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720" y="2331720"/>
            <a:ext cx="30480" cy="3634740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65520" y="5875020"/>
            <a:ext cx="182880" cy="182880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889254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889254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Text 25"/>
          <p:cNvSpPr/>
          <p:nvPr/>
        </p:nvSpPr>
        <p:spPr>
          <a:xfrm>
            <a:off x="901446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新世纪</a:t>
            </a:r>
            <a:endParaRPr lang="zh-CN" sz="24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4460" y="2895600"/>
            <a:ext cx="2369820" cy="115597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01446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学校入选国家“双一流”建设高校，推进雄安校区建设，布局碳中和学院及未来芯片创新平台，面向国家战略需求拓展前沿与交叉研究。</a:t>
            </a:r>
            <a:endParaRPr lang="zh-CN" sz="1400" dirty="0"/>
          </a:p>
        </p:txBody>
      </p:sp>
      <p:sp>
        <p:nvSpPr>
          <p:cNvPr id="42" name="Text 27"/>
          <p:cNvSpPr/>
          <p:nvPr/>
        </p:nvSpPr>
        <p:spPr>
          <a:xfrm>
            <a:off x="9044940" y="5823585"/>
            <a:ext cx="16002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双一流布局前瞻</a:t>
            </a:r>
            <a:endParaRPr lang="zh-CN" sz="1800" dirty="0"/>
          </a:p>
        </p:txBody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7300" y="2331720"/>
            <a:ext cx="30480" cy="3634740"/>
          </a:xfrm>
          <a:prstGeom prst="rect">
            <a:avLst/>
          </a:prstGeom>
        </p:spPr>
      </p:pic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1100" y="5875020"/>
            <a:ext cx="182880" cy="182880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zh-CN" sz="1020" dirty="0"/>
          </a:p>
        </p:txBody>
      </p:sp>
      <p:sp>
        <p:nvSpPr>
          <p:cNvPr id="46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47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zh-CN" sz="1020" dirty="0"/>
          </a:p>
        </p:txBody>
      </p:sp>
      <p:sp>
        <p:nvSpPr>
          <p:cNvPr id="48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zh-CN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52425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78880" y="2072640"/>
            <a:ext cx="5334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zh-CN" sz="1800" dirty="0"/>
          </a:p>
        </p:txBody>
      </p:sp>
      <p:sp>
        <p:nvSpPr>
          <p:cNvPr id="19" name="Text 15"/>
          <p:cNvSpPr/>
          <p:nvPr/>
        </p:nvSpPr>
        <p:spPr>
          <a:xfrm>
            <a:off x="6278880" y="2476500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zh-CN" sz="1600" dirty="0"/>
          </a:p>
        </p:txBody>
      </p:sp>
      <p:sp>
        <p:nvSpPr>
          <p:cNvPr id="20" name="Text 16"/>
          <p:cNvSpPr/>
          <p:nvPr/>
        </p:nvSpPr>
        <p:spPr>
          <a:xfrm>
            <a:off x="6278880" y="2867620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6278880" y="3258741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zh-CN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1960" y="4152900"/>
            <a:ext cx="551688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zh-CN" sz="1800" dirty="0"/>
          </a:p>
        </p:txBody>
      </p:sp>
      <p:sp>
        <p:nvSpPr>
          <p:cNvPr id="25" name="Text 21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zh-CN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zh-CN" sz="1600" dirty="0"/>
          </a:p>
        </p:txBody>
      </p:sp>
      <p:sp>
        <p:nvSpPr>
          <p:cNvPr id="28" name="Shape 24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zh-CN" sz="1800" dirty="0"/>
          </a:p>
        </p:txBody>
      </p:sp>
      <p:sp>
        <p:nvSpPr>
          <p:cNvPr id="30" name="Text 26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zh-CN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zh-CN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zh-CN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zh-CN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zh-CN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zh-CN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zh-CN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zh-CN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zh-CN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zh-CN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zh-CN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zh-CN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zh-CN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zh-CN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zh-CN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3880" y="4418409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zh-CN" sz="1600" dirty="0"/>
          </a:p>
        </p:txBody>
      </p:sp>
      <p:sp>
        <p:nvSpPr>
          <p:cNvPr id="20" name="Text 16"/>
          <p:cNvSpPr/>
          <p:nvPr/>
        </p:nvSpPr>
        <p:spPr>
          <a:xfrm>
            <a:off x="563880" y="480953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563880" y="520065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563880" y="559177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zh-CN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zh-CN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zh-CN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zh-CN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zh-CN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zh-CN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zh-CN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zh-CN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zh-CN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zh-CN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zh-CN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EF5F9"/>
          </a:solidFill>
          <a:ln w="15240">
            <a:solidFill>
              <a:srgbClr val="CCDEE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240"/>
              </a:lnSpc>
              <a:buNone/>
            </a:pPr>
            <a:r>
              <a:rPr lang="zh-CN" altLang="en-US" sz="324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zh-CN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zh-CN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40"/>
              </a:lnSpc>
              <a:buNone/>
            </a:pPr>
            <a:r>
              <a:rPr lang="zh-CN" alt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zh-CN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zh-CN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141720" y="1950720"/>
            <a:ext cx="560832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94120" y="2026920"/>
            <a:ext cx="5303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zh-CN" sz="1800" dirty="0"/>
          </a:p>
        </p:txBody>
      </p:sp>
      <p:sp>
        <p:nvSpPr>
          <p:cNvPr id="22" name="Text 18"/>
          <p:cNvSpPr/>
          <p:nvPr/>
        </p:nvSpPr>
        <p:spPr>
          <a:xfrm>
            <a:off x="6294120" y="252222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6294120" y="2913340"/>
            <a:ext cx="53543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zh-CN" sz="1600" dirty="0"/>
          </a:p>
        </p:txBody>
      </p:sp>
      <p:sp>
        <p:nvSpPr>
          <p:cNvPr id="24" name="Text 20"/>
          <p:cNvSpPr/>
          <p:nvPr/>
        </p:nvSpPr>
        <p:spPr>
          <a:xfrm>
            <a:off x="6294120" y="361938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zh-CN" sz="1600" dirty="0"/>
          </a:p>
        </p:txBody>
      </p:sp>
      <p:sp>
        <p:nvSpPr>
          <p:cNvPr id="25" name="Text 21"/>
          <p:cNvSpPr/>
          <p:nvPr/>
        </p:nvSpPr>
        <p:spPr>
          <a:xfrm>
            <a:off x="6294120" y="401050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zh-CN" sz="1600" dirty="0"/>
          </a:p>
        </p:txBody>
      </p:sp>
      <p:sp>
        <p:nvSpPr>
          <p:cNvPr id="26" name="Text 22"/>
          <p:cNvSpPr/>
          <p:nvPr/>
        </p:nvSpPr>
        <p:spPr>
          <a:xfrm>
            <a:off x="6294120" y="4447342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6294120" y="4884182"/>
            <a:ext cx="530352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zh-CN" sz="1400" dirty="0"/>
          </a:p>
        </p:txBody>
      </p:sp>
      <p:sp>
        <p:nvSpPr>
          <p:cNvPr id="28" name="Text 24"/>
          <p:cNvSpPr/>
          <p:nvPr/>
        </p:nvSpPr>
        <p:spPr>
          <a:xfrm>
            <a:off x="6278880" y="5376863"/>
            <a:ext cx="537845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zh-CN" sz="1400" dirty="0"/>
          </a:p>
        </p:txBody>
      </p:sp>
      <p:sp>
        <p:nvSpPr>
          <p:cNvPr id="29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0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1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zh-CN" sz="1020" dirty="0"/>
          </a:p>
        </p:txBody>
      </p:sp>
      <p:sp>
        <p:nvSpPr>
          <p:cNvPr id="32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zh-CN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zh-CN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2440" y="3870960"/>
            <a:ext cx="54559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zh-CN" sz="1800" dirty="0"/>
          </a:p>
        </p:txBody>
      </p:sp>
      <p:sp>
        <p:nvSpPr>
          <p:cNvPr id="20" name="Text 14"/>
          <p:cNvSpPr/>
          <p:nvPr/>
        </p:nvSpPr>
        <p:spPr>
          <a:xfrm>
            <a:off x="472440" y="4274820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472440" y="4665940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472440" y="5057061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zh-CN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172200" y="3870960"/>
            <a:ext cx="55473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zh-CN" sz="1800" dirty="0"/>
          </a:p>
        </p:txBody>
      </p:sp>
      <p:sp>
        <p:nvSpPr>
          <p:cNvPr id="25" name="Text 19"/>
          <p:cNvSpPr/>
          <p:nvPr/>
        </p:nvSpPr>
        <p:spPr>
          <a:xfrm>
            <a:off x="6172200" y="4274820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zh-CN" sz="1600" dirty="0"/>
          </a:p>
        </p:txBody>
      </p:sp>
      <p:sp>
        <p:nvSpPr>
          <p:cNvPr id="26" name="Text 20"/>
          <p:cNvSpPr/>
          <p:nvPr/>
        </p:nvSpPr>
        <p:spPr>
          <a:xfrm>
            <a:off x="6172200" y="4665940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zh-CN" sz="1600" dirty="0"/>
          </a:p>
        </p:txBody>
      </p:sp>
      <p:sp>
        <p:nvSpPr>
          <p:cNvPr id="27" name="Text 21"/>
          <p:cNvSpPr/>
          <p:nvPr/>
        </p:nvSpPr>
        <p:spPr>
          <a:xfrm>
            <a:off x="6172200" y="5057061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zh-CN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zh-CN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zh-CN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校园图像：主图版式示例</a:t>
            </a:r>
            <a:endParaRPr lang="zh-CN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图像沿用原北科模板，可替换为研究场景、系统界面或实验结果。</a:t>
            </a:r>
            <a:endParaRPr lang="zh-CN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zh-CN" sz="1800" dirty="0"/>
          </a:p>
        </p:txBody>
      </p:sp>
      <p:sp>
        <p:nvSpPr>
          <p:cNvPr id="18" name="Text 13"/>
          <p:cNvSpPr/>
          <p:nvPr/>
        </p:nvSpPr>
        <p:spPr>
          <a:xfrm>
            <a:off x="8046720" y="247650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zh-CN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zh-CN" sz="1800" dirty="0"/>
          </a:p>
        </p:txBody>
      </p:sp>
      <p:sp>
        <p:nvSpPr>
          <p:cNvPr id="21" name="Text 16"/>
          <p:cNvSpPr/>
          <p:nvPr/>
        </p:nvSpPr>
        <p:spPr>
          <a:xfrm>
            <a:off x="8046720" y="3883581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zh-CN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zh-CN" sz="1800" dirty="0"/>
          </a:p>
        </p:txBody>
      </p:sp>
      <p:sp>
        <p:nvSpPr>
          <p:cNvPr id="24" name="Text 19"/>
          <p:cNvSpPr/>
          <p:nvPr/>
        </p:nvSpPr>
        <p:spPr>
          <a:xfrm>
            <a:off x="8046720" y="529078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zh-CN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26" name="Text 2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zh-CN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场景图像</a:t>
            </a:r>
            <a:endParaRPr lang="zh-CN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zh-CN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细节与说明</a:t>
            </a:r>
            <a:endParaRPr lang="zh-CN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zh-CN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23" name="Text 1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zh-CN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zh-CN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zh-CN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zh-CN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zh-CN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zh-CN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zh-CN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zh-CN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zh-CN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zh-CN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zh-CN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zh-CN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zh-CN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zh-CN" sz="1020" dirty="0"/>
          </a:p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zh-CN" sz="1020" dirty="0"/>
          </a:p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zh-CN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zh-CN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zh-CN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6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7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zh-CN" sz="2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zh-CN" sz="1600" dirty="0"/>
          </a:p>
        </p:txBody>
      </p:sp>
      <p:sp>
        <p:nvSpPr>
          <p:cNvPr id="11" name="Shape 8"/>
          <p:cNvSpPr/>
          <p:nvPr/>
        </p:nvSpPr>
        <p:spPr>
          <a:xfrm>
            <a:off x="441960" y="1950720"/>
            <a:ext cx="6873240" cy="2131338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1960" y="1950720"/>
            <a:ext cx="687324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2026920"/>
            <a:ext cx="65684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zh-CN" sz="1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491740"/>
            <a:ext cx="6873240" cy="78759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94360" y="3370778"/>
            <a:ext cx="656844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741658"/>
            <a:ext cx="656844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234458"/>
            <a:ext cx="6873240" cy="1937742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234458"/>
            <a:ext cx="687324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94360" y="4310658"/>
            <a:ext cx="65684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zh-CN" sz="1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" y="4775478"/>
            <a:ext cx="6873240" cy="59626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94360" y="5463183"/>
            <a:ext cx="656844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endParaRPr lang="zh-CN" sz="1600" dirty="0"/>
          </a:p>
        </p:txBody>
      </p:sp>
      <p:sp>
        <p:nvSpPr>
          <p:cNvPr id="22" name="Text 17"/>
          <p:cNvSpPr/>
          <p:nvPr/>
        </p:nvSpPr>
        <p:spPr>
          <a:xfrm>
            <a:off x="594360" y="5834063"/>
            <a:ext cx="656844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α 控制步长，停止条件由实验设定。</a:t>
            </a:r>
            <a:endParaRPr lang="zh-CN" sz="1600" dirty="0"/>
          </a:p>
        </p:txBody>
      </p:sp>
      <p:sp>
        <p:nvSpPr>
          <p:cNvPr id="23" name="Shape 18"/>
          <p:cNvSpPr/>
          <p:nvPr/>
        </p:nvSpPr>
        <p:spPr>
          <a:xfrm>
            <a:off x="7589520" y="1950720"/>
            <a:ext cx="4160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711440" y="1950720"/>
            <a:ext cx="3916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zh-CN" sz="1800" dirty="0"/>
          </a:p>
        </p:txBody>
      </p:sp>
      <p:sp>
        <p:nvSpPr>
          <p:cNvPr id="25" name="Shape 20"/>
          <p:cNvSpPr/>
          <p:nvPr/>
        </p:nvSpPr>
        <p:spPr>
          <a:xfrm>
            <a:off x="7589520" y="2324100"/>
            <a:ext cx="832009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1440" y="2336721"/>
            <a:ext cx="156091" cy="266581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8421529" y="2324100"/>
            <a:ext cx="3328511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543449" y="2336721"/>
            <a:ext cx="3084671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zh-CN" sz="1400" dirty="0"/>
          </a:p>
        </p:txBody>
      </p:sp>
      <p:sp>
        <p:nvSpPr>
          <p:cNvPr id="29" name="Shape 23"/>
          <p:cNvSpPr/>
          <p:nvPr/>
        </p:nvSpPr>
        <p:spPr>
          <a:xfrm>
            <a:off x="7589520" y="2615922"/>
            <a:ext cx="832009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1440" y="2628543"/>
            <a:ext cx="401122" cy="266581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8421529" y="2615922"/>
            <a:ext cx="3328511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543449" y="2628543"/>
            <a:ext cx="3084671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个输入样本与对应的目标值</a:t>
            </a:r>
            <a:endParaRPr lang="zh-CN" sz="1400" dirty="0"/>
          </a:p>
        </p:txBody>
      </p:sp>
      <p:sp>
        <p:nvSpPr>
          <p:cNvPr id="33" name="Shape 26"/>
          <p:cNvSpPr/>
          <p:nvPr/>
        </p:nvSpPr>
        <p:spPr>
          <a:xfrm>
            <a:off x="7589520" y="2907744"/>
            <a:ext cx="832009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440" y="2920365"/>
            <a:ext cx="88344" cy="266581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8421529" y="2907744"/>
            <a:ext cx="3328511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8543449" y="2920365"/>
            <a:ext cx="3084671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zh-CN" sz="1400" dirty="0"/>
          </a:p>
        </p:txBody>
      </p:sp>
      <p:sp>
        <p:nvSpPr>
          <p:cNvPr id="37" name="Shape 29"/>
          <p:cNvSpPr/>
          <p:nvPr/>
        </p:nvSpPr>
        <p:spPr>
          <a:xfrm>
            <a:off x="7589520" y="3199567"/>
            <a:ext cx="832009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1440" y="3212187"/>
            <a:ext cx="103703" cy="266581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8421529" y="3199567"/>
            <a:ext cx="3328511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8543449" y="3212187"/>
            <a:ext cx="3084671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正则化强度，λ ≥ 0；控制参数约束</a:t>
            </a:r>
            <a:endParaRPr lang="zh-CN" sz="1400" dirty="0"/>
          </a:p>
        </p:txBody>
      </p:sp>
      <p:sp>
        <p:nvSpPr>
          <p:cNvPr id="41" name="Shape 32"/>
          <p:cNvSpPr/>
          <p:nvPr/>
        </p:nvSpPr>
        <p:spPr>
          <a:xfrm>
            <a:off x="7589520" y="3491389"/>
            <a:ext cx="832009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1440" y="3504009"/>
            <a:ext cx="114419" cy="266581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8421529" y="3491389"/>
            <a:ext cx="3328511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8543449" y="3504009"/>
            <a:ext cx="3084671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学习率，α &gt; 0；结合损失变化选择</a:t>
            </a:r>
            <a:endParaRPr lang="zh-CN" sz="1400" dirty="0"/>
          </a:p>
        </p:txBody>
      </p:sp>
      <p:sp>
        <p:nvSpPr>
          <p:cNvPr id="45" name="Shape 35"/>
          <p:cNvSpPr/>
          <p:nvPr/>
        </p:nvSpPr>
        <p:spPr>
          <a:xfrm>
            <a:off x="7589520" y="3783211"/>
            <a:ext cx="832009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11440" y="3795832"/>
            <a:ext cx="64294" cy="266581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8421529" y="3783211"/>
            <a:ext cx="3328511" cy="29182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/>
          <p:nvPr/>
        </p:nvSpPr>
        <p:spPr>
          <a:xfrm>
            <a:off x="8543449" y="3795832"/>
            <a:ext cx="3084671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zh-CN" sz="1400" dirty="0"/>
          </a:p>
        </p:txBody>
      </p:sp>
      <p:sp>
        <p:nvSpPr>
          <p:cNvPr id="49" name="Shape 38"/>
          <p:cNvSpPr/>
          <p:nvPr/>
        </p:nvSpPr>
        <p:spPr>
          <a:xfrm>
            <a:off x="7589520" y="4373880"/>
            <a:ext cx="4160520" cy="17983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7726680" y="4480560"/>
            <a:ext cx="38862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zh-CN" sz="1800" dirty="0"/>
          </a:p>
        </p:txBody>
      </p:sp>
      <p:sp>
        <p:nvSpPr>
          <p:cNvPr id="51" name="Shape 40"/>
          <p:cNvSpPr/>
          <p:nvPr/>
        </p:nvSpPr>
        <p:spPr>
          <a:xfrm>
            <a:off x="7726680" y="4823460"/>
            <a:ext cx="1049179" cy="2462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1"/>
          <p:cNvSpPr/>
          <p:nvPr/>
        </p:nvSpPr>
        <p:spPr>
          <a:xfrm>
            <a:off x="7726680" y="4836081"/>
            <a:ext cx="972979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zh-CN" sz="1200" dirty="0"/>
          </a:p>
        </p:txBody>
      </p:sp>
      <p:sp>
        <p:nvSpPr>
          <p:cNvPr id="53" name="Shape 42"/>
          <p:cNvSpPr/>
          <p:nvPr/>
        </p:nvSpPr>
        <p:spPr>
          <a:xfrm>
            <a:off x="8775859" y="4823460"/>
            <a:ext cx="1049179" cy="2462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5859" y="4836081"/>
            <a:ext cx="325041" cy="22098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9825038" y="4823460"/>
            <a:ext cx="1787843" cy="2462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/>
          <p:nvPr/>
        </p:nvSpPr>
        <p:spPr>
          <a:xfrm>
            <a:off x="9825038" y="4836081"/>
            <a:ext cx="171164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zh-CN" sz="1200" dirty="0"/>
          </a:p>
        </p:txBody>
      </p:sp>
      <p:sp>
        <p:nvSpPr>
          <p:cNvPr id="57" name="Shape 45"/>
          <p:cNvSpPr/>
          <p:nvPr/>
        </p:nvSpPr>
        <p:spPr>
          <a:xfrm>
            <a:off x="7726680" y="5069681"/>
            <a:ext cx="1049179" cy="2462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6"/>
          <p:cNvSpPr/>
          <p:nvPr/>
        </p:nvSpPr>
        <p:spPr>
          <a:xfrm>
            <a:off x="7726680" y="5082302"/>
            <a:ext cx="972979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zh-CN" sz="1200" dirty="0"/>
          </a:p>
        </p:txBody>
      </p:sp>
      <p:sp>
        <p:nvSpPr>
          <p:cNvPr id="59" name="Shape 47"/>
          <p:cNvSpPr/>
          <p:nvPr/>
        </p:nvSpPr>
        <p:spPr>
          <a:xfrm>
            <a:off x="8775859" y="5069681"/>
            <a:ext cx="1049179" cy="2462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75859" y="5082302"/>
            <a:ext cx="100489" cy="220980"/>
          </a:xfrm>
          <a:prstGeom prst="rect">
            <a:avLst/>
          </a:prstGeom>
        </p:spPr>
      </p:pic>
      <p:sp>
        <p:nvSpPr>
          <p:cNvPr id="61" name="Shape 48"/>
          <p:cNvSpPr/>
          <p:nvPr/>
        </p:nvSpPr>
        <p:spPr>
          <a:xfrm>
            <a:off x="9825038" y="5069681"/>
            <a:ext cx="1787843" cy="2462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49"/>
          <p:cNvSpPr/>
          <p:nvPr/>
        </p:nvSpPr>
        <p:spPr>
          <a:xfrm>
            <a:off x="9825038" y="5082302"/>
            <a:ext cx="171164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zh-CN" sz="1200" dirty="0"/>
          </a:p>
        </p:txBody>
      </p:sp>
      <p:sp>
        <p:nvSpPr>
          <p:cNvPr id="63" name="Shape 50"/>
          <p:cNvSpPr/>
          <p:nvPr/>
        </p:nvSpPr>
        <p:spPr>
          <a:xfrm>
            <a:off x="7726680" y="5315903"/>
            <a:ext cx="1049179" cy="2386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1"/>
          <p:cNvSpPr/>
          <p:nvPr/>
        </p:nvSpPr>
        <p:spPr>
          <a:xfrm>
            <a:off x="7726680" y="5328523"/>
            <a:ext cx="972979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zh-CN" sz="1200" dirty="0"/>
          </a:p>
        </p:txBody>
      </p:sp>
      <p:sp>
        <p:nvSpPr>
          <p:cNvPr id="65" name="Shape 52"/>
          <p:cNvSpPr/>
          <p:nvPr/>
        </p:nvSpPr>
        <p:spPr>
          <a:xfrm>
            <a:off x="8775859" y="5315903"/>
            <a:ext cx="1049179" cy="2386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75859" y="5328523"/>
            <a:ext cx="132517" cy="213360"/>
          </a:xfrm>
          <a:prstGeom prst="rect">
            <a:avLst/>
          </a:prstGeom>
        </p:spPr>
      </p:pic>
      <p:sp>
        <p:nvSpPr>
          <p:cNvPr id="67" name="Shape 53"/>
          <p:cNvSpPr/>
          <p:nvPr/>
        </p:nvSpPr>
        <p:spPr>
          <a:xfrm>
            <a:off x="9825038" y="5315903"/>
            <a:ext cx="1787843" cy="2386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4"/>
          <p:cNvSpPr/>
          <p:nvPr/>
        </p:nvSpPr>
        <p:spPr>
          <a:xfrm>
            <a:off x="9825038" y="5328523"/>
            <a:ext cx="171164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zh-CN" sz="1200" dirty="0"/>
          </a:p>
        </p:txBody>
      </p:sp>
      <p:sp>
        <p:nvSpPr>
          <p:cNvPr id="69" name="Shape 55"/>
          <p:cNvSpPr/>
          <p:nvPr/>
        </p:nvSpPr>
        <p:spPr>
          <a:xfrm>
            <a:off x="7726680" y="5554504"/>
            <a:ext cx="1049179" cy="2386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56"/>
          <p:cNvSpPr/>
          <p:nvPr/>
        </p:nvSpPr>
        <p:spPr>
          <a:xfrm>
            <a:off x="7726680" y="5567124"/>
            <a:ext cx="972979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zh-CN" sz="1200" dirty="0"/>
          </a:p>
        </p:txBody>
      </p:sp>
      <p:sp>
        <p:nvSpPr>
          <p:cNvPr id="71" name="Shape 57"/>
          <p:cNvSpPr/>
          <p:nvPr/>
        </p:nvSpPr>
        <p:spPr>
          <a:xfrm>
            <a:off x="8775859" y="5554504"/>
            <a:ext cx="1049179" cy="2386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75859" y="5567124"/>
            <a:ext cx="576620" cy="213360"/>
          </a:xfrm>
          <a:prstGeom prst="rect">
            <a:avLst/>
          </a:prstGeom>
        </p:spPr>
      </p:pic>
      <p:sp>
        <p:nvSpPr>
          <p:cNvPr id="73" name="Shape 58"/>
          <p:cNvSpPr/>
          <p:nvPr/>
        </p:nvSpPr>
        <p:spPr>
          <a:xfrm>
            <a:off x="9825038" y="5554504"/>
            <a:ext cx="1787843" cy="2386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59"/>
          <p:cNvSpPr/>
          <p:nvPr/>
        </p:nvSpPr>
        <p:spPr>
          <a:xfrm>
            <a:off x="9825038" y="5567124"/>
            <a:ext cx="171164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zh-CN" sz="1200" dirty="0"/>
          </a:p>
        </p:txBody>
      </p:sp>
      <p:sp>
        <p:nvSpPr>
          <p:cNvPr id="75" name="Text 60"/>
          <p:cNvSpPr/>
          <p:nvPr/>
        </p:nvSpPr>
        <p:spPr>
          <a:xfrm>
            <a:off x="7726680" y="5838825"/>
            <a:ext cx="3886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zh-CN" sz="1200" dirty="0"/>
          </a:p>
        </p:txBody>
      </p:sp>
      <p:sp>
        <p:nvSpPr>
          <p:cNvPr id="76" name="Text 61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77" name="Text 62">
            <a:hlinkClick r:id="rId14" tooltip="" action="ppaction://hlinksldjump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zh-CN" sz="1020" dirty="0"/>
          </a:p>
        </p:txBody>
      </p:sp>
      <p:sp>
        <p:nvSpPr>
          <p:cNvPr id="78" name="Text 6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30</a:t>
            </a:r>
            <a:endParaRPr lang="zh-CN" sz="1020" dirty="0"/>
          </a:p>
        </p:txBody>
      </p:sp>
      <p:sp>
        <p:nvSpPr>
          <p:cNvPr id="79" name="Shape 6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728472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zh-CN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zh-CN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zh-CN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zh-CN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zh-CN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zh-CN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zh-CN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zh-CN" sz="1400" dirty="0"/>
          </a:p>
        </p:txBody>
      </p:sp>
      <p:sp>
        <p:nvSpPr>
          <p:cNvPr id="23" name="Text 19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zh-CN" sz="1400" dirty="0"/>
          </a:p>
        </p:txBody>
      </p:sp>
      <p:sp>
        <p:nvSpPr>
          <p:cNvPr id="24" name="Shape 20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zh-CN" sz="1800" dirty="0"/>
          </a:p>
        </p:txBody>
      </p:sp>
      <p:sp>
        <p:nvSpPr>
          <p:cNvPr id="26" name="Text 22"/>
          <p:cNvSpPr/>
          <p:nvPr/>
        </p:nvSpPr>
        <p:spPr>
          <a:xfrm>
            <a:off x="8046720" y="247650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zh-CN" sz="1600" dirty="0"/>
          </a:p>
        </p:txBody>
      </p:sp>
      <p:sp>
        <p:nvSpPr>
          <p:cNvPr id="27" name="Shape 23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zh-CN" sz="1800" dirty="0"/>
          </a:p>
        </p:txBody>
      </p:sp>
      <p:sp>
        <p:nvSpPr>
          <p:cNvPr id="29" name="Text 25"/>
          <p:cNvSpPr/>
          <p:nvPr/>
        </p:nvSpPr>
        <p:spPr>
          <a:xfrm>
            <a:off x="8046720" y="3883581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zh-CN" sz="1800" dirty="0"/>
          </a:p>
        </p:txBody>
      </p:sp>
      <p:sp>
        <p:nvSpPr>
          <p:cNvPr id="32" name="Text 28"/>
          <p:cNvSpPr/>
          <p:nvPr/>
        </p:nvSpPr>
        <p:spPr>
          <a:xfrm>
            <a:off x="8046720" y="529078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zh-CN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zh-CN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3647361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22826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39343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zh-CN" sz="1600" dirty="0"/>
          </a:p>
        </p:txBody>
      </p:sp>
      <p:sp>
        <p:nvSpPr>
          <p:cNvPr id="18" name="Text 14"/>
          <p:cNvSpPr/>
          <p:nvPr/>
        </p:nvSpPr>
        <p:spPr>
          <a:xfrm>
            <a:off x="594360" y="4640342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zh-CN" sz="1600" dirty="0"/>
          </a:p>
        </p:txBody>
      </p:sp>
      <p:sp>
        <p:nvSpPr>
          <p:cNvPr id="19" name="Shape 15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72201" y="1950720"/>
            <a:ext cx="364748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zh-CN" sz="1800" dirty="0"/>
          </a:p>
        </p:txBody>
      </p:sp>
      <p:sp>
        <p:nvSpPr>
          <p:cNvPr id="22" name="Text 18"/>
          <p:cNvSpPr/>
          <p:nvPr/>
        </p:nvSpPr>
        <p:spPr>
          <a:xfrm>
            <a:off x="4424601" y="2522220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322826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zh-CN" sz="1600" dirty="0"/>
          </a:p>
        </p:txBody>
      </p:sp>
      <p:sp>
        <p:nvSpPr>
          <p:cNvPr id="24" name="Text 20"/>
          <p:cNvSpPr/>
          <p:nvPr/>
        </p:nvSpPr>
        <p:spPr>
          <a:xfrm>
            <a:off x="4424601" y="393430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zh-CN" sz="1600" dirty="0"/>
          </a:p>
        </p:txBody>
      </p:sp>
      <p:sp>
        <p:nvSpPr>
          <p:cNvPr id="25" name="Text 21"/>
          <p:cNvSpPr/>
          <p:nvPr/>
        </p:nvSpPr>
        <p:spPr>
          <a:xfrm>
            <a:off x="4424601" y="4640342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zh-CN" sz="1600" dirty="0"/>
          </a:p>
        </p:txBody>
      </p:sp>
      <p:sp>
        <p:nvSpPr>
          <p:cNvPr id="26" name="Shape 22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102560" y="1950720"/>
            <a:ext cx="3647361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zh-CN" sz="1800" dirty="0"/>
          </a:p>
        </p:txBody>
      </p:sp>
      <p:sp>
        <p:nvSpPr>
          <p:cNvPr id="29" name="Text 25"/>
          <p:cNvSpPr/>
          <p:nvPr/>
        </p:nvSpPr>
        <p:spPr>
          <a:xfrm>
            <a:off x="8254960" y="252222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zh-CN" sz="1600" dirty="0"/>
          </a:p>
        </p:txBody>
      </p:sp>
      <p:sp>
        <p:nvSpPr>
          <p:cNvPr id="30" name="Text 26"/>
          <p:cNvSpPr/>
          <p:nvPr/>
        </p:nvSpPr>
        <p:spPr>
          <a:xfrm>
            <a:off x="8254960" y="322826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zh-CN" sz="1600" dirty="0"/>
          </a:p>
        </p:txBody>
      </p:sp>
      <p:sp>
        <p:nvSpPr>
          <p:cNvPr id="31" name="Text 27"/>
          <p:cNvSpPr/>
          <p:nvPr/>
        </p:nvSpPr>
        <p:spPr>
          <a:xfrm>
            <a:off x="8254960" y="39343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8254960" y="4640342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zh-CN" sz="1600" dirty="0"/>
          </a:p>
        </p:txBody>
      </p:sp>
      <p:sp>
        <p:nvSpPr>
          <p:cNvPr id="33" name="Shape 29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zh-CN" sz="1600" dirty="0"/>
          </a:p>
        </p:txBody>
      </p:sp>
      <p:sp>
        <p:nvSpPr>
          <p:cNvPr id="35" name="Text 31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32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zh-CN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zh-CN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zh-CN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2476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zh-CN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zh-CN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2476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zh-CN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zh-CN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zh-CN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zh-CN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zh-CN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zh-CN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zh-CN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zh-CN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zh-CN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zh-CN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zh-CN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zh-CN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zh-CN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zh-CN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579120" y="4937760"/>
            <a:ext cx="3484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zh-CN" sz="1800" dirty="0"/>
          </a:p>
        </p:txBody>
      </p:sp>
      <p:sp>
        <p:nvSpPr>
          <p:cNvPr id="30" name="Text 20"/>
          <p:cNvSpPr/>
          <p:nvPr/>
        </p:nvSpPr>
        <p:spPr>
          <a:xfrm>
            <a:off x="579120" y="5341620"/>
            <a:ext cx="3535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92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38280" y="4937760"/>
            <a:ext cx="3484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zh-CN" sz="1800" dirty="0"/>
          </a:p>
        </p:txBody>
      </p:sp>
      <p:sp>
        <p:nvSpPr>
          <p:cNvPr id="33" name="Text 23"/>
          <p:cNvSpPr/>
          <p:nvPr/>
        </p:nvSpPr>
        <p:spPr>
          <a:xfrm>
            <a:off x="4338280" y="5341620"/>
            <a:ext cx="353564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952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zh-CN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097441" y="4937760"/>
            <a:ext cx="348495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zh-CN" sz="1800" dirty="0"/>
          </a:p>
        </p:txBody>
      </p:sp>
      <p:sp>
        <p:nvSpPr>
          <p:cNvPr id="36" name="Text 26"/>
          <p:cNvSpPr/>
          <p:nvPr/>
        </p:nvSpPr>
        <p:spPr>
          <a:xfrm>
            <a:off x="8097441" y="5341620"/>
            <a:ext cx="35357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92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zh-CN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zh-CN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441960" y="1950720"/>
            <a:ext cx="537972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zh-CN" sz="2000" dirty="0"/>
          </a:p>
        </p:txBody>
      </p:sp>
      <p:sp>
        <p:nvSpPr>
          <p:cNvPr id="13" name="Shape 9"/>
          <p:cNvSpPr/>
          <p:nvPr/>
        </p:nvSpPr>
        <p:spPr>
          <a:xfrm>
            <a:off x="441960" y="2402681"/>
            <a:ext cx="5379720" cy="1195507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79120" y="2524601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79120" y="2882741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已实现的方法与完成的实验，注明代码版本、数据范围和记录位置。</a:t>
            </a:r>
            <a:endParaRPr lang="zh-CN" sz="1600" dirty="0"/>
          </a:p>
        </p:txBody>
      </p:sp>
      <p:sp>
        <p:nvSpPr>
          <p:cNvPr id="16" name="Shape 12"/>
          <p:cNvSpPr/>
          <p:nvPr/>
        </p:nvSpPr>
        <p:spPr>
          <a:xfrm>
            <a:off x="441960" y="3689628"/>
            <a:ext cx="5379720" cy="1195507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79120" y="3811548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zh-CN" sz="1800" dirty="0"/>
          </a:p>
        </p:txBody>
      </p:sp>
      <p:sp>
        <p:nvSpPr>
          <p:cNvPr id="18" name="Text 14"/>
          <p:cNvSpPr/>
          <p:nvPr/>
        </p:nvSpPr>
        <p:spPr>
          <a:xfrm>
            <a:off x="579120" y="4169688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关联对应图表，写明结论适用的场景与条件；初步观察标明尚待复核。</a:t>
            </a:r>
            <a:endParaRPr lang="zh-CN" sz="1600" dirty="0"/>
          </a:p>
        </p:txBody>
      </p:sp>
      <p:sp>
        <p:nvSpPr>
          <p:cNvPr id="19" name="Shape 15"/>
          <p:cNvSpPr/>
          <p:nvPr/>
        </p:nvSpPr>
        <p:spPr>
          <a:xfrm>
            <a:off x="441960" y="4976574"/>
            <a:ext cx="5379720" cy="1195626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79120" y="5098494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zh-CN" sz="1800" dirty="0"/>
          </a:p>
        </p:txBody>
      </p:sp>
      <p:sp>
        <p:nvSpPr>
          <p:cNvPr id="21" name="Text 17"/>
          <p:cNvSpPr/>
          <p:nvPr/>
        </p:nvSpPr>
        <p:spPr>
          <a:xfrm>
            <a:off x="579120" y="5456634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未覆盖的场景、失败情形及主要限制，说明其对当前判断的影响。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6362700" y="1950720"/>
            <a:ext cx="538734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zh-CN" sz="2000" dirty="0"/>
          </a:p>
        </p:txBody>
      </p:sp>
      <p:sp>
        <p:nvSpPr>
          <p:cNvPr id="23" name="Shape 19"/>
          <p:cNvSpPr/>
          <p:nvPr/>
        </p:nvSpPr>
        <p:spPr>
          <a:xfrm>
            <a:off x="6362700" y="2417921"/>
            <a:ext cx="1023580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2700" y="274796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454140" y="2456021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工作阶段</a:t>
            </a:r>
            <a:endParaRPr lang="zh-CN" sz="1400" dirty="0"/>
          </a:p>
        </p:txBody>
      </p:sp>
      <p:sp>
        <p:nvSpPr>
          <p:cNvPr id="26" name="Shape 22"/>
          <p:cNvSpPr/>
          <p:nvPr/>
        </p:nvSpPr>
        <p:spPr>
          <a:xfrm>
            <a:off x="7386280" y="2417921"/>
            <a:ext cx="1939409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86280" y="274796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477720" y="2456021"/>
            <a:ext cx="175652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关键任务</a:t>
            </a:r>
            <a:endParaRPr lang="zh-CN" sz="1400" dirty="0"/>
          </a:p>
        </p:txBody>
      </p:sp>
      <p:sp>
        <p:nvSpPr>
          <p:cNvPr id="29" name="Shape 25"/>
          <p:cNvSpPr/>
          <p:nvPr/>
        </p:nvSpPr>
        <p:spPr>
          <a:xfrm>
            <a:off x="9325689" y="2417921"/>
            <a:ext cx="2424351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325689" y="274796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417129" y="2456021"/>
            <a:ext cx="2241471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验收产出</a:t>
            </a:r>
            <a:endParaRPr lang="zh-CN" sz="1400" dirty="0"/>
          </a:p>
        </p:txBody>
      </p:sp>
      <p:sp>
        <p:nvSpPr>
          <p:cNvPr id="32" name="Shape 28"/>
          <p:cNvSpPr/>
          <p:nvPr/>
        </p:nvSpPr>
        <p:spPr>
          <a:xfrm>
            <a:off x="6362700" y="2755583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362700" y="3347085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54140" y="2926318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zh-CN" sz="1400" dirty="0"/>
          </a:p>
        </p:txBody>
      </p:sp>
      <p:sp>
        <p:nvSpPr>
          <p:cNvPr id="35" name="Shape 31"/>
          <p:cNvSpPr/>
          <p:nvPr/>
        </p:nvSpPr>
        <p:spPr>
          <a:xfrm>
            <a:off x="7386280" y="2755583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386280" y="3347085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7477720" y="2797493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zh-CN" sz="1400" dirty="0"/>
          </a:p>
        </p:txBody>
      </p:sp>
      <p:sp>
        <p:nvSpPr>
          <p:cNvPr id="38" name="Shape 34"/>
          <p:cNvSpPr/>
          <p:nvPr/>
        </p:nvSpPr>
        <p:spPr>
          <a:xfrm>
            <a:off x="9325689" y="2755583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325689" y="3347085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417129" y="2797493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及可复现脚本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6362700" y="3354705"/>
            <a:ext cx="1023580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362700" y="3946208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54140" y="3525441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7386280" y="3354705"/>
            <a:ext cx="1939409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386280" y="3946208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477720" y="3396615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zh-CN" sz="1400" dirty="0"/>
          </a:p>
        </p:txBody>
      </p:sp>
      <p:sp>
        <p:nvSpPr>
          <p:cNvPr id="47" name="Shape 43"/>
          <p:cNvSpPr/>
          <p:nvPr/>
        </p:nvSpPr>
        <p:spPr>
          <a:xfrm>
            <a:off x="9325689" y="3354705"/>
            <a:ext cx="2424351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325689" y="3946208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417129" y="3396615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重复次数及日志</a:t>
            </a:r>
            <a:endParaRPr lang="zh-CN" sz="1400" dirty="0"/>
          </a:p>
        </p:txBody>
      </p:sp>
      <p:sp>
        <p:nvSpPr>
          <p:cNvPr id="50" name="Shape 46"/>
          <p:cNvSpPr/>
          <p:nvPr/>
        </p:nvSpPr>
        <p:spPr>
          <a:xfrm>
            <a:off x="6362700" y="3953828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62700" y="4545330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6454140" y="4124563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zh-CN" sz="1400" dirty="0"/>
          </a:p>
        </p:txBody>
      </p:sp>
      <p:sp>
        <p:nvSpPr>
          <p:cNvPr id="53" name="Shape 49"/>
          <p:cNvSpPr/>
          <p:nvPr/>
        </p:nvSpPr>
        <p:spPr>
          <a:xfrm>
            <a:off x="7386280" y="3953828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386280" y="4545330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7477720" y="3995738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zh-CN" sz="1400" dirty="0"/>
          </a:p>
        </p:txBody>
      </p:sp>
      <p:sp>
        <p:nvSpPr>
          <p:cNvPr id="56" name="Shape 52"/>
          <p:cNvSpPr/>
          <p:nvPr/>
        </p:nvSpPr>
        <p:spPr>
          <a:xfrm>
            <a:off x="9325689" y="3953828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9325689" y="4545330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9417129" y="3995738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典型样例定位</a:t>
            </a:r>
            <a:endParaRPr lang="zh-CN" sz="1400" dirty="0"/>
          </a:p>
        </p:txBody>
      </p:sp>
      <p:sp>
        <p:nvSpPr>
          <p:cNvPr id="59" name="Shape 55"/>
          <p:cNvSpPr/>
          <p:nvPr/>
        </p:nvSpPr>
        <p:spPr>
          <a:xfrm>
            <a:off x="6362700" y="4552950"/>
            <a:ext cx="1023580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362700" y="514445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6454140" y="4723686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zh-CN" sz="1400" dirty="0"/>
          </a:p>
        </p:txBody>
      </p:sp>
      <p:sp>
        <p:nvSpPr>
          <p:cNvPr id="62" name="Shape 58"/>
          <p:cNvSpPr/>
          <p:nvPr/>
        </p:nvSpPr>
        <p:spPr>
          <a:xfrm>
            <a:off x="7386280" y="4552950"/>
            <a:ext cx="1939409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386280" y="514445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477720" y="4594860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zh-CN" sz="1400" dirty="0"/>
          </a:p>
        </p:txBody>
      </p:sp>
      <p:sp>
        <p:nvSpPr>
          <p:cNvPr id="65" name="Shape 61"/>
          <p:cNvSpPr/>
          <p:nvPr/>
        </p:nvSpPr>
        <p:spPr>
          <a:xfrm>
            <a:off x="9325689" y="4552950"/>
            <a:ext cx="2424351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325689" y="514445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9417129" y="4594860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修订研究结论</a:t>
            </a:r>
            <a:endParaRPr lang="zh-CN" sz="1400" dirty="0"/>
          </a:p>
        </p:txBody>
      </p:sp>
      <p:sp>
        <p:nvSpPr>
          <p:cNvPr id="68" name="Shape 64"/>
          <p:cNvSpPr/>
          <p:nvPr/>
        </p:nvSpPr>
        <p:spPr>
          <a:xfrm>
            <a:off x="6355080" y="5273040"/>
            <a:ext cx="5394960" cy="8991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355080" y="5273040"/>
            <a:ext cx="45720" cy="8991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6477000" y="5389840"/>
            <a:ext cx="515112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本次讨论：确认实验优先级和验收标准。</a:t>
            </a:r>
            <a:endParaRPr lang="zh-CN" sz="1600" dirty="0"/>
          </a:p>
        </p:txBody>
      </p:sp>
      <p:sp>
        <p:nvSpPr>
          <p:cNvPr id="71" name="Text 67"/>
          <p:cNvSpPr/>
          <p:nvPr/>
        </p:nvSpPr>
        <p:spPr>
          <a:xfrm>
            <a:off x="6477000" y="5760720"/>
            <a:ext cx="515112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zh-CN" sz="1600" dirty="0"/>
          </a:p>
        </p:txBody>
      </p:sp>
      <p:sp>
        <p:nvSpPr>
          <p:cNvPr id="72" name="Text 6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zh-CN" sz="1020" dirty="0"/>
          </a:p>
        </p:txBody>
      </p:sp>
      <p:sp>
        <p:nvSpPr>
          <p:cNvPr id="73" name="Text 6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zh-CN" sz="1020" dirty="0"/>
          </a:p>
        </p:txBody>
      </p:sp>
      <p:sp>
        <p:nvSpPr>
          <p:cNvPr id="74" name="Text 7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zh-CN" sz="1020" dirty="0"/>
          </a:p>
        </p:txBody>
      </p:sp>
      <p:sp>
        <p:nvSpPr>
          <p:cNvPr id="75" name="Shape 7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zh-CN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zh-CN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zh-CN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zh-CN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zh-CN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zh-CN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zh-CN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zh-CN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zh-CN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zh-CN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zh-CN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zh-CN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zh-CN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zh-CN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zh-CN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zh-CN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zh-CN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zh-CN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337304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342384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79120" y="396478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zh-CN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09361" y="2072640"/>
            <a:ext cx="3373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zh-CN" sz="1800" dirty="0"/>
          </a:p>
        </p:txBody>
      </p:sp>
      <p:sp>
        <p:nvSpPr>
          <p:cNvPr id="20" name="Text 16"/>
          <p:cNvSpPr/>
          <p:nvPr/>
        </p:nvSpPr>
        <p:spPr>
          <a:xfrm>
            <a:off x="4409361" y="2476500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4409361" y="2867620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4409361" y="3258741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4409361" y="3649861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zh-CN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39720" y="2072640"/>
            <a:ext cx="337304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zh-CN" sz="1800" dirty="0"/>
          </a:p>
        </p:txBody>
      </p:sp>
      <p:sp>
        <p:nvSpPr>
          <p:cNvPr id="26" name="Text 22"/>
          <p:cNvSpPr/>
          <p:nvPr/>
        </p:nvSpPr>
        <p:spPr>
          <a:xfrm>
            <a:off x="8239720" y="247650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8239720" y="286762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zh-CN" sz="1600" dirty="0"/>
          </a:p>
        </p:txBody>
      </p:sp>
      <p:sp>
        <p:nvSpPr>
          <p:cNvPr id="28" name="Text 24"/>
          <p:cNvSpPr/>
          <p:nvPr/>
        </p:nvSpPr>
        <p:spPr>
          <a:xfrm>
            <a:off x="8239720" y="325874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zh-CN" sz="1600" dirty="0"/>
          </a:p>
        </p:txBody>
      </p:sp>
      <p:sp>
        <p:nvSpPr>
          <p:cNvPr id="29" name="Text 25"/>
          <p:cNvSpPr/>
          <p:nvPr/>
        </p:nvSpPr>
        <p:spPr>
          <a:xfrm>
            <a:off x="8239720" y="364986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zh-CN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zh-CN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zh-CN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zh-CN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zh-CN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附录</a:t>
            </a:r>
            <a:endParaRPr lang="zh-CN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zh-CN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zh-CN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zh-CN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zh-CN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zh-CN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zh-CN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zh-CN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zh-CN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zh-CN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zh-CN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zh-CN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zh-CN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zh-CN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zh-CN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zh-CN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zh-CN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zh-CN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zh-CN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zh-CN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zh-CN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zh-CN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zh-CN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zh-CN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zh-CN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zh-CN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zh-CN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zh-CN" sz="1200" dirty="0"/>
          </a:p>
        </p:txBody>
      </p:sp>
      <p:sp>
        <p:nvSpPr>
          <p:cNvPr id="6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7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zh-CN" sz="2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1960" y="1463040"/>
            <a:ext cx="2590800" cy="4770120"/>
          </a:xfrm>
          <a:prstGeom prst="rect">
            <a:avLst/>
          </a:prstGeom>
          <a:solidFill>
            <a:srgbClr val="EEF5F9"/>
          </a:solidFill>
          <a:ln w="7620">
            <a:solidFill>
              <a:srgbClr val="CCDEE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01980" y="3421380"/>
            <a:ext cx="227076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zh-CN" sz="2000" dirty="0"/>
          </a:p>
        </p:txBody>
      </p:sp>
      <p:sp>
        <p:nvSpPr>
          <p:cNvPr id="13" name="Text 9"/>
          <p:cNvSpPr/>
          <p:nvPr/>
        </p:nvSpPr>
        <p:spPr>
          <a:xfrm>
            <a:off x="601980" y="3842861"/>
            <a:ext cx="227076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526C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zh-CN" sz="1400" dirty="0"/>
          </a:p>
        </p:txBody>
      </p:sp>
      <p:sp>
        <p:nvSpPr>
          <p:cNvPr id="14" name="Text 10"/>
          <p:cNvSpPr/>
          <p:nvPr/>
        </p:nvSpPr>
        <p:spPr>
          <a:xfrm>
            <a:off x="601980" y="4191952"/>
            <a:ext cx="2270760" cy="515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zh-CN" sz="1400" dirty="0"/>
          </a:p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zh-CN" sz="1400" dirty="0"/>
          </a:p>
        </p:txBody>
      </p:sp>
      <p:sp>
        <p:nvSpPr>
          <p:cNvPr id="15" name="Text 11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740"/>
              </a:lnSpc>
              <a:buNone/>
            </a:pPr>
            <a:r>
              <a:rPr lang="zh-CN" altLang="en-US" sz="1200" dirty="0">
                <a:solidFill>
                  <a:srgbClr val="526C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zh-CN" sz="1200" dirty="0"/>
          </a:p>
        </p:txBody>
      </p:sp>
      <p:sp>
        <p:nvSpPr>
          <p:cNvPr id="16" name="Text 12"/>
          <p:cNvSpPr/>
          <p:nvPr/>
        </p:nvSpPr>
        <p:spPr>
          <a:xfrm>
            <a:off x="601980" y="5210175"/>
            <a:ext cx="2270760" cy="220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740"/>
              </a:lnSpc>
              <a:buNone/>
            </a:pPr>
            <a:r>
              <a:rPr lang="zh-CN" altLang="en-US" sz="1200" dirty="0">
                <a:solidFill>
                  <a:srgbClr val="526C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电话：联系电话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601980" y="5621655"/>
            <a:ext cx="10744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7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zh-CN" sz="2000" dirty="0"/>
          </a:p>
        </p:txBody>
      </p:sp>
      <p:sp>
        <p:nvSpPr>
          <p:cNvPr id="18" name="Text 14"/>
          <p:cNvSpPr/>
          <p:nvPr/>
        </p:nvSpPr>
        <p:spPr>
          <a:xfrm>
            <a:off x="601980" y="5995035"/>
            <a:ext cx="107442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C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zh-CN" sz="1200" dirty="0"/>
          </a:p>
        </p:txBody>
      </p:sp>
      <p:sp>
        <p:nvSpPr>
          <p:cNvPr id="19" name="Text 15"/>
          <p:cNvSpPr/>
          <p:nvPr/>
        </p:nvSpPr>
        <p:spPr>
          <a:xfrm>
            <a:off x="1798320" y="5621655"/>
            <a:ext cx="10744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7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zh-CN" sz="2000" dirty="0"/>
          </a:p>
        </p:txBody>
      </p:sp>
      <p:sp>
        <p:nvSpPr>
          <p:cNvPr id="20" name="Text 16"/>
          <p:cNvSpPr/>
          <p:nvPr/>
        </p:nvSpPr>
        <p:spPr>
          <a:xfrm>
            <a:off x="1798320" y="5995035"/>
            <a:ext cx="107442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C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zh-CN" sz="1200" dirty="0"/>
          </a:p>
        </p:txBody>
      </p:sp>
      <p:sp>
        <p:nvSpPr>
          <p:cNvPr id="21" name="Shape 17"/>
          <p:cNvSpPr/>
          <p:nvPr/>
        </p:nvSpPr>
        <p:spPr>
          <a:xfrm>
            <a:off x="3276600" y="1463040"/>
            <a:ext cx="8473440" cy="1680686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CDE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284220" y="1470660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zh-CN" sz="1800" dirty="0"/>
          </a:p>
        </p:txBody>
      </p:sp>
      <p:sp>
        <p:nvSpPr>
          <p:cNvPr id="24" name="Shape 20"/>
          <p:cNvSpPr/>
          <p:nvPr/>
        </p:nvSpPr>
        <p:spPr>
          <a:xfrm>
            <a:off x="328422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284220" y="2188131"/>
            <a:ext cx="276856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5660" y="1896070"/>
            <a:ext cx="25856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起止时间</a:t>
            </a:r>
            <a:endParaRPr lang="zh-CN" sz="1600" dirty="0"/>
          </a:p>
        </p:txBody>
      </p:sp>
      <p:sp>
        <p:nvSpPr>
          <p:cNvPr id="27" name="Shape 23"/>
          <p:cNvSpPr/>
          <p:nvPr/>
        </p:nvSpPr>
        <p:spPr>
          <a:xfrm>
            <a:off x="612898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28980" y="2188131"/>
            <a:ext cx="276856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220420" y="1896070"/>
            <a:ext cx="25856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学校／工作单位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8973741" y="1870710"/>
            <a:ext cx="2768679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973741" y="2188131"/>
            <a:ext cx="2768679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065181" y="1896070"/>
            <a:ext cx="258579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学位／专业／职务</a:t>
            </a:r>
            <a:endParaRPr lang="zh-CN" sz="1600" dirty="0"/>
          </a:p>
        </p:txBody>
      </p:sp>
      <p:sp>
        <p:nvSpPr>
          <p:cNvPr id="33" name="Shape 29"/>
          <p:cNvSpPr/>
          <p:nvPr/>
        </p:nvSpPr>
        <p:spPr>
          <a:xfrm>
            <a:off x="328422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375660" y="2236351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zh-CN" sz="1400" dirty="0"/>
          </a:p>
        </p:txBody>
      </p:sp>
      <p:sp>
        <p:nvSpPr>
          <p:cNvPr id="35" name="Shape 31"/>
          <p:cNvSpPr/>
          <p:nvPr/>
        </p:nvSpPr>
        <p:spPr>
          <a:xfrm>
            <a:off x="612898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220420" y="2236351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zh-CN" sz="1400" dirty="0"/>
          </a:p>
        </p:txBody>
      </p:sp>
      <p:sp>
        <p:nvSpPr>
          <p:cNvPr id="37" name="Shape 33"/>
          <p:cNvSpPr/>
          <p:nvPr/>
        </p:nvSpPr>
        <p:spPr>
          <a:xfrm>
            <a:off x="8973741" y="2203371"/>
            <a:ext cx="2768679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065181" y="2236351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zh-CN" sz="1400" dirty="0"/>
          </a:p>
        </p:txBody>
      </p:sp>
      <p:sp>
        <p:nvSpPr>
          <p:cNvPr id="39" name="Shape 35"/>
          <p:cNvSpPr/>
          <p:nvPr/>
        </p:nvSpPr>
        <p:spPr>
          <a:xfrm>
            <a:off x="328422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3375660" y="2544723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612898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220420" y="2544723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zh-CN" sz="1400" dirty="0"/>
          </a:p>
        </p:txBody>
      </p:sp>
      <p:sp>
        <p:nvSpPr>
          <p:cNvPr id="43" name="Shape 39"/>
          <p:cNvSpPr/>
          <p:nvPr/>
        </p:nvSpPr>
        <p:spPr>
          <a:xfrm>
            <a:off x="8973741" y="2519363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065181" y="2544723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zh-CN" sz="1400" dirty="0"/>
          </a:p>
        </p:txBody>
      </p:sp>
      <p:sp>
        <p:nvSpPr>
          <p:cNvPr id="45" name="Shape 41"/>
          <p:cNvSpPr/>
          <p:nvPr/>
        </p:nvSpPr>
        <p:spPr>
          <a:xfrm>
            <a:off x="328422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375660" y="2853095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zh-CN" sz="1400" dirty="0"/>
          </a:p>
        </p:txBody>
      </p:sp>
      <p:sp>
        <p:nvSpPr>
          <p:cNvPr id="47" name="Shape 43"/>
          <p:cNvSpPr/>
          <p:nvPr/>
        </p:nvSpPr>
        <p:spPr>
          <a:xfrm>
            <a:off x="612898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6220420" y="2853095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zh-CN" sz="1400" dirty="0"/>
          </a:p>
        </p:txBody>
      </p:sp>
      <p:sp>
        <p:nvSpPr>
          <p:cNvPr id="49" name="Shape 45"/>
          <p:cNvSpPr/>
          <p:nvPr/>
        </p:nvSpPr>
        <p:spPr>
          <a:xfrm>
            <a:off x="8973741" y="2827734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9065181" y="2853095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zh-CN" sz="1400" dirty="0"/>
          </a:p>
        </p:txBody>
      </p:sp>
      <p:sp>
        <p:nvSpPr>
          <p:cNvPr id="51" name="Shape 47"/>
          <p:cNvSpPr/>
          <p:nvPr/>
        </p:nvSpPr>
        <p:spPr>
          <a:xfrm>
            <a:off x="3276600" y="3276600"/>
            <a:ext cx="8473440" cy="1364933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CDEEA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3284220" y="3284220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3406140" y="3329940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zh-CN" sz="1800" dirty="0"/>
          </a:p>
        </p:txBody>
      </p:sp>
      <p:sp>
        <p:nvSpPr>
          <p:cNvPr id="54" name="Shape 50"/>
          <p:cNvSpPr/>
          <p:nvPr/>
        </p:nvSpPr>
        <p:spPr>
          <a:xfrm>
            <a:off x="32842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406140" y="3729990"/>
            <a:ext cx="39852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zh-CN" sz="1600" dirty="0"/>
          </a:p>
        </p:txBody>
      </p:sp>
      <p:sp>
        <p:nvSpPr>
          <p:cNvPr id="56" name="Shape 52"/>
          <p:cNvSpPr/>
          <p:nvPr/>
        </p:nvSpPr>
        <p:spPr>
          <a:xfrm>
            <a:off x="75133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/>
          <p:nvPr/>
        </p:nvSpPr>
        <p:spPr>
          <a:xfrm>
            <a:off x="7635240" y="3729990"/>
            <a:ext cx="39852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zh-CN" sz="1600" dirty="0"/>
          </a:p>
        </p:txBody>
      </p:sp>
      <p:sp>
        <p:nvSpPr>
          <p:cNvPr id="58" name="Shape 54"/>
          <p:cNvSpPr/>
          <p:nvPr/>
        </p:nvSpPr>
        <p:spPr>
          <a:xfrm>
            <a:off x="32842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406140" y="4060150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学术组织／期刊：职务</a:t>
            </a:r>
            <a:endParaRPr lang="zh-CN" sz="1400" dirty="0"/>
          </a:p>
        </p:txBody>
      </p:sp>
      <p:sp>
        <p:nvSpPr>
          <p:cNvPr id="60" name="Shape 56"/>
          <p:cNvSpPr/>
          <p:nvPr/>
        </p:nvSpPr>
        <p:spPr>
          <a:xfrm>
            <a:off x="75133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7635240" y="4060150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项目：名称、本人角色</a:t>
            </a:r>
            <a:endParaRPr lang="zh-CN" sz="1400" dirty="0"/>
          </a:p>
        </p:txBody>
      </p:sp>
      <p:sp>
        <p:nvSpPr>
          <p:cNvPr id="62" name="Shape 58"/>
          <p:cNvSpPr/>
          <p:nvPr/>
        </p:nvSpPr>
        <p:spPr>
          <a:xfrm>
            <a:off x="32842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3406140" y="4359712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任期／服务事项：时间</a:t>
            </a:r>
            <a:endParaRPr lang="zh-CN" sz="1400" dirty="0"/>
          </a:p>
        </p:txBody>
      </p:sp>
      <p:sp>
        <p:nvSpPr>
          <p:cNvPr id="64" name="Shape 60"/>
          <p:cNvSpPr/>
          <p:nvPr/>
        </p:nvSpPr>
        <p:spPr>
          <a:xfrm>
            <a:off x="75133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7635240" y="4359712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奖项：名称、年份／排名</a:t>
            </a:r>
            <a:endParaRPr lang="zh-CN" sz="1400" dirty="0"/>
          </a:p>
        </p:txBody>
      </p:sp>
      <p:sp>
        <p:nvSpPr>
          <p:cNvPr id="66" name="Shape 62"/>
          <p:cNvSpPr/>
          <p:nvPr/>
        </p:nvSpPr>
        <p:spPr>
          <a:xfrm>
            <a:off x="3276600" y="4763453"/>
            <a:ext cx="8473440" cy="1469708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CDEEA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284220" y="4771073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3406140" y="4816793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zh-CN" sz="1800" dirty="0"/>
          </a:p>
        </p:txBody>
      </p:sp>
      <p:sp>
        <p:nvSpPr>
          <p:cNvPr id="69" name="Shape 65"/>
          <p:cNvSpPr/>
          <p:nvPr/>
        </p:nvSpPr>
        <p:spPr>
          <a:xfrm>
            <a:off x="32842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34061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zh-CN" sz="1600" dirty="0"/>
          </a:p>
        </p:txBody>
      </p:sp>
      <p:sp>
        <p:nvSpPr>
          <p:cNvPr id="71" name="Shape 67"/>
          <p:cNvSpPr/>
          <p:nvPr/>
        </p:nvSpPr>
        <p:spPr>
          <a:xfrm>
            <a:off x="61036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62255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zh-CN" sz="1600" dirty="0"/>
          </a:p>
        </p:txBody>
      </p:sp>
      <p:sp>
        <p:nvSpPr>
          <p:cNvPr id="73" name="Shape 69"/>
          <p:cNvSpPr/>
          <p:nvPr/>
        </p:nvSpPr>
        <p:spPr>
          <a:xfrm>
            <a:off x="89230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/>
          <p:nvPr/>
        </p:nvSpPr>
        <p:spPr>
          <a:xfrm>
            <a:off x="90449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zh-CN" sz="1600" dirty="0"/>
          </a:p>
        </p:txBody>
      </p:sp>
      <p:sp>
        <p:nvSpPr>
          <p:cNvPr id="75" name="Shape 71"/>
          <p:cNvSpPr/>
          <p:nvPr/>
        </p:nvSpPr>
        <p:spPr>
          <a:xfrm>
            <a:off x="32842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34061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研究对象：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</a:t>
            </a:r>
            <a:endParaRPr lang="zh-CN" sz="1400" dirty="0"/>
          </a:p>
        </p:txBody>
      </p:sp>
      <p:sp>
        <p:nvSpPr>
          <p:cNvPr id="77" name="Shape 73"/>
          <p:cNvSpPr/>
          <p:nvPr/>
        </p:nvSpPr>
        <p:spPr>
          <a:xfrm>
            <a:off x="61036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74"/>
          <p:cNvSpPr/>
          <p:nvPr/>
        </p:nvSpPr>
        <p:spPr>
          <a:xfrm>
            <a:off x="62255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主要方法：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技术特点：</a:t>
            </a:r>
            <a:endParaRPr lang="zh-CN" sz="1400" dirty="0"/>
          </a:p>
        </p:txBody>
      </p:sp>
      <p:sp>
        <p:nvSpPr>
          <p:cNvPr id="79" name="Shape 75"/>
          <p:cNvSpPr/>
          <p:nvPr/>
        </p:nvSpPr>
        <p:spPr>
          <a:xfrm>
            <a:off x="89230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90449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研究目标：</a:t>
            </a:r>
            <a:endParaRPr lang="zh-CN" sz="1400" dirty="0"/>
          </a:p>
        </p:txBody>
      </p:sp>
      <p:sp>
        <p:nvSpPr>
          <p:cNvPr id="81" name="Text 7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82" name="Text 7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zh-CN" sz="1020" dirty="0"/>
          </a:p>
        </p:txBody>
      </p:sp>
      <p:sp>
        <p:nvSpPr>
          <p:cNvPr id="83" name="Text 7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zh-CN" sz="1020" dirty="0"/>
          </a:p>
        </p:txBody>
      </p:sp>
      <p:sp>
        <p:nvSpPr>
          <p:cNvPr id="84" name="Shape 8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CCDEEA"/>
          </a:solidFill>
          <a:ln w="12700">
            <a:solidFill>
              <a:srgbClr val="CCDEE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85800" y="2515910"/>
            <a:ext cx="10820400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zh-CN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313509"/>
            <a:ext cx="1082040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zh-CN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zh-CN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zh-CN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zh-CN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北京科技大学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北京科技大学_WebSlide科研汇报示例</dc:title>
  <dc:subject>本地模块化科研汇报</dc:subject>
  <dc:creator>Web Slide</dc:creator>
  <cp:lastModifiedBy>Web Slide</cp:lastModifiedBy>
  <cp:revision>1</cp:revision>
  <dcterms:created xsi:type="dcterms:W3CDTF">2026-10-26T16:06:25Z</dcterms:created>
  <dcterms:modified xsi:type="dcterms:W3CDTF">2026-10-26T16:06:25Z</dcterms:modified>
</cp:coreProperties>
</file>