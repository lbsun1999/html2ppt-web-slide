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开场说明：这是一套可编辑的工具使用示例，不是学校官方发布的演示模板。配色从用户提供的校徽中取样。先说明需求，再演示编辑、媒体、备注和交付流程。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介绍四个章节。目录名称来自过渡页，章节下面的补充说明可独立修改。单击目录标题可跳转。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本章重点不是装饰，而是统一主题、字号和页面结构；让听众能迅速定位当前章节与核心结论。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讲解顺序：先看左栏的内容筛选，再看中栏的信息层级，最后看右栏的检查动作。序号使用 20 pt Times New Roman 加粗；大标题、正文和注释各有明确层级。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表格是字号规范示例，px 按常用 PPT 字号折算并四舍五入。这里的青蓝配色是从现有图形资源取样，不声称是学校官方完整 VI 标准。图标题 14 pt，表格 8–14 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先说明顶部信息的作用，再强调可选项：页首句、总结条与来源。提示条展示 C1 无标题备注样式，它与演讲者备注不是同一件事。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本项目不是把 AI 和编辑器分成两套互不相通的文件。AI 使用结构化模块生成可编辑 HTML，人工修改后仍可把 HTML 交给 AI 继续加工。不要把截图当作可编辑源文件。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依据丽水学院官网学校概况及历史沿革。首图官网标注为1906年的处州学堂，作为源流资料配图；第二图为1946年重建处州师范学校。后两图为现代校园及图书馆，不代表2004年或对应阶段的实景。全部照片来源见当前模板包 assets/manifest.json。实际研究现状汇报请替换为领域文献、方法演进及研究差距。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这一章结合真实控件介绍四种模块、十种文本样式、媒体自定义比例与表格。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这页同时展示默认、A1、A2、A3 四种基本样式。这里均为可编辑文字模块；真正的表格和媒体模块会在后面两页示范。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可演示双击打开样式编号列表：只悬停不会改变当前样式，点击应用才提交。B1 的白框左沿与折角右沿对齐；C3 的数字不是装饰字体。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说明两种“备注”的区别：C1 是幻灯片上的补充文本块，会出现在导出页面里；演讲者页面备注位于画布外，仅在正常视角显示，PPTX 中进入备注页。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实际演示可双击左侧占位符。图片和视频都使用同一个媒体弹窗；只有几何图形允许单向伸缩。视频能否播放取决于目标设备的编解码支持。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这页实际使用丽水学院的两份资源，既展示标志也验证不同宽高比的等高布局。完整标识不能拉伸；左右画面等高，宽度不同是预期结果。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此页参考共同母版主图布局，右侧采用三个实质说明区，避免只放两个短段造成大块空白。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本页以原模板图像展示双图版式，不构成实验对比。实际研究中应统一坐标、时间范围和颜色映射，不能截取不利部分以改变解释。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这里没有真实实验数据。提醒听众：↑ 表示指标越大越好，↓ 表示越小越好；数字两侧要有半个字符以上间距。导入 Excel 时读取已保存的显示值，不执行宏。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伪代码是教学示意，不代表适用于所有目标函数的收敛保证。实际算法应提供约束处理、初始化依据和复杂度说明。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这一章介绍单页、多页浏览、逐页备注和手动双窗口演示。本轮不自动检测或指定系统显示屏。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这页适合实际切换工具栏视图。重复点击编辑文字或编辑模块可进入无编辑选中状态，不需要通过放映才能看干净的页面。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演示备注开关。可以把这段内容改成自己的讲解提纲，切换到其他页，再回来确认备注独立保存。PPTX 导出后，可在备注区域继续修改。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本轮按用户偏好不做自动选屏。若弹出窗口被浏览器拦截，请允许本站弹窗，或者使用原有当前窗口全屏。观众窗口只接收移除了 notes 字段的文稿。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此页参考共同母版的总结／计划排布。表格与下方文字块不能覆盖，左右整体下沿对齐；条目保持通常不超过四点。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最后确认 HTML、PDF 和 PPTX 各自的用途，以及哪些内容会被保存或导出。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交付前做一遍从封面到尾页的放映。PDF 关注稳定阅读，PPTX 关注可编辑性和目标设备兼容。不要把浏览器看起来正确当成导出文件一定正确。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资源索引链接按用户指定名称提供，发布时间标注由用户提供；实际标识文件应优先核对学校官方来源。不要把这个第三方索引视为学校官方 VI 规范。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结束时总结三个关键词：一致、可读、可编辑。邀请听众提出对内容与工具使用的建议。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20.xml"/><Relationship Id="rId5" Type="http://schemas.openxmlformats.org/officeDocument/2006/relationships/slide" Target="slide25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5" Type="http://schemas.openxmlformats.org/officeDocument/2006/relationships/hyperlink" Target="https://www.lsu.edu.cn/47/list.htm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su.edu.cn/2017/0406/c51a216866/page.htm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lsu.edu.cn/51/list.htm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4" Type="http://schemas.openxmlformats.org/officeDocument/2006/relationships/slide" Target="slide28.xm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cdz-111/articles/22432508" TargetMode="Externa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9843" y="438150"/>
            <a:ext cx="3272314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185630"/>
            <a:ext cx="10820400" cy="1320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把研究讲清楚</a:t>
            </a:r>
            <a:endParaRPr lang="zh-CN" sz="4000" dirty="0"/>
          </a:p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制作与演示指南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643670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主题定制 · 模块排版 · 媒体编排 · 备注与放映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41869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253752" y="467106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41869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253752" y="509778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41869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253752" y="552450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汇报概览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从一页内容到完整演示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按制作、编排、演示与交付四个环节组织内容，章节标题与过渡页保持同步。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Text 9">
            <a:hlinkClick r:id="rId2" tooltip="" action="ppaction://hlinksldjump"/>
          </p:cNvPr>
          <p:cNvSpPr/>
          <p:nvPr/>
        </p:nvSpPr>
        <p:spPr>
          <a:xfrm>
            <a:off x="57912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制作起步</a:t>
            </a:r>
            <a:endParaRPr lang="zh-CN" sz="2000" dirty="0"/>
          </a:p>
        </p:txBody>
      </p:sp>
      <p:sp>
        <p:nvSpPr>
          <p:cNvPr id="14" name="Text 10"/>
          <p:cNvSpPr/>
          <p:nvPr/>
        </p:nvSpPr>
        <p:spPr>
          <a:xfrm>
            <a:off x="57912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明确受众、章节目标与材料来源。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统一主题、字号和页面信息层级。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用研究现状建立后续讨论背景。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31435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03–08</a:t>
            </a:r>
            <a:endParaRPr lang="zh-CN" sz="1020" dirty="0"/>
          </a:p>
        </p:txBody>
      </p:sp>
      <p:sp>
        <p:nvSpPr>
          <p:cNvPr id="18" name="Shape 14"/>
          <p:cNvSpPr/>
          <p:nvPr/>
        </p:nvSpPr>
        <p:spPr>
          <a:xfrm>
            <a:off x="6187440" y="1950720"/>
            <a:ext cx="556260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" name="Text 15">
            <a:hlinkClick r:id="rId3" tooltip="" action="ppaction://hlinksldjump"/>
          </p:cNvPr>
          <p:cNvSpPr/>
          <p:nvPr/>
        </p:nvSpPr>
        <p:spPr>
          <a:xfrm>
            <a:off x="632460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模块与内容</a:t>
            </a:r>
            <a:endParaRPr lang="zh-CN" sz="2000" dirty="0"/>
          </a:p>
        </p:txBody>
      </p:sp>
      <p:sp>
        <p:nvSpPr>
          <p:cNvPr id="20" name="Text 16"/>
          <p:cNvSpPr/>
          <p:nvPr/>
        </p:nvSpPr>
        <p:spPr>
          <a:xfrm>
            <a:off x="632460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按问题选择文字、媒体和表格。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32460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通过公式与伪代码解释方法细节。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2460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对照证据，说明适用条件和限制。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1105983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09–19</a:t>
            </a:r>
            <a:endParaRPr lang="zh-CN" sz="1020" dirty="0"/>
          </a:p>
        </p:txBody>
      </p:sp>
      <p:sp>
        <p:nvSpPr>
          <p:cNvPr id="24" name="Shape 20"/>
          <p:cNvSpPr/>
          <p:nvPr/>
        </p:nvSpPr>
        <p:spPr>
          <a:xfrm>
            <a:off x="441960" y="4152900"/>
            <a:ext cx="556260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5" name="Text 21">
            <a:hlinkClick r:id="rId4" tooltip="" action="ppaction://hlinksldjump"/>
          </p:cNvPr>
          <p:cNvSpPr/>
          <p:nvPr/>
        </p:nvSpPr>
        <p:spPr>
          <a:xfrm>
            <a:off x="57912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预览与演示</a:t>
            </a:r>
            <a:endParaRPr lang="zh-CN" sz="2000" dirty="0"/>
          </a:p>
        </p:txBody>
      </p:sp>
      <p:sp>
        <p:nvSpPr>
          <p:cNvPr id="26" name="Text 22"/>
          <p:cNvSpPr/>
          <p:nvPr/>
        </p:nvSpPr>
        <p:spPr>
          <a:xfrm>
            <a:off x="57912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用三种视图核查细节与阅读顺序。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7912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为每页补充讲解提示和过渡备注。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57912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试讲并检查双窗口的画面与翻页。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531435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20–24</a:t>
            </a:r>
            <a:endParaRPr lang="zh-CN" sz="1020" dirty="0"/>
          </a:p>
        </p:txBody>
      </p:sp>
      <p:sp>
        <p:nvSpPr>
          <p:cNvPr id="30" name="Shape 26"/>
          <p:cNvSpPr/>
          <p:nvPr/>
        </p:nvSpPr>
        <p:spPr>
          <a:xfrm>
            <a:off x="6187440" y="4152900"/>
            <a:ext cx="556260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1" name="Text 27">
            <a:hlinkClick r:id="rId5" tooltip="" action="ppaction://hlinksldjump"/>
          </p:cNvPr>
          <p:cNvSpPr/>
          <p:nvPr/>
        </p:nvSpPr>
        <p:spPr>
          <a:xfrm>
            <a:off x="632460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保存与交付</a:t>
            </a:r>
            <a:endParaRPr lang="zh-CN" sz="2000" dirty="0"/>
          </a:p>
        </p:txBody>
      </p:sp>
      <p:sp>
        <p:nvSpPr>
          <p:cNvPr id="32" name="Text 28"/>
          <p:cNvSpPr/>
          <p:nvPr/>
        </p:nvSpPr>
        <p:spPr>
          <a:xfrm>
            <a:off x="632460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保存可继续修改的 HTML 源稿。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632460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 PDF 与 PPTX 的实际效果。</a:t>
            </a:r>
            <a:endParaRPr lang="zh-CN" sz="1600" dirty="0"/>
          </a:p>
        </p:txBody>
      </p:sp>
      <p:sp>
        <p:nvSpPr>
          <p:cNvPr id="34" name="Text 30"/>
          <p:cNvSpPr/>
          <p:nvPr/>
        </p:nvSpPr>
        <p:spPr>
          <a:xfrm>
            <a:off x="632460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核对字体、媒体与引用链接。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1105983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25–26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先统一主题与文字口径，再安排每页需要回答的问题。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先讲清楚，再安排版式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把一页内容压缩成一个问题、几条证据和一句结论，版式随信息结构选择。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明确本页任务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先写清这一页回答什么；确定听众需要了解的背景。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区分核心结论与补充说明；为每组材料设置分项标题。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避免一页同时讨论多件事；保留能够支持结论的证据。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将推导细节写进页面备注。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从问题开始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正文固定 16 pt，先减内容再加密。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建立信息层级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主标题指出当前研究主题；页首句交代阅读这页的线索。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32435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分项标题概括各区域内容；正文逐条解释过程和证据。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94954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图标题说明图像表达的对象；来源脚注保留可追踪的链接。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465558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总结条提炼这一页的发现。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506956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让层级可见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5483543"/>
            <a:ext cx="33426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标题靠字号与位置分层，不只靠加粗。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完成阅读检查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检查标题是否清晰且简洁；确认并列段落的语义一致。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避免末行只剩少量孤字；复查图注与图像之间的距离。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确认模块没有遮挡和越界；把长解释转移到讲解备注。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最后预览一次完整的阅读顺序。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从听众出发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每次改动后复查，避免只看局部。</a:t>
            </a:r>
            <a:endParaRPr lang="zh-CN" sz="1400" dirty="0"/>
          </a:p>
        </p:txBody>
      </p:sp>
      <p:sp>
        <p:nvSpPr>
          <p:cNvPr id="48" name="Text 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49" name="Text 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50" name="Text 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30</a:t>
            </a:r>
            <a:endParaRPr lang="zh-CN" sz="1020" dirty="0"/>
          </a:p>
        </p:txBody>
      </p:sp>
      <p:sp>
        <p:nvSpPr>
          <p:cNvPr id="51" name="Shape 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主题色彩与字号口径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以校徽中的青色作为唯一主题色，配合深色文字与同色浅底，统一标题、表头和强调区域。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2183130" cy="35040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1747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781" y="2004060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文字角色</a:t>
            </a:r>
            <a:endParaRPr lang="zh-CN" sz="1400" dirty="0"/>
          </a:p>
        </p:txBody>
      </p:sp>
      <p:sp>
        <p:nvSpPr>
          <p:cNvPr id="16" name="Shape 12"/>
          <p:cNvSpPr/>
          <p:nvPr/>
        </p:nvSpPr>
        <p:spPr>
          <a:xfrm>
            <a:off x="2625090" y="1950720"/>
            <a:ext cx="2183130" cy="35040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2509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1772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字号</a:t>
            </a:r>
            <a:endParaRPr lang="zh-CN" sz="1400" dirty="0"/>
          </a:p>
        </p:txBody>
      </p:sp>
      <p:sp>
        <p:nvSpPr>
          <p:cNvPr id="20" name="Shape 16"/>
          <p:cNvSpPr/>
          <p:nvPr/>
        </p:nvSpPr>
        <p:spPr>
          <a:xfrm>
            <a:off x="4808220" y="1950720"/>
            <a:ext cx="2183130" cy="35040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822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8373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0085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px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44196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196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61747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781" y="2358271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封面与尾页标题</a:t>
            </a:r>
            <a:endParaRPr lang="zh-CN" sz="1400" dirty="0"/>
          </a:p>
        </p:txBody>
      </p:sp>
      <p:sp>
        <p:nvSpPr>
          <p:cNvPr id="28" name="Shape 24"/>
          <p:cNvSpPr/>
          <p:nvPr/>
        </p:nvSpPr>
        <p:spPr>
          <a:xfrm>
            <a:off x="262509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62509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80060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1772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pt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480822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0822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98373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0085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px</a:t>
            </a:r>
            <a:endParaRPr lang="zh-CN" sz="1400" dirty="0"/>
          </a:p>
        </p:txBody>
      </p:sp>
      <p:sp>
        <p:nvSpPr>
          <p:cNvPr id="36" name="Shape 32"/>
          <p:cNvSpPr/>
          <p:nvPr/>
        </p:nvSpPr>
        <p:spPr>
          <a:xfrm>
            <a:off x="441960" y="2655332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196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61747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0781" y="2712482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正文页主标题</a:t>
            </a:r>
            <a:endParaRPr lang="zh-CN" sz="1400" dirty="0"/>
          </a:p>
        </p:txBody>
      </p:sp>
      <p:sp>
        <p:nvSpPr>
          <p:cNvPr id="40" name="Shape 36"/>
          <p:cNvSpPr/>
          <p:nvPr/>
        </p:nvSpPr>
        <p:spPr>
          <a:xfrm>
            <a:off x="2625090" y="2655332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62509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0060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71772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pt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4808220" y="2655332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80822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98373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0085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px</a:t>
            </a:r>
            <a:endParaRPr lang="zh-CN" sz="1400" dirty="0"/>
          </a:p>
        </p:txBody>
      </p:sp>
      <p:sp>
        <p:nvSpPr>
          <p:cNvPr id="48" name="Shape 44"/>
          <p:cNvSpPr/>
          <p:nvPr/>
        </p:nvSpPr>
        <p:spPr>
          <a:xfrm>
            <a:off x="44196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4196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61747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30781" y="3066693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 / C3 序号</a:t>
            </a:r>
            <a:endParaRPr lang="zh-CN" sz="1400" dirty="0"/>
          </a:p>
        </p:txBody>
      </p:sp>
      <p:sp>
        <p:nvSpPr>
          <p:cNvPr id="52" name="Shape 48"/>
          <p:cNvSpPr/>
          <p:nvPr/>
        </p:nvSpPr>
        <p:spPr>
          <a:xfrm>
            <a:off x="262509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262509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80060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71772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pt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480822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80822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98373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90085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px</a:t>
            </a:r>
            <a:endParaRPr lang="zh-CN" sz="1400" dirty="0"/>
          </a:p>
        </p:txBody>
      </p:sp>
      <p:sp>
        <p:nvSpPr>
          <p:cNvPr id="60" name="Shape 56"/>
          <p:cNvSpPr/>
          <p:nvPr/>
        </p:nvSpPr>
        <p:spPr>
          <a:xfrm>
            <a:off x="441960" y="3363754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4196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61747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30781" y="3420904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</a:t>
            </a:r>
            <a:endParaRPr lang="zh-CN" sz="1400" dirty="0"/>
          </a:p>
        </p:txBody>
      </p:sp>
      <p:sp>
        <p:nvSpPr>
          <p:cNvPr id="64" name="Shape 60"/>
          <p:cNvSpPr/>
          <p:nvPr/>
        </p:nvSpPr>
        <p:spPr>
          <a:xfrm>
            <a:off x="2625090" y="3363754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262509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80060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71772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pt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4808220" y="3363754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80822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98373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490085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px</a:t>
            </a:r>
            <a:endParaRPr lang="zh-CN" sz="1400" dirty="0"/>
          </a:p>
        </p:txBody>
      </p:sp>
      <p:sp>
        <p:nvSpPr>
          <p:cNvPr id="72" name="Shape 68"/>
          <p:cNvSpPr/>
          <p:nvPr/>
        </p:nvSpPr>
        <p:spPr>
          <a:xfrm>
            <a:off x="44196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44196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261747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30781" y="3775115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普通正文 / 总结条</a:t>
            </a:r>
            <a:endParaRPr lang="zh-CN" sz="1400" dirty="0"/>
          </a:p>
        </p:txBody>
      </p:sp>
      <p:sp>
        <p:nvSpPr>
          <p:cNvPr id="76" name="Shape 72"/>
          <p:cNvSpPr/>
          <p:nvPr/>
        </p:nvSpPr>
        <p:spPr>
          <a:xfrm>
            <a:off x="262509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62509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80060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71772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pt</a:t>
            </a:r>
            <a:endParaRPr lang="zh-CN" sz="1400" dirty="0"/>
          </a:p>
        </p:txBody>
      </p:sp>
      <p:sp>
        <p:nvSpPr>
          <p:cNvPr id="80" name="Shape 76"/>
          <p:cNvSpPr/>
          <p:nvPr/>
        </p:nvSpPr>
        <p:spPr>
          <a:xfrm>
            <a:off x="480822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480822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98373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490085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px</a:t>
            </a:r>
            <a:endParaRPr lang="zh-CN" sz="1400" dirty="0"/>
          </a:p>
        </p:txBody>
      </p:sp>
      <p:sp>
        <p:nvSpPr>
          <p:cNvPr id="84" name="Shape 80"/>
          <p:cNvSpPr/>
          <p:nvPr/>
        </p:nvSpPr>
        <p:spPr>
          <a:xfrm>
            <a:off x="441960" y="4072176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196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261747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530781" y="4129326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 / 章节名称</a:t>
            </a:r>
            <a:endParaRPr lang="zh-CN" sz="1400" dirty="0"/>
          </a:p>
        </p:txBody>
      </p:sp>
      <p:sp>
        <p:nvSpPr>
          <p:cNvPr id="88" name="Shape 84"/>
          <p:cNvSpPr/>
          <p:nvPr/>
        </p:nvSpPr>
        <p:spPr>
          <a:xfrm>
            <a:off x="2625090" y="4072176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62509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480060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271772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pt</a:t>
            </a:r>
            <a:endParaRPr lang="zh-CN" sz="1400" dirty="0"/>
          </a:p>
        </p:txBody>
      </p:sp>
      <p:sp>
        <p:nvSpPr>
          <p:cNvPr id="92" name="Shape 88"/>
          <p:cNvSpPr/>
          <p:nvPr/>
        </p:nvSpPr>
        <p:spPr>
          <a:xfrm>
            <a:off x="4808220" y="4072176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480822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698373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490085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px</a:t>
            </a:r>
            <a:endParaRPr lang="zh-CN" sz="1400" dirty="0"/>
          </a:p>
        </p:txBody>
      </p:sp>
      <p:sp>
        <p:nvSpPr>
          <p:cNvPr id="96" name="Shape 92"/>
          <p:cNvSpPr/>
          <p:nvPr/>
        </p:nvSpPr>
        <p:spPr>
          <a:xfrm>
            <a:off x="44196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44196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261747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530781" y="4483537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图注补充说明</a:t>
            </a:r>
            <a:endParaRPr lang="zh-CN" sz="1400" dirty="0"/>
          </a:p>
        </p:txBody>
      </p:sp>
      <p:sp>
        <p:nvSpPr>
          <p:cNvPr id="100" name="Shape 96"/>
          <p:cNvSpPr/>
          <p:nvPr/>
        </p:nvSpPr>
        <p:spPr>
          <a:xfrm>
            <a:off x="262509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62509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480060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71772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pt</a:t>
            </a:r>
            <a:endParaRPr lang="zh-CN" sz="1400" dirty="0"/>
          </a:p>
        </p:txBody>
      </p:sp>
      <p:sp>
        <p:nvSpPr>
          <p:cNvPr id="104" name="Shape 100"/>
          <p:cNvSpPr/>
          <p:nvPr/>
        </p:nvSpPr>
        <p:spPr>
          <a:xfrm>
            <a:off x="480822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80822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98373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490085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px</a:t>
            </a:r>
            <a:endParaRPr lang="zh-CN" sz="1400" dirty="0"/>
          </a:p>
        </p:txBody>
      </p:sp>
      <p:sp>
        <p:nvSpPr>
          <p:cNvPr id="108" name="Shape 104"/>
          <p:cNvSpPr/>
          <p:nvPr/>
        </p:nvSpPr>
        <p:spPr>
          <a:xfrm>
            <a:off x="441960" y="4780598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44196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61747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530781" y="483774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脚注与页码</a:t>
            </a:r>
            <a:endParaRPr lang="zh-CN" sz="1400" dirty="0"/>
          </a:p>
        </p:txBody>
      </p:sp>
      <p:sp>
        <p:nvSpPr>
          <p:cNvPr id="112" name="Shape 108"/>
          <p:cNvSpPr/>
          <p:nvPr/>
        </p:nvSpPr>
        <p:spPr>
          <a:xfrm>
            <a:off x="2625090" y="4780598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262509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80060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271772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pt</a:t>
            </a:r>
            <a:endParaRPr lang="zh-CN" sz="1400" dirty="0"/>
          </a:p>
        </p:txBody>
      </p:sp>
      <p:sp>
        <p:nvSpPr>
          <p:cNvPr id="116" name="Shape 112"/>
          <p:cNvSpPr/>
          <p:nvPr/>
        </p:nvSpPr>
        <p:spPr>
          <a:xfrm>
            <a:off x="4808220" y="4780598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480822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698373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490085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px</a:t>
            </a:r>
            <a:endParaRPr lang="zh-CN" sz="1400" dirty="0"/>
          </a:p>
        </p:txBody>
      </p:sp>
      <p:sp>
        <p:nvSpPr>
          <p:cNvPr id="120" name="Shape 116"/>
          <p:cNvSpPr/>
          <p:nvPr/>
        </p:nvSpPr>
        <p:spPr>
          <a:xfrm>
            <a:off x="44196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44196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261747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530781" y="519195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表格内部文字</a:t>
            </a:r>
            <a:endParaRPr lang="zh-CN" sz="1400" dirty="0"/>
          </a:p>
        </p:txBody>
      </p:sp>
      <p:sp>
        <p:nvSpPr>
          <p:cNvPr id="124" name="Shape 120"/>
          <p:cNvSpPr/>
          <p:nvPr/>
        </p:nvSpPr>
        <p:spPr>
          <a:xfrm>
            <a:off x="262509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262509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480060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71772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8–14 pt</a:t>
            </a:r>
            <a:endParaRPr lang="zh-CN" sz="1400" dirty="0"/>
          </a:p>
        </p:txBody>
      </p:sp>
      <p:sp>
        <p:nvSpPr>
          <p:cNvPr id="128" name="Shape 124"/>
          <p:cNvSpPr/>
          <p:nvPr/>
        </p:nvSpPr>
        <p:spPr>
          <a:xfrm>
            <a:off x="480822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480822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698373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490085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13–23 px</a:t>
            </a:r>
            <a:endParaRPr lang="zh-CN" sz="1400" dirty="0"/>
          </a:p>
        </p:txBody>
      </p:sp>
      <p:sp>
        <p:nvSpPr>
          <p:cNvPr id="132" name="Text 128"/>
          <p:cNvSpPr/>
          <p:nvPr/>
        </p:nvSpPr>
        <p:spPr>
          <a:xfrm>
            <a:off x="441960" y="5584269"/>
            <a:ext cx="65532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此处可以输入表格注释，表格字号根据高度可自适应调整</a:t>
            </a:r>
            <a:endParaRPr lang="zh-CN" sz="1020" dirty="0"/>
          </a:p>
        </p:txBody>
      </p:sp>
      <p:sp>
        <p:nvSpPr>
          <p:cNvPr id="133" name="Shape 129"/>
          <p:cNvSpPr/>
          <p:nvPr/>
        </p:nvSpPr>
        <p:spPr>
          <a:xfrm>
            <a:off x="7178040" y="1950720"/>
            <a:ext cx="457200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7315200" y="207264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配色说明</a:t>
            </a:r>
            <a:endParaRPr lang="zh-CN" sz="1800" dirty="0"/>
          </a:p>
        </p:txBody>
      </p:sp>
      <p:sp>
        <p:nvSpPr>
          <p:cNvPr id="135" name="Text 131"/>
          <p:cNvSpPr/>
          <p:nvPr/>
        </p:nvSpPr>
        <p:spPr>
          <a:xfrm>
            <a:off x="7315200" y="247650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标题、表头与重点线条统一使用主题青色，浅青底用于分组；不另设第二种强调色。</a:t>
            </a:r>
            <a:endParaRPr lang="zh-CN" sz="1600" dirty="0"/>
          </a:p>
        </p:txBody>
      </p:sp>
      <p:sp>
        <p:nvSpPr>
          <p:cNvPr id="136" name="Shape 132"/>
          <p:cNvSpPr/>
          <p:nvPr/>
        </p:nvSpPr>
        <p:spPr>
          <a:xfrm>
            <a:off x="7330440" y="3350181"/>
            <a:ext cx="426720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37" name="Text 133"/>
          <p:cNvSpPr/>
          <p:nvPr/>
        </p:nvSpPr>
        <p:spPr>
          <a:xfrm>
            <a:off x="7315200" y="3479721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换算说明</a:t>
            </a:r>
            <a:endParaRPr lang="zh-CN" sz="1800" dirty="0"/>
          </a:p>
        </p:txBody>
      </p:sp>
      <p:sp>
        <p:nvSpPr>
          <p:cNvPr id="138" name="Text 134"/>
          <p:cNvSpPr/>
          <p:nvPr/>
        </p:nvSpPr>
        <p:spPr>
          <a:xfrm>
            <a:off x="7315200" y="3883581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pt＝画布 px×0.6；CSS pt＝px×0.75，两者口径有差异。</a:t>
            </a:r>
            <a:endParaRPr lang="zh-CN" sz="1600" dirty="0"/>
          </a:p>
        </p:txBody>
      </p:sp>
      <p:sp>
        <p:nvSpPr>
          <p:cNvPr id="139" name="Shape 135"/>
          <p:cNvSpPr/>
          <p:nvPr/>
        </p:nvSpPr>
        <p:spPr>
          <a:xfrm>
            <a:off x="7330440" y="4757380"/>
            <a:ext cx="426720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7315200" y="488692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使用原则</a:t>
            </a:r>
            <a:endParaRPr lang="zh-CN" sz="1800" dirty="0"/>
          </a:p>
        </p:txBody>
      </p:sp>
      <p:sp>
        <p:nvSpPr>
          <p:cNvPr id="141" name="Text 137"/>
          <p:cNvSpPr/>
          <p:nvPr/>
        </p:nvSpPr>
        <p:spPr>
          <a:xfrm>
            <a:off x="7315200" y="529078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正文不因拥挤而自动变小。表格可在 8–14 pt 内自适应。</a:t>
            </a:r>
            <a:endParaRPr lang="zh-CN" sz="1600" dirty="0"/>
          </a:p>
        </p:txBody>
      </p:sp>
      <p:sp>
        <p:nvSpPr>
          <p:cNvPr id="142" name="Text 1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143" name="Text 1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144" name="Text 1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30</a:t>
            </a:r>
            <a:endParaRPr lang="zh-CN" sz="1020" dirty="0"/>
          </a:p>
        </p:txBody>
      </p:sp>
      <p:sp>
        <p:nvSpPr>
          <p:cNvPr id="145" name="Shape 1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页面结构：引导、证据与结论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页首句可以省略；需要总结时，使用独立的主题色总结条，避免压住正文。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97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页眉与首句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过渡页决定后续内容页的章节；左上角章节名称保持单行显示。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正文主标题使用当前主题色。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页首句补充阅读线索；没有合适内容时可以留空。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正文与分割线之间保留呼吸。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9748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总结与来源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总结条提炼关键判断；启用前应给底部预留空间。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左下角脚注可改为团队名称。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350181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右侧来源应说明材料出自何处；引用网页时保留可点击的链接。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备注承载无需印在页内的细节。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76800"/>
            <a:ext cx="5547360" cy="609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41960" y="4876800"/>
            <a:ext cx="45720" cy="6096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6388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72200" y="4876800"/>
            <a:ext cx="5547360" cy="609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172200" y="4876800"/>
            <a:ext cx="45720" cy="6096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29412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先给阅读线索，再呈现证据；用页尾判断收束内容，让来源与备注各司其职。</a:t>
            </a:r>
            <a:endParaRPr lang="zh-CN" sz="1600" dirty="0"/>
          </a:p>
        </p:txBody>
      </p:sp>
      <p:sp>
        <p:nvSpPr>
          <p:cNvPr id="36" name="Text 2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30</a:t>
            </a:r>
            <a:endParaRPr lang="zh-CN" sz="1020" dirty="0"/>
          </a:p>
        </p:txBody>
      </p:sp>
      <p:sp>
        <p:nvSpPr>
          <p:cNvPr id="39" name="Shape 2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生成结构，人工完成精修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负责内容组织与初始布局，人工负责专业判断与最后一轮阅读检查；两端使用同一份 HTML。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整理输入资料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明确受众、汇报时长与章节目标。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提供图表、公式与可核验来源。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标出必须保留的内容和已知限制。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可直接交给 AI 修改。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交付材料清单，写明来源、版本及缺失信息；区分必须展示与只供查阅的资料。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生成并逐页审查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先确定本页问题与信息层级。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292858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每个板块通常不超过四点。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31970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按内容选择公式或图表版式。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371082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复查对齐、孤字与文字遮挡。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425172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4665702"/>
            <a:ext cx="33871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交付初版 HTML，核对章节顺序与页码；标明证据位置和需人工确认的问题。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HTML 继续编辑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手动调整加粗、颜色与行距。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换图后检查裁剪比例与取景。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补充每页讲解备注并试讲一遍。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保存源稿，再导出 PDF 与 PPTX。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交付确认后的源稿与导出文件；逐页试讲，核对字体、媒体播放及引用链接。</a:t>
            </a:r>
            <a:endParaRPr lang="zh-CN" sz="1400" dirty="0"/>
          </a:p>
        </p:txBody>
      </p:sp>
      <p:sp>
        <p:nvSpPr>
          <p:cNvPr id="48" name="Shape 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协作成果是一份可继续编辑的 HTML：材料可追踪，版式可调整，交付前逐页复核。</a:t>
            </a:r>
            <a:endParaRPr lang="zh-CN" sz="1600" dirty="0"/>
          </a:p>
        </p:txBody>
      </p:sp>
      <p:sp>
        <p:nvSpPr>
          <p:cNvPr id="50" name="Text 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示例</a:t>
            </a:r>
            <a:endParaRPr lang="zh-CN" sz="1020" dirty="0"/>
          </a:p>
        </p:txBody>
      </p:sp>
      <p:sp>
        <p:nvSpPr>
          <p:cNvPr id="51" name="Text 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52" name="Text 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30</a:t>
            </a:r>
            <a:endParaRPr lang="zh-CN" sz="1020" dirty="0"/>
          </a:p>
        </p:txBody>
      </p:sp>
      <p:sp>
        <p:nvSpPr>
          <p:cNvPr id="53" name="Shape 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学校概况与办学沿革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从处州师范学堂到丽水学院，学校坚持“明德笃行”，在师范教育基础上拓展多学科办学，面向地方需求推进应用型人才培养与科研服务。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730240"/>
            <a:ext cx="11308080" cy="472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2331720"/>
            <a:ext cx="2613660" cy="3276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2331720"/>
            <a:ext cx="2613660" cy="4419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772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1907年</a:t>
            </a:r>
            <a:endParaRPr lang="zh-CN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2895600"/>
            <a:ext cx="2369820" cy="11559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72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办学源流可追溯至1907年创办的处州师范学堂。以师范教育为起点，逐步形成服务地方教育发展的办学传统。</a:t>
            </a:r>
            <a:endParaRPr lang="zh-CN" sz="1400" dirty="0"/>
          </a:p>
        </p:txBody>
      </p:sp>
      <p:sp>
        <p:nvSpPr>
          <p:cNvPr id="18" name="Text 12"/>
          <p:cNvSpPr/>
          <p:nvPr/>
        </p:nvSpPr>
        <p:spPr>
          <a:xfrm>
            <a:off x="83820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师范薪火初传</a:t>
            </a:r>
            <a:endParaRPr lang="zh-CN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331720"/>
            <a:ext cx="30480" cy="363474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87502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421380" y="2331720"/>
            <a:ext cx="2613660" cy="3276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3421380" y="2331720"/>
            <a:ext cx="2613660" cy="4419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54330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1946年</a:t>
            </a:r>
            <a:endParaRPr lang="zh-CN" sz="2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895600"/>
            <a:ext cx="2369820" cy="115597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4330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抗战胜利后，在云和重建浙江省处州师范学校。此后迁回丽水，在办学条件恢复中延续师范教育传统与人才培养。</a:t>
            </a:r>
            <a:endParaRPr lang="zh-CN" sz="1400" dirty="0"/>
          </a:p>
        </p:txBody>
      </p:sp>
      <p:sp>
        <p:nvSpPr>
          <p:cNvPr id="26" name="Text 17"/>
          <p:cNvSpPr/>
          <p:nvPr/>
        </p:nvSpPr>
        <p:spPr>
          <a:xfrm>
            <a:off x="357378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重建延续文脉</a:t>
            </a:r>
            <a:endParaRPr lang="zh-CN" sz="18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2331720"/>
            <a:ext cx="30480" cy="3634740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9940" y="5875020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156960" y="2331720"/>
            <a:ext cx="2613660" cy="3276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6156960" y="2331720"/>
            <a:ext cx="2613660" cy="4419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627888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2004年</a:t>
            </a:r>
            <a:endParaRPr lang="zh-CN" sz="24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880" y="2895600"/>
            <a:ext cx="2369820" cy="115597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27888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经教育部批准，学校升格更名为丽水学院。在原有办学基础上拓展本科教育，逐步形成多学科协调发展的格局。</a:t>
            </a:r>
            <a:endParaRPr lang="zh-CN" sz="1400" dirty="0"/>
          </a:p>
        </p:txBody>
      </p:sp>
      <p:sp>
        <p:nvSpPr>
          <p:cNvPr id="34" name="Text 22"/>
          <p:cNvSpPr/>
          <p:nvPr/>
        </p:nvSpPr>
        <p:spPr>
          <a:xfrm>
            <a:off x="630936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升本拓展格局</a:t>
            </a:r>
            <a:endParaRPr lang="zh-CN" sz="1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1720" y="2331720"/>
            <a:ext cx="30480" cy="3634740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5520" y="5875020"/>
            <a:ext cx="182880" cy="18288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8892540" y="2331720"/>
            <a:ext cx="2613660" cy="3276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8" name="Shape 24"/>
          <p:cNvSpPr/>
          <p:nvPr/>
        </p:nvSpPr>
        <p:spPr>
          <a:xfrm>
            <a:off x="8892540" y="2331720"/>
            <a:ext cx="2613660" cy="4419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901446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新时代</a:t>
            </a:r>
            <a:endParaRPr lang="zh-CN" sz="24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4460" y="2895600"/>
            <a:ext cx="2369820" cy="115597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901446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坚持应用型办学方向，立足丽水、面向区域发展需要。围绕人才培养与科研服务，推进学科建设与产教协同发展。</a:t>
            </a:r>
            <a:endParaRPr lang="zh-CN" sz="1400" dirty="0"/>
          </a:p>
        </p:txBody>
      </p:sp>
      <p:sp>
        <p:nvSpPr>
          <p:cNvPr id="42" name="Text 27"/>
          <p:cNvSpPr/>
          <p:nvPr/>
        </p:nvSpPr>
        <p:spPr>
          <a:xfrm>
            <a:off x="904494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服务地方发展</a:t>
            </a:r>
            <a:endParaRPr lang="zh-CN" sz="18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7300" y="2331720"/>
            <a:ext cx="30480" cy="3634740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100" y="5875020"/>
            <a:ext cx="182880" cy="18288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科研汇报模板</a:t>
            </a:r>
            <a:endParaRPr lang="zh-CN" sz="1020" dirty="0"/>
          </a:p>
        </p:txBody>
      </p:sp>
      <p:sp>
        <p:nvSpPr>
          <p:cNvPr id="46" name="Text 29">
            <a:hlinkClick r:id="rId15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来源：丽水学院官网·学校概况与历史沿革；配图为校史／校园资料，非逐年实景</a:t>
            </a:r>
            <a:endParaRPr lang="zh-CN" sz="1020" dirty="0"/>
          </a:p>
        </p:txBody>
      </p:sp>
      <p:sp>
        <p:nvSpPr>
          <p:cNvPr id="47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30</a:t>
            </a:r>
            <a:endParaRPr lang="zh-CN" sz="1020" dirty="0"/>
          </a:p>
        </p:txBody>
      </p:sp>
      <p:sp>
        <p:nvSpPr>
          <p:cNvPr id="48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按信息类型插入模块，再按阅读顺序分配空间。</a:t>
            </a:r>
            <a:endParaRPr 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四类模块，各有自己的任务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编辑内容与编辑模块分开进行：先决定区域结构，再填写文字、图像和数据。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文字模块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概述问题、解释方法、列出研究结论。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可设置子区域、列数与列表前导符。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样式切换保留原有标题和正文。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8880" y="2072640"/>
            <a:ext cx="5334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表格模块</a:t>
            </a:r>
            <a:endParaRPr lang="zh-CN" sz="1800" dirty="0"/>
          </a:p>
        </p:txBody>
      </p:sp>
      <p:sp>
        <p:nvSpPr>
          <p:cNvPr id="19" name="Text 15"/>
          <p:cNvSpPr/>
          <p:nvPr/>
        </p:nvSpPr>
        <p:spPr>
          <a:xfrm>
            <a:off x="6278880" y="247650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Excel、CSV 或粘贴表格数据。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6278880" y="286762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表头深底白字，数值保持必要间距。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278880" y="3258741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表格过密时应扩大区域或拆成两页。</a:t>
            </a:r>
            <a:endParaRPr lang="zh-CN" sz="1600" dirty="0"/>
          </a:p>
        </p:txBody>
      </p:sp>
      <p:sp>
        <p:nvSpPr>
          <p:cNvPr id="22" name="Shape 18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1960" y="4152900"/>
            <a:ext cx="551688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4229100"/>
            <a:ext cx="52120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图片／视频模块</a:t>
            </a:r>
            <a:endParaRPr lang="zh-CN" sz="1800" dirty="0"/>
          </a:p>
        </p:txBody>
      </p:sp>
      <p:sp>
        <p:nvSpPr>
          <p:cNvPr id="25" name="Text 21"/>
          <p:cNvSpPr/>
          <p:nvPr/>
        </p:nvSpPr>
        <p:spPr>
          <a:xfrm>
            <a:off x="594360" y="472440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双击占位区域上传图片或视频。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594360" y="511552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先选裁剪比例，再调整取景位置。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94360" y="5506641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图标题和说明在画面下方独立排布。</a:t>
            </a:r>
            <a:endParaRPr lang="zh-CN" sz="1600" dirty="0"/>
          </a:p>
        </p:txBody>
      </p:sp>
      <p:sp>
        <p:nvSpPr>
          <p:cNvPr id="28" name="Shape 24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24600" y="43205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几何图形模块</a:t>
            </a:r>
            <a:endParaRPr lang="zh-CN" sz="1800" dirty="0"/>
          </a:p>
        </p:txBody>
      </p:sp>
      <p:sp>
        <p:nvSpPr>
          <p:cNvPr id="30" name="Text 26"/>
          <p:cNvSpPr/>
          <p:nvPr/>
        </p:nvSpPr>
        <p:spPr>
          <a:xfrm>
            <a:off x="6324600" y="47244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用于表达方向或提供适量强调。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6324600" y="51155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几何箭头可按网格单向伸缩。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6324600" y="55066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图片始终等比缩放，不能强行拉长。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标题装饰要服务内容层级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样式编号便于复用：双击文本模块空白处，悬停预览，确认后再应用。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16880" cy="20193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35937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折角飘带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适合概括一组证据或关键步骤。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白底文字框与折角边缘保持对齐。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标题长度可调，正文仍按标准字号。</a:t>
            </a:r>
            <a:endParaRPr lang="zh-CN" sz="1600" dirty="0"/>
          </a:p>
        </p:txBody>
      </p:sp>
      <p:sp>
        <p:nvSpPr>
          <p:cNvPr id="19" name="Shape 12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776" y="2103120"/>
            <a:ext cx="4718209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37296" y="2179320"/>
            <a:ext cx="401716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圆角标题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6324600" y="272796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适合并列的研究方向或工作任务。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6324600" y="311908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深色标题建立清晰的视觉入口。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6324600" y="351020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并列区域应保持相同层级与间隙。</a:t>
            </a:r>
            <a:endParaRPr lang="zh-CN" sz="1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" y="4152900"/>
            <a:ext cx="5516880" cy="201930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52900"/>
            <a:ext cx="4635937" cy="4648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6280" y="423672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五角箭头</a:t>
            </a:r>
            <a:endParaRPr lang="zh-CN" sz="1800" dirty="0"/>
          </a:p>
        </p:txBody>
      </p:sp>
      <p:sp>
        <p:nvSpPr>
          <p:cNvPr id="28" name="Text 18"/>
          <p:cNvSpPr/>
          <p:nvPr/>
        </p:nvSpPr>
        <p:spPr>
          <a:xfrm>
            <a:off x="624840" y="47701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适合描述推进过程或方法路径。</a:t>
            </a:r>
            <a:endParaRPr lang="zh-CN" sz="1600" dirty="0"/>
          </a:p>
        </p:txBody>
      </p:sp>
      <p:sp>
        <p:nvSpPr>
          <p:cNvPr id="29" name="Text 19"/>
          <p:cNvSpPr/>
          <p:nvPr/>
        </p:nvSpPr>
        <p:spPr>
          <a:xfrm>
            <a:off x="624840" y="51612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箭头表达方向，不替代文字说明。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624840" y="55523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控制装饰范围，避免压住正文内容。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040" y="4274820"/>
            <a:ext cx="685800" cy="365760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4120" y="4274820"/>
            <a:ext cx="685800" cy="3657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85560" y="429267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35" name="Text 23"/>
          <p:cNvSpPr/>
          <p:nvPr/>
        </p:nvSpPr>
        <p:spPr>
          <a:xfrm>
            <a:off x="7223760" y="4309110"/>
            <a:ext cx="43738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序号标题</a:t>
            </a:r>
            <a:endParaRPr lang="zh-CN" sz="1800" dirty="0"/>
          </a:p>
        </p:txBody>
      </p:sp>
      <p:sp>
        <p:nvSpPr>
          <p:cNvPr id="36" name="Shape 24"/>
          <p:cNvSpPr/>
          <p:nvPr/>
        </p:nvSpPr>
        <p:spPr>
          <a:xfrm>
            <a:off x="6294120" y="4632960"/>
            <a:ext cx="5303520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6294120" y="473964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适合有先后次序的步骤与检查。</a:t>
            </a:r>
            <a:endParaRPr lang="zh-CN" sz="1600" dirty="0"/>
          </a:p>
        </p:txBody>
      </p:sp>
      <p:sp>
        <p:nvSpPr>
          <p:cNvPr id="38" name="Text 26"/>
          <p:cNvSpPr/>
          <p:nvPr/>
        </p:nvSpPr>
        <p:spPr>
          <a:xfrm>
            <a:off x="6294120" y="513076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序号采用 20 pt Times New Roman 粗体。</a:t>
            </a:r>
            <a:endParaRPr lang="zh-CN" sz="1600" dirty="0"/>
          </a:p>
        </p:txBody>
      </p:sp>
      <p:sp>
        <p:nvSpPr>
          <p:cNvPr id="39" name="Text 27"/>
          <p:cNvSpPr/>
          <p:nvPr/>
        </p:nvSpPr>
        <p:spPr>
          <a:xfrm>
            <a:off x="6294120" y="55218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正文、子标题和补充注释分层设置。</a:t>
            </a:r>
            <a:endParaRPr lang="zh-CN" sz="1600" dirty="0"/>
          </a:p>
        </p:txBody>
      </p:sp>
      <p:sp>
        <p:nvSpPr>
          <p:cNvPr id="40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41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42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30</a:t>
            </a:r>
            <a:endParaRPr lang="zh-CN" sz="1020" dirty="0"/>
          </a:p>
        </p:txBody>
      </p:sp>
      <p:sp>
        <p:nvSpPr>
          <p:cNvPr id="43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组合分组与备注式说明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同一页可以组合不同样式，但相同角色应保持相同字号、对齐方式和间距。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4840" y="2118360"/>
            <a:ext cx="51511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默认样式：直接、清楚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624840" y="25222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适合正文说明与普通研究条目。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624840" y="29133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用小标题和细线组织平行内容。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624840" y="33044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浅色卡片是选择，不是每段都要加。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152900"/>
            <a:ext cx="45720" cy="20193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3880" y="4418409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备注式浅底适合补充条件与使用范围。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563880" y="480953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它没有独立标题，避免争夺阅读焦点。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563880" y="520065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说明应与旁边的内容存在明确联系。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563880" y="559177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需要长篇讲解时，可写入页面备注。</a:t>
            </a:r>
            <a:endParaRPr lang="zh-CN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20" y="1950720"/>
            <a:ext cx="5608320" cy="422148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72" y="1950720"/>
            <a:ext cx="4773097" cy="5129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72632" y="2042160"/>
            <a:ext cx="4346377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组合分组：先总后分</a:t>
            </a:r>
            <a:endParaRPr lang="zh-CN" sz="2000" dirty="0"/>
          </a:p>
        </p:txBody>
      </p:sp>
      <p:sp>
        <p:nvSpPr>
          <p:cNvPr id="26" name="Text 20"/>
          <p:cNvSpPr/>
          <p:nvPr/>
        </p:nvSpPr>
        <p:spPr>
          <a:xfrm>
            <a:off x="6446520" y="269224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先解释区域关系</a:t>
            </a:r>
            <a:endParaRPr lang="zh-CN" sz="1800" dirty="0"/>
          </a:p>
        </p:txBody>
      </p:sp>
      <p:sp>
        <p:nvSpPr>
          <p:cNvPr id="27" name="Text 21"/>
          <p:cNvSpPr/>
          <p:nvPr/>
        </p:nvSpPr>
        <p:spPr>
          <a:xfrm>
            <a:off x="6446520" y="309610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模块大标题概括这一组信息。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6446520" y="348722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内部小标题说明各自的研究任务。</a:t>
            </a:r>
            <a:endParaRPr lang="zh-CN" sz="1600" dirty="0"/>
          </a:p>
        </p:txBody>
      </p:sp>
      <p:sp>
        <p:nvSpPr>
          <p:cNvPr id="29" name="Text 23"/>
          <p:cNvSpPr/>
          <p:nvPr/>
        </p:nvSpPr>
        <p:spPr>
          <a:xfrm>
            <a:off x="6446520" y="387834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不同层级使用不同字号。</a:t>
            </a:r>
            <a:endParaRPr lang="zh-CN" sz="1600" dirty="0"/>
          </a:p>
        </p:txBody>
      </p:sp>
      <p:sp>
        <p:nvSpPr>
          <p:cNvPr id="30" name="Shape 24"/>
          <p:cNvSpPr/>
          <p:nvPr/>
        </p:nvSpPr>
        <p:spPr>
          <a:xfrm>
            <a:off x="6446520" y="4283631"/>
            <a:ext cx="499872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46520" y="439793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再安排文字密度</a:t>
            </a:r>
            <a:endParaRPr lang="zh-CN" sz="1800" dirty="0"/>
          </a:p>
        </p:txBody>
      </p:sp>
      <p:sp>
        <p:nvSpPr>
          <p:cNvPr id="32" name="Text 26"/>
          <p:cNvSpPr/>
          <p:nvPr/>
        </p:nvSpPr>
        <p:spPr>
          <a:xfrm>
            <a:off x="6446520" y="480179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内部固定使用无底色默认分组。</a:t>
            </a:r>
            <a:endParaRPr lang="zh-CN" sz="1600" dirty="0"/>
          </a:p>
        </p:txBody>
      </p:sp>
      <p:sp>
        <p:nvSpPr>
          <p:cNvPr id="33" name="Text 27"/>
          <p:cNvSpPr/>
          <p:nvPr/>
        </p:nvSpPr>
        <p:spPr>
          <a:xfrm>
            <a:off x="6446520" y="519291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以留白和细线区分并列内容。</a:t>
            </a:r>
            <a:endParaRPr lang="zh-CN" sz="1600" dirty="0"/>
          </a:p>
        </p:txBody>
      </p:sp>
      <p:sp>
        <p:nvSpPr>
          <p:cNvPr id="34" name="Text 28"/>
          <p:cNvSpPr/>
          <p:nvPr/>
        </p:nvSpPr>
        <p:spPr>
          <a:xfrm>
            <a:off x="6446520" y="558403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必要时调整列数，不增加多余白底。</a:t>
            </a:r>
            <a:endParaRPr lang="zh-CN" sz="1600" dirty="0"/>
          </a:p>
        </p:txBody>
      </p:sp>
      <p:sp>
        <p:nvSpPr>
          <p:cNvPr id="35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6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30</a:t>
            </a:r>
            <a:endParaRPr lang="zh-CN" sz="1020" dirty="0"/>
          </a:p>
        </p:txBody>
      </p:sp>
      <p:sp>
        <p:nvSpPr>
          <p:cNvPr id="38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从占位区域插入图片或视频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先保留图注所需的空间，再上传材料、选择比例并调整取景，最后复查画面与文字。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3880" y="2072640"/>
            <a:ext cx="5273040" cy="2966085"/>
          </a:xfrm>
          <a:prstGeom prst="rect">
            <a:avLst/>
          </a:prstGeom>
          <a:solidFill>
            <a:srgbClr val="EDF6F5"/>
          </a:solidFill>
          <a:ln w="15240">
            <a:solidFill>
              <a:srgbClr val="CFE0E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94660" y="3021687"/>
            <a:ext cx="41148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240"/>
              </a:lnSpc>
              <a:buNone/>
            </a:pPr>
            <a:r>
              <a:rPr lang="zh-CN" altLang="en-US" sz="324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zh-CN" sz="3240" dirty="0"/>
          </a:p>
        </p:txBody>
      </p:sp>
      <p:sp>
        <p:nvSpPr>
          <p:cNvPr id="15" name="Text 11"/>
          <p:cNvSpPr/>
          <p:nvPr/>
        </p:nvSpPr>
        <p:spPr>
          <a:xfrm>
            <a:off x="2398633" y="3494127"/>
            <a:ext cx="1603415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视频占位区域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2514600" y="3830598"/>
            <a:ext cx="137160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40"/>
              </a:lnSpc>
              <a:buNone/>
            </a:pPr>
            <a:r>
              <a:rPr lang="zh-CN" alt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双击上传，等比裁剪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563880" y="5160645"/>
            <a:ext cx="52730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　双击这里，插入自己的图片或视频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63880" y="5455206"/>
            <a:ext cx="527304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PNG、JPEG、WebP、MP4、WebM；单个媒体不超过 25 MB。</a:t>
            </a:r>
            <a:endParaRPr lang="zh-CN" sz="1200" dirty="0"/>
          </a:p>
        </p:txBody>
      </p:sp>
      <p:sp>
        <p:nvSpPr>
          <p:cNvPr id="19" name="Shape 15"/>
          <p:cNvSpPr/>
          <p:nvPr/>
        </p:nvSpPr>
        <p:spPr>
          <a:xfrm>
            <a:off x="6141720" y="1950720"/>
            <a:ext cx="560832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1720" y="1950720"/>
            <a:ext cx="560832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94120" y="2026920"/>
            <a:ext cx="5303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操作路径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6294120" y="252222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双击占位区域打开弹窗；选择本地图片或视频。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6294120" y="2913340"/>
            <a:ext cx="53543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从预设或自定义宽高比中选择；用水平、垂直取景调整画面位置。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6294120" y="36193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等比放大突出重点；图注可选标题或标题加说明。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6294120" y="401050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确认图注与画面的间隙；无需图注时关闭图标题。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6294120" y="4447342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保持原始比例，避免单向拉伸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6294120" y="4884182"/>
            <a:ext cx="53035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显示视频静态帧；PPTX 可内嵌视频。</a:t>
            </a:r>
            <a:endParaRPr lang="zh-CN" sz="1400" dirty="0"/>
          </a:p>
        </p:txBody>
      </p:sp>
      <p:sp>
        <p:nvSpPr>
          <p:cNvPr id="28" name="Text 24"/>
          <p:cNvSpPr/>
          <p:nvPr/>
        </p:nvSpPr>
        <p:spPr>
          <a:xfrm>
            <a:off x="6278880" y="5376863"/>
            <a:ext cx="5378450" cy="56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取景检查：保留图中关键标注与坐标；说明裁剪范围，确保不会改变原始证据的含义。</a:t>
            </a:r>
            <a:endParaRPr lang="zh-CN" sz="1400" dirty="0"/>
          </a:p>
        </p:txBody>
      </p:sp>
      <p:sp>
        <p:nvSpPr>
          <p:cNvPr id="29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0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30</a:t>
            </a:r>
            <a:endParaRPr lang="zh-CN" sz="1020" dirty="0"/>
          </a:p>
        </p:txBody>
      </p:sp>
      <p:sp>
        <p:nvSpPr>
          <p:cNvPr id="32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比例可以不同，画面高度必须一致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以两份用户提供的校方标识为例：保留各自比例，统一并列画面的实际高度。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2011680"/>
            <a:ext cx="5562600" cy="1524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277" y="2133600"/>
            <a:ext cx="877967" cy="9093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　独立校徽：原始比例</a:t>
            </a:r>
            <a:endParaRPr lang="zh-CN" sz="1400" dirty="0"/>
          </a:p>
        </p:txBody>
      </p:sp>
      <p:sp>
        <p:nvSpPr>
          <p:cNvPr id="15" name="Shape 10"/>
          <p:cNvSpPr/>
          <p:nvPr/>
        </p:nvSpPr>
        <p:spPr>
          <a:xfrm>
            <a:off x="6187440" y="2011680"/>
            <a:ext cx="5562600" cy="1524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513" y="2133600"/>
            <a:ext cx="3254454" cy="9093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　组合标识：原始比例</a:t>
            </a:r>
            <a:endParaRPr lang="zh-CN" sz="1400" dirty="0"/>
          </a:p>
        </p:txBody>
      </p:sp>
      <p:sp>
        <p:nvSpPr>
          <p:cNvPr id="18" name="Shape 12"/>
          <p:cNvSpPr/>
          <p:nvPr/>
        </p:nvSpPr>
        <p:spPr>
          <a:xfrm>
            <a:off x="441960" y="3749040"/>
            <a:ext cx="5516880" cy="172212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2440" y="3870960"/>
            <a:ext cx="5455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自由指定比例</a:t>
            </a:r>
            <a:endParaRPr lang="zh-CN" sz="1800" dirty="0"/>
          </a:p>
        </p:txBody>
      </p:sp>
      <p:sp>
        <p:nvSpPr>
          <p:cNvPr id="20" name="Text 14"/>
          <p:cNvSpPr/>
          <p:nvPr/>
        </p:nvSpPr>
        <p:spPr>
          <a:xfrm>
            <a:off x="472440" y="427482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自定义宽、高可使用小数，如 2.35:1。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472440" y="466594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输入必须为正数；设置会随 HTML 保存。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72440" y="5057061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再次打开媒体弹窗仍保留原来的选择。</a:t>
            </a:r>
            <a:endParaRPr lang="zh-CN" sz="1600" dirty="0"/>
          </a:p>
        </p:txBody>
      </p:sp>
      <p:sp>
        <p:nvSpPr>
          <p:cNvPr id="23" name="Shape 17"/>
          <p:cNvSpPr/>
          <p:nvPr/>
        </p:nvSpPr>
        <p:spPr>
          <a:xfrm>
            <a:off x="6141720" y="3749040"/>
            <a:ext cx="5608320" cy="172212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72200" y="3870960"/>
            <a:ext cx="55473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等高不等于拉伸</a:t>
            </a:r>
            <a:endParaRPr lang="zh-CN" sz="1800" dirty="0"/>
          </a:p>
        </p:txBody>
      </p:sp>
      <p:sp>
        <p:nvSpPr>
          <p:cNvPr id="25" name="Text 19"/>
          <p:cNvSpPr/>
          <p:nvPr/>
        </p:nvSpPr>
        <p:spPr>
          <a:xfrm>
            <a:off x="6172200" y="427482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同一行使用所有媒体都能容纳的高度。</a:t>
            </a:r>
            <a:endParaRPr lang="zh-CN" sz="1600" dirty="0"/>
          </a:p>
        </p:txBody>
      </p:sp>
      <p:sp>
        <p:nvSpPr>
          <p:cNvPr id="26" name="Text 20"/>
          <p:cNvSpPr/>
          <p:nvPr/>
        </p:nvSpPr>
        <p:spPr>
          <a:xfrm>
            <a:off x="6172200" y="466594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宽度随比例改变，图注在画面下方对齐。</a:t>
            </a:r>
            <a:endParaRPr lang="zh-CN" sz="1600" dirty="0"/>
          </a:p>
        </p:txBody>
      </p:sp>
      <p:sp>
        <p:nvSpPr>
          <p:cNvPr id="27" name="Text 21"/>
          <p:cNvSpPr/>
          <p:nvPr/>
        </p:nvSpPr>
        <p:spPr>
          <a:xfrm>
            <a:off x="6172200" y="5057061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图注长短不同，也不改变并列画面的高度。</a:t>
            </a:r>
            <a:endParaRPr lang="zh-CN" sz="1600" dirty="0"/>
          </a:p>
        </p:txBody>
      </p:sp>
      <p:sp>
        <p:nvSpPr>
          <p:cNvPr id="28" name="Shape 22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保持原始比例，统一实际高度；校徽与组合标识完整呈现，避免拉伸或裁掉必要元素。</a:t>
            </a:r>
            <a:endParaRPr lang="zh-CN" sz="1600" dirty="0"/>
          </a:p>
        </p:txBody>
      </p:sp>
      <p:sp>
        <p:nvSpPr>
          <p:cNvPr id="30" name="Text 24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1" name="Text 25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2" name="Text 26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30</a:t>
            </a:r>
            <a:endParaRPr lang="zh-CN" sz="1020" dirty="0"/>
          </a:p>
        </p:txBody>
      </p:sp>
      <p:sp>
        <p:nvSpPr>
          <p:cNvPr id="33" name="Shape 27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主图与关键信息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用一张主图建立共同语境，右侧分别交代观察对象、证据解释和适用范围。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2072640"/>
            <a:ext cx="5925622" cy="3324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5519499"/>
            <a:ext cx="70408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　丽水学院校园风光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814060"/>
            <a:ext cx="704088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学校官网校园风光资料；图片独立排布，说明不覆盖画面。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观察对象</a:t>
            </a:r>
            <a:endParaRPr lang="zh-CN" sz="1800" dirty="0"/>
          </a:p>
        </p:txBody>
      </p:sp>
      <p:sp>
        <p:nvSpPr>
          <p:cNvPr id="18" name="Text 13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先说明图像对象与坐标。解释它与本页问题的关系。</a:t>
            </a:r>
            <a:endParaRPr lang="zh-CN" sz="1600" dirty="0"/>
          </a:p>
        </p:txBody>
      </p:sp>
      <p:sp>
        <p:nvSpPr>
          <p:cNvPr id="19" name="Shape 14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证据解释</a:t>
            </a:r>
            <a:endParaRPr lang="zh-CN" sz="1800" dirty="0"/>
          </a:p>
        </p:txBody>
      </p:sp>
      <p:sp>
        <p:nvSpPr>
          <p:cNvPr id="21" name="Text 16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点明关键区域与变化趋势。用具体事实支持当前判断。</a:t>
            </a:r>
            <a:endParaRPr lang="zh-CN" sz="1600" dirty="0"/>
          </a:p>
        </p:txBody>
      </p:sp>
      <p:sp>
        <p:nvSpPr>
          <p:cNvPr id="22" name="Shape 17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zh-CN" sz="1800" dirty="0"/>
          </a:p>
        </p:txBody>
      </p:sp>
      <p:sp>
        <p:nvSpPr>
          <p:cNvPr id="24" name="Text 19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说明材料的来源和条件。把额外背景放进页面备注。</a:t>
            </a:r>
            <a:endParaRPr lang="zh-CN" sz="1600" dirty="0"/>
          </a:p>
        </p:txBody>
      </p:sp>
      <p:sp>
        <p:nvSpPr>
          <p:cNvPr id="25" name="Text 2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示例</a:t>
            </a:r>
            <a:endParaRPr lang="zh-CN" sz="1020" dirty="0"/>
          </a:p>
        </p:txBody>
      </p:sp>
      <p:sp>
        <p:nvSpPr>
          <p:cNvPr id="26" name="Text 21">
            <a:hlinkClick r:id="rId3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校园图像：丽水学院官网·校园风光</a:t>
            </a:r>
            <a:endParaRPr lang="zh-CN" sz="1020" dirty="0"/>
          </a:p>
        </p:txBody>
      </p:sp>
      <p:sp>
        <p:nvSpPr>
          <p:cNvPr id="27" name="Text 2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30</a:t>
            </a:r>
            <a:endParaRPr lang="zh-CN" sz="1020" dirty="0"/>
          </a:p>
        </p:txBody>
      </p:sp>
      <p:sp>
        <p:nvSpPr>
          <p:cNvPr id="28" name="Shape 2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双图对照与口径检查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比较图像之前先统一对象、单位、范围与标注；等高布局不能替代实验口径的一致性。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35052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84" y="2072640"/>
            <a:ext cx="4649033" cy="2608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　校园景观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6187440" y="1950720"/>
            <a:ext cx="5562600" cy="35052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973" y="2072640"/>
            <a:ext cx="4651534" cy="26086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　图书馆</a:t>
            </a:r>
            <a:endParaRPr lang="zh-CN" sz="1400" dirty="0"/>
          </a:p>
        </p:txBody>
      </p:sp>
      <p:sp>
        <p:nvSpPr>
          <p:cNvPr id="19" name="Text 13"/>
          <p:cNvSpPr/>
          <p:nvPr/>
        </p:nvSpPr>
        <p:spPr>
          <a:xfrm>
            <a:off x="630936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20" name="Shape 1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比较前先统一对象、单位与范围；取景保留关键标注，避免裁剪改变证据的原意。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示例</a:t>
            </a:r>
            <a:endParaRPr lang="zh-CN" sz="1020" dirty="0"/>
          </a:p>
        </p:txBody>
      </p:sp>
      <p:sp>
        <p:nvSpPr>
          <p:cNvPr id="23" name="Text 17">
            <a:hlinkClick r:id="rId4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校园景观与图书馆：丽水学院官网；图像用于等高排版示范</a:t>
            </a:r>
            <a:endParaRPr lang="zh-CN" sz="1020" dirty="0"/>
          </a:p>
        </p:txBody>
      </p:sp>
      <p:sp>
        <p:nvSpPr>
          <p:cNvPr id="24" name="Text 1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30</a:t>
            </a:r>
            <a:endParaRPr lang="zh-CN" sz="1020" dirty="0"/>
          </a:p>
        </p:txBody>
      </p:sp>
      <p:sp>
        <p:nvSpPr>
          <p:cNvPr id="25" name="Shape 1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表格展示结果，也交代实验口径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表内数值均为格式占位，正式汇报应替换为真实结果，并说明指标、单位与统计方式。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1614845" cy="57531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049185" y="1950720"/>
            <a:ext cx="762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8160" y="21336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zh-CN" sz="1200" dirty="0"/>
          </a:p>
        </p:txBody>
      </p:sp>
      <p:sp>
        <p:nvSpPr>
          <p:cNvPr id="16" name="Shape 12"/>
          <p:cNvSpPr/>
          <p:nvPr/>
        </p:nvSpPr>
        <p:spPr>
          <a:xfrm>
            <a:off x="2056805" y="1950720"/>
            <a:ext cx="3229689" cy="2857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56805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78874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136815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</a:t>
            </a:r>
            <a:endParaRPr lang="zh-CN" sz="1200" dirty="0"/>
          </a:p>
        </p:txBody>
      </p:sp>
      <p:sp>
        <p:nvSpPr>
          <p:cNvPr id="20" name="Shape 16"/>
          <p:cNvSpPr/>
          <p:nvPr/>
        </p:nvSpPr>
        <p:spPr>
          <a:xfrm>
            <a:off x="5286494" y="1950720"/>
            <a:ext cx="3229689" cy="2857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86494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08563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66504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</a:t>
            </a:r>
            <a:endParaRPr lang="zh-CN" sz="1200" dirty="0"/>
          </a:p>
        </p:txBody>
      </p:sp>
      <p:sp>
        <p:nvSpPr>
          <p:cNvPr id="24" name="Shape 20"/>
          <p:cNvSpPr/>
          <p:nvPr/>
        </p:nvSpPr>
        <p:spPr>
          <a:xfrm>
            <a:off x="8516183" y="1950720"/>
            <a:ext cx="3230047" cy="2857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516183" y="2228850"/>
            <a:ext cx="3230047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738610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96193" y="1988820"/>
            <a:ext cx="307002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</a:t>
            </a:r>
            <a:endParaRPr lang="zh-CN" sz="1200" dirty="0"/>
          </a:p>
        </p:txBody>
      </p:sp>
      <p:sp>
        <p:nvSpPr>
          <p:cNvPr id="28" name="Shape 24"/>
          <p:cNvSpPr/>
          <p:nvPr/>
        </p:nvSpPr>
        <p:spPr>
          <a:xfrm>
            <a:off x="2056805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056805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36815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1" name="Shape 27"/>
          <p:cNvSpPr/>
          <p:nvPr/>
        </p:nvSpPr>
        <p:spPr>
          <a:xfrm>
            <a:off x="3671649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7164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278874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4784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35" name="Shape 31"/>
          <p:cNvSpPr/>
          <p:nvPr/>
        </p:nvSpPr>
        <p:spPr>
          <a:xfrm>
            <a:off x="5286494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86494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66504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8" name="Shape 34"/>
          <p:cNvSpPr/>
          <p:nvPr/>
        </p:nvSpPr>
        <p:spPr>
          <a:xfrm>
            <a:off x="6901339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0133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508563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7753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2" name="Shape 38"/>
          <p:cNvSpPr/>
          <p:nvPr/>
        </p:nvSpPr>
        <p:spPr>
          <a:xfrm>
            <a:off x="8516183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16183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96193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45" name="Shape 41"/>
          <p:cNvSpPr/>
          <p:nvPr/>
        </p:nvSpPr>
        <p:spPr>
          <a:xfrm>
            <a:off x="10131028" y="2236470"/>
            <a:ext cx="1615202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131028" y="25184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738610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07228" y="2278380"/>
            <a:ext cx="145899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9" name="Shape 45"/>
          <p:cNvSpPr/>
          <p:nvPr/>
        </p:nvSpPr>
        <p:spPr>
          <a:xfrm>
            <a:off x="441960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41960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049185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18160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随机策略</a:t>
            </a:r>
            <a:endParaRPr lang="zh-CN" sz="1200" dirty="0"/>
          </a:p>
        </p:txBody>
      </p:sp>
      <p:sp>
        <p:nvSpPr>
          <p:cNvPr id="53" name="Shape 49"/>
          <p:cNvSpPr/>
          <p:nvPr/>
        </p:nvSpPr>
        <p:spPr>
          <a:xfrm>
            <a:off x="2056805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056805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136815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56" name="Shape 52"/>
          <p:cNvSpPr/>
          <p:nvPr/>
        </p:nvSpPr>
        <p:spPr>
          <a:xfrm>
            <a:off x="3671649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67164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278874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74784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0" name="Shape 56"/>
          <p:cNvSpPr/>
          <p:nvPr/>
        </p:nvSpPr>
        <p:spPr>
          <a:xfrm>
            <a:off x="5286494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286494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366504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3" name="Shape 59"/>
          <p:cNvSpPr/>
          <p:nvPr/>
        </p:nvSpPr>
        <p:spPr>
          <a:xfrm>
            <a:off x="6901339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90133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508563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97753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7" name="Shape 63"/>
          <p:cNvSpPr/>
          <p:nvPr/>
        </p:nvSpPr>
        <p:spPr>
          <a:xfrm>
            <a:off x="8516183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8516183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8596193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0" name="Shape 66"/>
          <p:cNvSpPr/>
          <p:nvPr/>
        </p:nvSpPr>
        <p:spPr>
          <a:xfrm>
            <a:off x="10131028" y="2526030"/>
            <a:ext cx="1615202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131028" y="28079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207228" y="25679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3" name="Shape 69"/>
          <p:cNvSpPr/>
          <p:nvPr/>
        </p:nvSpPr>
        <p:spPr>
          <a:xfrm>
            <a:off x="441960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441960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049185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18160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启发式方法</a:t>
            </a:r>
            <a:endParaRPr lang="zh-CN" sz="1200" dirty="0"/>
          </a:p>
        </p:txBody>
      </p:sp>
      <p:sp>
        <p:nvSpPr>
          <p:cNvPr id="77" name="Shape 73"/>
          <p:cNvSpPr/>
          <p:nvPr/>
        </p:nvSpPr>
        <p:spPr>
          <a:xfrm>
            <a:off x="2056805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056805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136815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0" name="Shape 76"/>
          <p:cNvSpPr/>
          <p:nvPr/>
        </p:nvSpPr>
        <p:spPr>
          <a:xfrm>
            <a:off x="367164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67164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5278874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374784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4" name="Shape 80"/>
          <p:cNvSpPr/>
          <p:nvPr/>
        </p:nvSpPr>
        <p:spPr>
          <a:xfrm>
            <a:off x="5286494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286494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5366504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7" name="Shape 83"/>
          <p:cNvSpPr/>
          <p:nvPr/>
        </p:nvSpPr>
        <p:spPr>
          <a:xfrm>
            <a:off x="690133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90133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8508563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697753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1" name="Shape 87"/>
          <p:cNvSpPr/>
          <p:nvPr/>
        </p:nvSpPr>
        <p:spPr>
          <a:xfrm>
            <a:off x="8516183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516183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596193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4" name="Shape 90"/>
          <p:cNvSpPr/>
          <p:nvPr/>
        </p:nvSpPr>
        <p:spPr>
          <a:xfrm>
            <a:off x="10131028" y="281559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0131028" y="30975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0207228" y="28575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7" name="Shape 93"/>
          <p:cNvSpPr/>
          <p:nvPr/>
        </p:nvSpPr>
        <p:spPr>
          <a:xfrm>
            <a:off x="441960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441960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2049185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518160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A</a:t>
            </a:r>
            <a:endParaRPr lang="zh-CN" sz="1200" dirty="0"/>
          </a:p>
        </p:txBody>
      </p:sp>
      <p:sp>
        <p:nvSpPr>
          <p:cNvPr id="101" name="Shape 97"/>
          <p:cNvSpPr/>
          <p:nvPr/>
        </p:nvSpPr>
        <p:spPr>
          <a:xfrm>
            <a:off x="2056805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056805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136815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4" name="Shape 100"/>
          <p:cNvSpPr/>
          <p:nvPr/>
        </p:nvSpPr>
        <p:spPr>
          <a:xfrm>
            <a:off x="3671649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67164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278874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374784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8" name="Shape 104"/>
          <p:cNvSpPr/>
          <p:nvPr/>
        </p:nvSpPr>
        <p:spPr>
          <a:xfrm>
            <a:off x="5286494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286494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5366504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1" name="Shape 107"/>
          <p:cNvSpPr/>
          <p:nvPr/>
        </p:nvSpPr>
        <p:spPr>
          <a:xfrm>
            <a:off x="6901339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90133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8508563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697753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5" name="Shape 111"/>
          <p:cNvSpPr/>
          <p:nvPr/>
        </p:nvSpPr>
        <p:spPr>
          <a:xfrm>
            <a:off x="8516183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8516183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7" name="Text 113"/>
          <p:cNvSpPr/>
          <p:nvPr/>
        </p:nvSpPr>
        <p:spPr>
          <a:xfrm>
            <a:off x="8596193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8" name="Shape 114"/>
          <p:cNvSpPr/>
          <p:nvPr/>
        </p:nvSpPr>
        <p:spPr>
          <a:xfrm>
            <a:off x="10131028" y="3105150"/>
            <a:ext cx="1615202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0131028" y="33870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10207228" y="31470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1" name="Shape 117"/>
          <p:cNvSpPr/>
          <p:nvPr/>
        </p:nvSpPr>
        <p:spPr>
          <a:xfrm>
            <a:off x="441960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441960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2049185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518160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B</a:t>
            </a:r>
            <a:endParaRPr lang="zh-CN" sz="1200" dirty="0"/>
          </a:p>
        </p:txBody>
      </p:sp>
      <p:sp>
        <p:nvSpPr>
          <p:cNvPr id="125" name="Shape 121"/>
          <p:cNvSpPr/>
          <p:nvPr/>
        </p:nvSpPr>
        <p:spPr>
          <a:xfrm>
            <a:off x="2056805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2056805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136815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8" name="Shape 124"/>
          <p:cNvSpPr/>
          <p:nvPr/>
        </p:nvSpPr>
        <p:spPr>
          <a:xfrm>
            <a:off x="367164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367164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5278874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374784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2" name="Shape 128"/>
          <p:cNvSpPr/>
          <p:nvPr/>
        </p:nvSpPr>
        <p:spPr>
          <a:xfrm>
            <a:off x="5286494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286494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5366504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5" name="Shape 131"/>
          <p:cNvSpPr/>
          <p:nvPr/>
        </p:nvSpPr>
        <p:spPr>
          <a:xfrm>
            <a:off x="690133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690133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508563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697753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9" name="Shape 135"/>
          <p:cNvSpPr/>
          <p:nvPr/>
        </p:nvSpPr>
        <p:spPr>
          <a:xfrm>
            <a:off x="8516183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516183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1" name="Text 137"/>
          <p:cNvSpPr/>
          <p:nvPr/>
        </p:nvSpPr>
        <p:spPr>
          <a:xfrm>
            <a:off x="8596193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2" name="Shape 138"/>
          <p:cNvSpPr/>
          <p:nvPr/>
        </p:nvSpPr>
        <p:spPr>
          <a:xfrm>
            <a:off x="10131028" y="339471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10131028" y="367665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10207228" y="343662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5" name="Shape 141"/>
          <p:cNvSpPr/>
          <p:nvPr/>
        </p:nvSpPr>
        <p:spPr>
          <a:xfrm>
            <a:off x="441960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441960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2049185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518160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局部搜索</a:t>
            </a:r>
            <a:endParaRPr lang="zh-CN" sz="1200" dirty="0"/>
          </a:p>
        </p:txBody>
      </p:sp>
      <p:sp>
        <p:nvSpPr>
          <p:cNvPr id="149" name="Shape 145"/>
          <p:cNvSpPr/>
          <p:nvPr/>
        </p:nvSpPr>
        <p:spPr>
          <a:xfrm>
            <a:off x="2056805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2056805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1" name="Text 147"/>
          <p:cNvSpPr/>
          <p:nvPr/>
        </p:nvSpPr>
        <p:spPr>
          <a:xfrm>
            <a:off x="2136815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2" name="Shape 148"/>
          <p:cNvSpPr/>
          <p:nvPr/>
        </p:nvSpPr>
        <p:spPr>
          <a:xfrm>
            <a:off x="3671649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367164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5278874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Text 151"/>
          <p:cNvSpPr/>
          <p:nvPr/>
        </p:nvSpPr>
        <p:spPr>
          <a:xfrm>
            <a:off x="374784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6" name="Shape 152"/>
          <p:cNvSpPr/>
          <p:nvPr/>
        </p:nvSpPr>
        <p:spPr>
          <a:xfrm>
            <a:off x="5286494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5286494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5366504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9" name="Shape 155"/>
          <p:cNvSpPr/>
          <p:nvPr/>
        </p:nvSpPr>
        <p:spPr>
          <a:xfrm>
            <a:off x="6901339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690133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8508563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697753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3" name="Shape 159"/>
          <p:cNvSpPr/>
          <p:nvPr/>
        </p:nvSpPr>
        <p:spPr>
          <a:xfrm>
            <a:off x="8516183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8516183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8596193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6" name="Shape 162"/>
          <p:cNvSpPr/>
          <p:nvPr/>
        </p:nvSpPr>
        <p:spPr>
          <a:xfrm>
            <a:off x="10131028" y="3684270"/>
            <a:ext cx="1615202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10131028" y="39662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10207228" y="372618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9" name="Shape 165"/>
          <p:cNvSpPr/>
          <p:nvPr/>
        </p:nvSpPr>
        <p:spPr>
          <a:xfrm>
            <a:off x="441960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441960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2049185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Text 168"/>
          <p:cNvSpPr/>
          <p:nvPr/>
        </p:nvSpPr>
        <p:spPr>
          <a:xfrm>
            <a:off x="518160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A</a:t>
            </a:r>
            <a:endParaRPr lang="zh-CN" sz="1200" dirty="0"/>
          </a:p>
        </p:txBody>
      </p:sp>
      <p:sp>
        <p:nvSpPr>
          <p:cNvPr id="173" name="Shape 169"/>
          <p:cNvSpPr/>
          <p:nvPr/>
        </p:nvSpPr>
        <p:spPr>
          <a:xfrm>
            <a:off x="2056805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2056805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5" name="Text 171"/>
          <p:cNvSpPr/>
          <p:nvPr/>
        </p:nvSpPr>
        <p:spPr>
          <a:xfrm>
            <a:off x="2136815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76" name="Shape 172"/>
          <p:cNvSpPr/>
          <p:nvPr/>
        </p:nvSpPr>
        <p:spPr>
          <a:xfrm>
            <a:off x="367164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367164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5278874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Text 175"/>
          <p:cNvSpPr/>
          <p:nvPr/>
        </p:nvSpPr>
        <p:spPr>
          <a:xfrm>
            <a:off x="374784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0" name="Shape 176"/>
          <p:cNvSpPr/>
          <p:nvPr/>
        </p:nvSpPr>
        <p:spPr>
          <a:xfrm>
            <a:off x="5286494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5286494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5366504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3" name="Shape 179"/>
          <p:cNvSpPr/>
          <p:nvPr/>
        </p:nvSpPr>
        <p:spPr>
          <a:xfrm>
            <a:off x="690133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690133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8508563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697753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7" name="Shape 183"/>
          <p:cNvSpPr/>
          <p:nvPr/>
        </p:nvSpPr>
        <p:spPr>
          <a:xfrm>
            <a:off x="8516183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8516183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9" name="Text 185"/>
          <p:cNvSpPr/>
          <p:nvPr/>
        </p:nvSpPr>
        <p:spPr>
          <a:xfrm>
            <a:off x="8596193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0" name="Shape 186"/>
          <p:cNvSpPr/>
          <p:nvPr/>
        </p:nvSpPr>
        <p:spPr>
          <a:xfrm>
            <a:off x="10131028" y="397383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10131028" y="42557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2" name="Text 188"/>
          <p:cNvSpPr/>
          <p:nvPr/>
        </p:nvSpPr>
        <p:spPr>
          <a:xfrm>
            <a:off x="10207228" y="40157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3" name="Shape 189"/>
          <p:cNvSpPr/>
          <p:nvPr/>
        </p:nvSpPr>
        <p:spPr>
          <a:xfrm>
            <a:off x="441960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441960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2049185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518160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B</a:t>
            </a:r>
            <a:endParaRPr lang="zh-CN" sz="1200" dirty="0"/>
          </a:p>
        </p:txBody>
      </p:sp>
      <p:sp>
        <p:nvSpPr>
          <p:cNvPr id="197" name="Shape 193"/>
          <p:cNvSpPr/>
          <p:nvPr/>
        </p:nvSpPr>
        <p:spPr>
          <a:xfrm>
            <a:off x="2056805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2056805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9" name="Text 195"/>
          <p:cNvSpPr/>
          <p:nvPr/>
        </p:nvSpPr>
        <p:spPr>
          <a:xfrm>
            <a:off x="2136815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0" name="Shape 196"/>
          <p:cNvSpPr/>
          <p:nvPr/>
        </p:nvSpPr>
        <p:spPr>
          <a:xfrm>
            <a:off x="3671649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1" name="Shape 197"/>
          <p:cNvSpPr/>
          <p:nvPr/>
        </p:nvSpPr>
        <p:spPr>
          <a:xfrm>
            <a:off x="367164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2" name="Shape 198"/>
          <p:cNvSpPr/>
          <p:nvPr/>
        </p:nvSpPr>
        <p:spPr>
          <a:xfrm>
            <a:off x="5278874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Text 199"/>
          <p:cNvSpPr/>
          <p:nvPr/>
        </p:nvSpPr>
        <p:spPr>
          <a:xfrm>
            <a:off x="374784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4" name="Shape 200"/>
          <p:cNvSpPr/>
          <p:nvPr/>
        </p:nvSpPr>
        <p:spPr>
          <a:xfrm>
            <a:off x="5286494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5" name="Shape 201"/>
          <p:cNvSpPr/>
          <p:nvPr/>
        </p:nvSpPr>
        <p:spPr>
          <a:xfrm>
            <a:off x="5286494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6" name="Text 202"/>
          <p:cNvSpPr/>
          <p:nvPr/>
        </p:nvSpPr>
        <p:spPr>
          <a:xfrm>
            <a:off x="5366504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7" name="Shape 203"/>
          <p:cNvSpPr/>
          <p:nvPr/>
        </p:nvSpPr>
        <p:spPr>
          <a:xfrm>
            <a:off x="6901339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8" name="Shape 204"/>
          <p:cNvSpPr/>
          <p:nvPr/>
        </p:nvSpPr>
        <p:spPr>
          <a:xfrm>
            <a:off x="690133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9" name="Shape 205"/>
          <p:cNvSpPr/>
          <p:nvPr/>
        </p:nvSpPr>
        <p:spPr>
          <a:xfrm>
            <a:off x="8508563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Text 206"/>
          <p:cNvSpPr/>
          <p:nvPr/>
        </p:nvSpPr>
        <p:spPr>
          <a:xfrm>
            <a:off x="697753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1" name="Shape 207"/>
          <p:cNvSpPr/>
          <p:nvPr/>
        </p:nvSpPr>
        <p:spPr>
          <a:xfrm>
            <a:off x="8516183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8516183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3" name="Text 209"/>
          <p:cNvSpPr/>
          <p:nvPr/>
        </p:nvSpPr>
        <p:spPr>
          <a:xfrm>
            <a:off x="8596193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4" name="Shape 210"/>
          <p:cNvSpPr/>
          <p:nvPr/>
        </p:nvSpPr>
        <p:spPr>
          <a:xfrm>
            <a:off x="10131028" y="4263390"/>
            <a:ext cx="1615202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15" name="Shape 211"/>
          <p:cNvSpPr/>
          <p:nvPr/>
        </p:nvSpPr>
        <p:spPr>
          <a:xfrm>
            <a:off x="10131028" y="45453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6" name="Text 212"/>
          <p:cNvSpPr/>
          <p:nvPr/>
        </p:nvSpPr>
        <p:spPr>
          <a:xfrm>
            <a:off x="10207228" y="43053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7" name="Shape 213"/>
          <p:cNvSpPr/>
          <p:nvPr/>
        </p:nvSpPr>
        <p:spPr>
          <a:xfrm>
            <a:off x="441960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441960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9" name="Shape 215"/>
          <p:cNvSpPr/>
          <p:nvPr/>
        </p:nvSpPr>
        <p:spPr>
          <a:xfrm>
            <a:off x="2049185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Text 216"/>
          <p:cNvSpPr/>
          <p:nvPr/>
        </p:nvSpPr>
        <p:spPr>
          <a:xfrm>
            <a:off x="518160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完整方法</a:t>
            </a:r>
            <a:endParaRPr lang="zh-CN" sz="1200" dirty="0"/>
          </a:p>
        </p:txBody>
      </p:sp>
      <p:sp>
        <p:nvSpPr>
          <p:cNvPr id="221" name="Shape 217"/>
          <p:cNvSpPr/>
          <p:nvPr/>
        </p:nvSpPr>
        <p:spPr>
          <a:xfrm>
            <a:off x="2056805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8"/>
          <p:cNvSpPr/>
          <p:nvPr/>
        </p:nvSpPr>
        <p:spPr>
          <a:xfrm>
            <a:off x="2056805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2136815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4" name="Shape 220"/>
          <p:cNvSpPr/>
          <p:nvPr/>
        </p:nvSpPr>
        <p:spPr>
          <a:xfrm>
            <a:off x="367164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367164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6" name="Shape 222"/>
          <p:cNvSpPr/>
          <p:nvPr/>
        </p:nvSpPr>
        <p:spPr>
          <a:xfrm>
            <a:off x="5278874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Text 223"/>
          <p:cNvSpPr/>
          <p:nvPr/>
        </p:nvSpPr>
        <p:spPr>
          <a:xfrm>
            <a:off x="374784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8" name="Shape 224"/>
          <p:cNvSpPr/>
          <p:nvPr/>
        </p:nvSpPr>
        <p:spPr>
          <a:xfrm>
            <a:off x="5286494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5"/>
          <p:cNvSpPr/>
          <p:nvPr/>
        </p:nvSpPr>
        <p:spPr>
          <a:xfrm>
            <a:off x="5286494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0" name="Text 226"/>
          <p:cNvSpPr/>
          <p:nvPr/>
        </p:nvSpPr>
        <p:spPr>
          <a:xfrm>
            <a:off x="5366504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1" name="Shape 227"/>
          <p:cNvSpPr/>
          <p:nvPr/>
        </p:nvSpPr>
        <p:spPr>
          <a:xfrm>
            <a:off x="690133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690133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3" name="Shape 229"/>
          <p:cNvSpPr/>
          <p:nvPr/>
        </p:nvSpPr>
        <p:spPr>
          <a:xfrm>
            <a:off x="8508563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Text 230"/>
          <p:cNvSpPr/>
          <p:nvPr/>
        </p:nvSpPr>
        <p:spPr>
          <a:xfrm>
            <a:off x="697753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5" name="Shape 231"/>
          <p:cNvSpPr/>
          <p:nvPr/>
        </p:nvSpPr>
        <p:spPr>
          <a:xfrm>
            <a:off x="8516183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2"/>
          <p:cNvSpPr/>
          <p:nvPr/>
        </p:nvSpPr>
        <p:spPr>
          <a:xfrm>
            <a:off x="8516183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7" name="Text 233"/>
          <p:cNvSpPr/>
          <p:nvPr/>
        </p:nvSpPr>
        <p:spPr>
          <a:xfrm>
            <a:off x="8596193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8" name="Shape 234"/>
          <p:cNvSpPr/>
          <p:nvPr/>
        </p:nvSpPr>
        <p:spPr>
          <a:xfrm>
            <a:off x="10131028" y="455295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5"/>
          <p:cNvSpPr/>
          <p:nvPr/>
        </p:nvSpPr>
        <p:spPr>
          <a:xfrm>
            <a:off x="10131028" y="48348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40" name="Text 236"/>
          <p:cNvSpPr/>
          <p:nvPr/>
        </p:nvSpPr>
        <p:spPr>
          <a:xfrm>
            <a:off x="10207228" y="45948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41" name="Text 237"/>
          <p:cNvSpPr/>
          <p:nvPr/>
        </p:nvSpPr>
        <p:spPr>
          <a:xfrm>
            <a:off x="441960" y="4937760"/>
            <a:ext cx="113080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表示指标越高越优；↓ 表示指标越低越优。00.00 ± 00.00 为均值与标准差的占位符。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实验设置：补充场景参数、测试集规模与重复次数；各算法使用一致的数据划分和运行环境。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统计记录：明确预热、推理和计时范围；保留原始日志、随机种子及失败样本，便于复查。</a:t>
            </a:r>
            <a:endParaRPr lang="zh-CN" sz="1020" dirty="0"/>
          </a:p>
        </p:txBody>
      </p:sp>
      <p:sp>
        <p:nvSpPr>
          <p:cNvPr id="242" name="Shape 2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43" name="Text 2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固定测试集、重复次数与计时范围；报告均值与标准差，让每一项比较都能复查。</a:t>
            </a:r>
            <a:endParaRPr lang="zh-CN" sz="1600" dirty="0"/>
          </a:p>
        </p:txBody>
      </p:sp>
      <p:sp>
        <p:nvSpPr>
          <p:cNvPr id="244" name="Text 2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245" name="Text 2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246" name="Text 2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30</a:t>
            </a:r>
            <a:endParaRPr lang="zh-CN" sz="1020" dirty="0"/>
          </a:p>
        </p:txBody>
      </p:sp>
      <p:sp>
        <p:nvSpPr>
          <p:cNvPr id="247" name="Shape 2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目标函数与参数更新</a:t>
            </a:r>
            <a:endParaRPr lang="zh-CN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以带 L2 正则项的线性回归为例，先给出优化目标，再说明参数更新与各符号含义。</a:t>
            </a:r>
            <a:endParaRPr lang="zh-CN" sz="1600" dirty="0"/>
          </a:p>
        </p:txBody>
      </p:sp>
      <p:sp>
        <p:nvSpPr>
          <p:cNvPr id="11" name="Shape 8"/>
          <p:cNvSpPr/>
          <p:nvPr/>
        </p:nvSpPr>
        <p:spPr>
          <a:xfrm>
            <a:off x="441960" y="1950720"/>
            <a:ext cx="6873240" cy="2131338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960" y="1950720"/>
            <a:ext cx="687324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026920"/>
            <a:ext cx="6568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带正则项的平方误差目标</a:t>
            </a:r>
            <a:endParaRPr lang="zh-CN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491740"/>
            <a:ext cx="6873240" cy="7875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360" y="3370778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平方误差衡量拟合偏差，L2 正则项约束参数规模。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741658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本式将全部参数纳入正则化。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234458"/>
            <a:ext cx="6873240" cy="1937742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234458"/>
            <a:ext cx="687324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4310658"/>
            <a:ext cx="6568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梯度下降更新</a:t>
            </a:r>
            <a:endParaRPr lang="zh-CN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4775478"/>
            <a:ext cx="6873240" cy="5962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" y="5463183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每轮用当前参数计算梯度，再沿负梯度方向更新。</a:t>
            </a:r>
            <a:endParaRPr lang="zh-CN" sz="1600" dirty="0"/>
          </a:p>
        </p:txBody>
      </p:sp>
      <p:sp>
        <p:nvSpPr>
          <p:cNvPr id="22" name="Text 17"/>
          <p:cNvSpPr/>
          <p:nvPr/>
        </p:nvSpPr>
        <p:spPr>
          <a:xfrm>
            <a:off x="594360" y="5834063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α 控制步长，停止条件由实验设定。</a:t>
            </a:r>
            <a:endParaRPr lang="zh-CN" sz="1600" dirty="0"/>
          </a:p>
        </p:txBody>
      </p:sp>
      <p:sp>
        <p:nvSpPr>
          <p:cNvPr id="23" name="Shape 18"/>
          <p:cNvSpPr/>
          <p:nvPr/>
        </p:nvSpPr>
        <p:spPr>
          <a:xfrm>
            <a:off x="7589520" y="1950720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11440" y="1950720"/>
            <a:ext cx="3916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符号说明</a:t>
            </a:r>
            <a:endParaRPr lang="zh-CN" sz="1800" dirty="0"/>
          </a:p>
        </p:txBody>
      </p:sp>
      <p:sp>
        <p:nvSpPr>
          <p:cNvPr id="25" name="Shape 20"/>
          <p:cNvSpPr/>
          <p:nvPr/>
        </p:nvSpPr>
        <p:spPr>
          <a:xfrm>
            <a:off x="7589520" y="2324100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440" y="2336721"/>
            <a:ext cx="156091" cy="266581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21529" y="2324100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543449" y="2336721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训练样本数，用于误差项归一化</a:t>
            </a:r>
            <a:endParaRPr lang="zh-CN" sz="1400" dirty="0"/>
          </a:p>
        </p:txBody>
      </p:sp>
      <p:sp>
        <p:nvSpPr>
          <p:cNvPr id="29" name="Shape 23"/>
          <p:cNvSpPr/>
          <p:nvPr/>
        </p:nvSpPr>
        <p:spPr>
          <a:xfrm>
            <a:off x="7589520" y="2615922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0" y="2628543"/>
            <a:ext cx="401122" cy="266581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421529" y="2615922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543449" y="2628543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个输入样本与对应的目标值</a:t>
            </a:r>
            <a:endParaRPr lang="zh-CN" sz="1400" dirty="0"/>
          </a:p>
        </p:txBody>
      </p:sp>
      <p:sp>
        <p:nvSpPr>
          <p:cNvPr id="33" name="Shape 26"/>
          <p:cNvSpPr/>
          <p:nvPr/>
        </p:nvSpPr>
        <p:spPr>
          <a:xfrm>
            <a:off x="7589520" y="2907744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440" y="2920365"/>
            <a:ext cx="88344" cy="266581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8421529" y="2907744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543449" y="2920365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待优化的参数，与输入维度一致</a:t>
            </a:r>
            <a:endParaRPr lang="zh-CN" sz="1400" dirty="0"/>
          </a:p>
        </p:txBody>
      </p:sp>
      <p:sp>
        <p:nvSpPr>
          <p:cNvPr id="37" name="Shape 29"/>
          <p:cNvSpPr/>
          <p:nvPr/>
        </p:nvSpPr>
        <p:spPr>
          <a:xfrm>
            <a:off x="7589520" y="3199567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1440" y="3212187"/>
            <a:ext cx="103703" cy="266581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8421529" y="3199567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8543449" y="3212187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正则化强度，λ ≥ 0；控制参数约束</a:t>
            </a:r>
            <a:endParaRPr lang="zh-CN" sz="1400" dirty="0"/>
          </a:p>
        </p:txBody>
      </p:sp>
      <p:sp>
        <p:nvSpPr>
          <p:cNvPr id="41" name="Shape 32"/>
          <p:cNvSpPr/>
          <p:nvPr/>
        </p:nvSpPr>
        <p:spPr>
          <a:xfrm>
            <a:off x="7589520" y="3491389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1440" y="3504009"/>
            <a:ext cx="114419" cy="266581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8421529" y="3491389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8543449" y="3504009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学习率，α &gt; 0；结合损失变化选择</a:t>
            </a:r>
            <a:endParaRPr lang="zh-CN" sz="1400" dirty="0"/>
          </a:p>
        </p:txBody>
      </p:sp>
      <p:sp>
        <p:nvSpPr>
          <p:cNvPr id="45" name="Shape 35"/>
          <p:cNvSpPr/>
          <p:nvPr/>
        </p:nvSpPr>
        <p:spPr>
          <a:xfrm>
            <a:off x="7589520" y="3783211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1440" y="3795832"/>
            <a:ext cx="64294" cy="266581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8421529" y="3783211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8543449" y="3795832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迭代序号，由初始参数开始计数</a:t>
            </a:r>
            <a:endParaRPr lang="zh-CN" sz="1400" dirty="0"/>
          </a:p>
        </p:txBody>
      </p:sp>
      <p:sp>
        <p:nvSpPr>
          <p:cNvPr id="49" name="Shape 38"/>
          <p:cNvSpPr/>
          <p:nvPr/>
        </p:nvSpPr>
        <p:spPr>
          <a:xfrm>
            <a:off x="7589520" y="4373880"/>
            <a:ext cx="4160520" cy="179832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7726680" y="4480560"/>
            <a:ext cx="38862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字体样式说明</a:t>
            </a:r>
            <a:endParaRPr lang="zh-CN" sz="1800" dirty="0"/>
          </a:p>
        </p:txBody>
      </p:sp>
      <p:sp>
        <p:nvSpPr>
          <p:cNvPr id="51" name="Shape 40"/>
          <p:cNvSpPr/>
          <p:nvPr/>
        </p:nvSpPr>
        <p:spPr>
          <a:xfrm>
            <a:off x="7726680" y="4823460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7726680" y="4836081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常规斜体</a:t>
            </a:r>
            <a:endParaRPr lang="zh-CN" sz="1200" dirty="0"/>
          </a:p>
        </p:txBody>
      </p:sp>
      <p:sp>
        <p:nvSpPr>
          <p:cNvPr id="53" name="Shape 42"/>
          <p:cNvSpPr/>
          <p:nvPr/>
        </p:nvSpPr>
        <p:spPr>
          <a:xfrm>
            <a:off x="8775859" y="4823460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859" y="4836081"/>
            <a:ext cx="325041" cy="220980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9825038" y="4823460"/>
            <a:ext cx="1787843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9825038" y="4836081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标量、参数</a:t>
            </a:r>
            <a:endParaRPr lang="zh-CN" sz="1200" dirty="0"/>
          </a:p>
        </p:txBody>
      </p:sp>
      <p:sp>
        <p:nvSpPr>
          <p:cNvPr id="57" name="Shape 45"/>
          <p:cNvSpPr/>
          <p:nvPr/>
        </p:nvSpPr>
        <p:spPr>
          <a:xfrm>
            <a:off x="7726680" y="5069681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6"/>
          <p:cNvSpPr/>
          <p:nvPr/>
        </p:nvSpPr>
        <p:spPr>
          <a:xfrm>
            <a:off x="7726680" y="5082302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粗斜体</a:t>
            </a:r>
            <a:endParaRPr lang="zh-CN" sz="1200" dirty="0"/>
          </a:p>
        </p:txBody>
      </p:sp>
      <p:sp>
        <p:nvSpPr>
          <p:cNvPr id="59" name="Shape 47"/>
          <p:cNvSpPr/>
          <p:nvPr/>
        </p:nvSpPr>
        <p:spPr>
          <a:xfrm>
            <a:off x="8775859" y="5069681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5859" y="5082302"/>
            <a:ext cx="100489" cy="220980"/>
          </a:xfrm>
          <a:prstGeom prst="rect">
            <a:avLst/>
          </a:prstGeom>
        </p:spPr>
      </p:pic>
      <p:sp>
        <p:nvSpPr>
          <p:cNvPr id="61" name="Shape 48"/>
          <p:cNvSpPr/>
          <p:nvPr/>
        </p:nvSpPr>
        <p:spPr>
          <a:xfrm>
            <a:off x="9825038" y="5069681"/>
            <a:ext cx="1787843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9825038" y="5082302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</a:t>
            </a:r>
            <a:endParaRPr lang="zh-CN" sz="1200" dirty="0"/>
          </a:p>
        </p:txBody>
      </p:sp>
      <p:sp>
        <p:nvSpPr>
          <p:cNvPr id="63" name="Shape 50"/>
          <p:cNvSpPr/>
          <p:nvPr/>
        </p:nvSpPr>
        <p:spPr>
          <a:xfrm>
            <a:off x="7726680" y="5315903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1"/>
          <p:cNvSpPr/>
          <p:nvPr/>
        </p:nvSpPr>
        <p:spPr>
          <a:xfrm>
            <a:off x="7726680" y="5328523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粗正体</a:t>
            </a:r>
            <a:endParaRPr lang="zh-CN" sz="1200" dirty="0"/>
          </a:p>
        </p:txBody>
      </p:sp>
      <p:sp>
        <p:nvSpPr>
          <p:cNvPr id="65" name="Shape 52"/>
          <p:cNvSpPr/>
          <p:nvPr/>
        </p:nvSpPr>
        <p:spPr>
          <a:xfrm>
            <a:off x="8775859" y="5315903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5859" y="5328523"/>
            <a:ext cx="132517" cy="213360"/>
          </a:xfrm>
          <a:prstGeom prst="rect">
            <a:avLst/>
          </a:prstGeom>
        </p:spPr>
      </p:pic>
      <p:sp>
        <p:nvSpPr>
          <p:cNvPr id="67" name="Shape 53"/>
          <p:cNvSpPr/>
          <p:nvPr/>
        </p:nvSpPr>
        <p:spPr>
          <a:xfrm>
            <a:off x="9825038" y="5315903"/>
            <a:ext cx="1787843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4"/>
          <p:cNvSpPr/>
          <p:nvPr/>
        </p:nvSpPr>
        <p:spPr>
          <a:xfrm>
            <a:off x="9825038" y="5328523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endParaRPr lang="zh-CN" sz="1200" dirty="0"/>
          </a:p>
        </p:txBody>
      </p:sp>
      <p:sp>
        <p:nvSpPr>
          <p:cNvPr id="69" name="Shape 55"/>
          <p:cNvSpPr/>
          <p:nvPr/>
        </p:nvSpPr>
        <p:spPr>
          <a:xfrm>
            <a:off x="7726680" y="5554504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56"/>
          <p:cNvSpPr/>
          <p:nvPr/>
        </p:nvSpPr>
        <p:spPr>
          <a:xfrm>
            <a:off x="7726680" y="5567124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常规正体</a:t>
            </a:r>
            <a:endParaRPr lang="zh-CN" sz="1200" dirty="0"/>
          </a:p>
        </p:txBody>
      </p:sp>
      <p:sp>
        <p:nvSpPr>
          <p:cNvPr id="71" name="Shape 57"/>
          <p:cNvSpPr/>
          <p:nvPr/>
        </p:nvSpPr>
        <p:spPr>
          <a:xfrm>
            <a:off x="8775859" y="5554504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5859" y="5567124"/>
            <a:ext cx="576620" cy="213360"/>
          </a:xfrm>
          <a:prstGeom prst="rect">
            <a:avLst/>
          </a:prstGeom>
        </p:spPr>
      </p:pic>
      <p:sp>
        <p:nvSpPr>
          <p:cNvPr id="73" name="Shape 58"/>
          <p:cNvSpPr/>
          <p:nvPr/>
        </p:nvSpPr>
        <p:spPr>
          <a:xfrm>
            <a:off x="9825038" y="5554504"/>
            <a:ext cx="1787843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9"/>
          <p:cNvSpPr/>
          <p:nvPr/>
        </p:nvSpPr>
        <p:spPr>
          <a:xfrm>
            <a:off x="9825038" y="5567124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数字、单位、函数</a:t>
            </a:r>
            <a:endParaRPr lang="zh-CN" sz="1200" dirty="0"/>
          </a:p>
        </p:txBody>
      </p:sp>
      <p:sp>
        <p:nvSpPr>
          <p:cNvPr id="75" name="Text 60"/>
          <p:cNvSpPr/>
          <p:nvPr/>
        </p:nvSpPr>
        <p:spPr>
          <a:xfrm>
            <a:off x="7726680" y="5838825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标题加粗，正文保持常规字重。</a:t>
            </a:r>
            <a:endParaRPr lang="zh-CN" sz="1200" dirty="0"/>
          </a:p>
        </p:txBody>
      </p:sp>
      <p:sp>
        <p:nvSpPr>
          <p:cNvPr id="76" name="Text 6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科研汇报示例</a:t>
            </a:r>
            <a:endParaRPr lang="zh-CN" sz="1020" dirty="0"/>
          </a:p>
        </p:txBody>
      </p:sp>
      <p:sp>
        <p:nvSpPr>
          <p:cNvPr id="77" name="Text 62">
            <a:hlinkClick r:id="rId14" tooltip="" action="ppaction://hlinksldjump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推导与符号约定示例；参考文献见附录</a:t>
            </a:r>
            <a:endParaRPr lang="zh-CN" sz="1020" dirty="0"/>
          </a:p>
        </p:txBody>
      </p:sp>
      <p:sp>
        <p:nvSpPr>
          <p:cNvPr id="78" name="Text 6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30</a:t>
            </a:r>
            <a:endParaRPr lang="zh-CN" sz="1020" dirty="0"/>
          </a:p>
        </p:txBody>
      </p:sp>
      <p:sp>
        <p:nvSpPr>
          <p:cNvPr id="79" name="Shape 6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算法伪代码与实现边界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沿用目标函数和符号命名，明确输入、更新步骤、停止条件及最终输出。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728472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6979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1　梯度下降（示意）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输入：参数 θ₀、学习率 α、迭代上限 T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594360" y="2865001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初始化 θ ← θ₀，t ← 0</a:t>
            </a:r>
            <a:endParaRPr lang="zh-CN" sz="1400" dirty="0"/>
          </a:p>
        </p:txBody>
      </p:sp>
      <p:sp>
        <p:nvSpPr>
          <p:cNvPr id="17" name="Text 13"/>
          <p:cNvSpPr/>
          <p:nvPr/>
        </p:nvSpPr>
        <p:spPr>
          <a:xfrm>
            <a:off x="594360" y="3207782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 while t &lt; T do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94360" y="3550563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     计算梯度 g ← ∇J(θ)</a:t>
            </a:r>
            <a:endParaRPr lang="zh-CN" sz="1400" dirty="0"/>
          </a:p>
        </p:txBody>
      </p:sp>
      <p:sp>
        <p:nvSpPr>
          <p:cNvPr id="19" name="Text 15"/>
          <p:cNvSpPr/>
          <p:nvPr/>
        </p:nvSpPr>
        <p:spPr>
          <a:xfrm>
            <a:off x="594360" y="3893344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     更新参数 θ ← θ − αg</a:t>
            </a:r>
            <a:endParaRPr lang="zh-CN" sz="1400" dirty="0"/>
          </a:p>
        </p:txBody>
      </p:sp>
      <p:sp>
        <p:nvSpPr>
          <p:cNvPr id="20" name="Text 16"/>
          <p:cNvSpPr/>
          <p:nvPr/>
        </p:nvSpPr>
        <p:spPr>
          <a:xfrm>
            <a:off x="594360" y="4236125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     if ‖g‖ ≤ ε then break</a:t>
            </a:r>
            <a:endParaRPr lang="zh-CN" sz="1400" dirty="0"/>
          </a:p>
        </p:txBody>
      </p:sp>
      <p:sp>
        <p:nvSpPr>
          <p:cNvPr id="21" name="Text 17"/>
          <p:cNvSpPr/>
          <p:nvPr/>
        </p:nvSpPr>
        <p:spPr>
          <a:xfrm>
            <a:off x="594360" y="4578906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     令 t ← t + 1</a:t>
            </a:r>
            <a:endParaRPr lang="zh-CN" sz="1400" dirty="0"/>
          </a:p>
        </p:txBody>
      </p:sp>
      <p:sp>
        <p:nvSpPr>
          <p:cNvPr id="22" name="Text 18"/>
          <p:cNvSpPr/>
          <p:nvPr/>
        </p:nvSpPr>
        <p:spPr>
          <a:xfrm>
            <a:off x="594360" y="4921687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 end while</a:t>
            </a:r>
            <a:endParaRPr lang="zh-CN" sz="1400" dirty="0"/>
          </a:p>
        </p:txBody>
      </p:sp>
      <p:sp>
        <p:nvSpPr>
          <p:cNvPr id="23" name="Text 19"/>
          <p:cNvSpPr/>
          <p:nvPr/>
        </p:nvSpPr>
        <p:spPr>
          <a:xfrm>
            <a:off x="594360" y="5264468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输出：参数 θ 与目标值 J(θ)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符号一致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参数与目标函数沿用公式页命名，避免同一符号具有不同含义。</a:t>
            </a:r>
            <a:endParaRPr lang="zh-CN" sz="1600" dirty="0"/>
          </a:p>
        </p:txBody>
      </p:sp>
      <p:sp>
        <p:nvSpPr>
          <p:cNvPr id="27" name="Shape 23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条件清楚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说明步长选择和停止阈值，避免把示意代码当作定理。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实现可复查</a:t>
            </a:r>
            <a:endParaRPr lang="zh-CN" sz="1800" dirty="0"/>
          </a:p>
        </p:txBody>
      </p:sp>
      <p:sp>
        <p:nvSpPr>
          <p:cNvPr id="32" name="Text 28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补充版本、随机种子和环境，结果应能对应实验记录。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浏览时看结构，放映时看节奏，备注只服务演讲者。</a:t>
            </a:r>
            <a:endParaRPr lang="zh-CN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用三种视图检查同一份内容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编辑时专注当前页，检查时回到整套文稿；视图切换不会改变模块的真实坐标。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3647361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单页展示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一次查看当前选中的一页；适合精修文字、图片和表格。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点击缩略图可快速切换页面；切换编辑文字或编辑模块。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943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再次点击已选模式即可取消；无选中状态方便直接预览。</a:t>
            </a:r>
            <a:endParaRPr lang="zh-CN" sz="1600" dirty="0"/>
          </a:p>
        </p:txBody>
      </p:sp>
      <p:sp>
        <p:nvSpPr>
          <p:cNvPr id="18" name="Text 14"/>
          <p:cNvSpPr/>
          <p:nvPr/>
        </p:nvSpPr>
        <p:spPr>
          <a:xfrm>
            <a:off x="5943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必要时打开网格检查边距；最后确认这一页的阅读顺序。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72201" y="1950720"/>
            <a:ext cx="364748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24601" y="2026920"/>
            <a:ext cx="3342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单列滚动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4424601" y="252222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按顺序纵向查看整套文稿；适合检查章节之间的过渡。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24601" y="322826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通过左侧缩略图定位页面；激活当前页后继续编辑。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4424601" y="39343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观察相邻页面的密度变化；检查标题、页码和来源口径。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4424601" y="4640342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避免连续多页只有零散文字；也避免某一页突然过度拥挤。</a:t>
            </a:r>
            <a:endParaRPr lang="zh-CN" sz="1600" dirty="0"/>
          </a:p>
        </p:txBody>
      </p:sp>
      <p:sp>
        <p:nvSpPr>
          <p:cNvPr id="26" name="Shape 22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02560" y="1950720"/>
            <a:ext cx="3647361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549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多页滚动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2549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可选每行一到六页的总览；适合检查整套文稿的节奏。</a:t>
            </a:r>
            <a:endParaRPr lang="zh-CN" sz="1600" dirty="0"/>
          </a:p>
        </p:txBody>
      </p:sp>
      <p:sp>
        <p:nvSpPr>
          <p:cNvPr id="30" name="Text 26"/>
          <p:cNvSpPr/>
          <p:nvPr/>
        </p:nvSpPr>
        <p:spPr>
          <a:xfrm>
            <a:off x="82549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比较不同章节的内容占比；发现重复版式和信息空洞。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82549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双击目标缩略页进入放映；放映双击可看每行四页总览。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82549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再次双击指定页继续讲解；预览应覆盖整套而非只看首页。</a:t>
            </a:r>
            <a:endParaRPr lang="zh-CN" sz="1600" dirty="0"/>
          </a:p>
        </p:txBody>
      </p:sp>
      <p:sp>
        <p:nvSpPr>
          <p:cNvPr id="33" name="Shape 29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单页查细节，单列查叙事，多列查一致性；完成三轮检查后再进入正式放映。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逐页备注：给演讲者留一份讲解线索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画布外的备注可选择性显示；它不占正文安全区，也不会印在 PDF 幻灯片中。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11308080" cy="35814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221" y="1950720"/>
            <a:ext cx="4841438" cy="5129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88581" y="2042160"/>
            <a:ext cx="441471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观众阅读与口头讲解，分别安排</a:t>
            </a:r>
            <a:endParaRPr lang="zh-CN" sz="2000" dirty="0"/>
          </a:p>
        </p:txBody>
      </p:sp>
      <p:sp>
        <p:nvSpPr>
          <p:cNvPr id="15" name="Text 9"/>
          <p:cNvSpPr/>
          <p:nvPr/>
        </p:nvSpPr>
        <p:spPr>
          <a:xfrm>
            <a:off x="74676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页面内放必要内容</a:t>
            </a:r>
            <a:endParaRPr lang="zh-CN" sz="1800" dirty="0"/>
          </a:p>
        </p:txBody>
      </p:sp>
      <p:sp>
        <p:nvSpPr>
          <p:cNvPr id="16" name="Text 10"/>
          <p:cNvSpPr/>
          <p:nvPr/>
        </p:nvSpPr>
        <p:spPr>
          <a:xfrm>
            <a:off x="746760" y="3096101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正文只写听众需要阅读的信息；图表说明应与当前研究问题对应。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746760" y="38021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图标题交代对象；总结条提炼本页的关键判断。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746760" y="4193262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引用来源保留必要的可追踪链接；段末孤字可通过改写或分句处理。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746760" y="4899303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保持字号不变，不靠缩小字体硬塞。</a:t>
            </a:r>
            <a:endParaRPr lang="zh-CN" sz="1600" dirty="0"/>
          </a:p>
        </p:txBody>
      </p:sp>
      <p:sp>
        <p:nvSpPr>
          <p:cNvPr id="20" name="Shape 14"/>
          <p:cNvSpPr/>
          <p:nvPr/>
        </p:nvSpPr>
        <p:spPr>
          <a:xfrm>
            <a:off x="6088380" y="2737961"/>
            <a:ext cx="7620" cy="2474119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4840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页面外留讲解备注</a:t>
            </a:r>
            <a:endParaRPr lang="zh-CN" sz="1800" dirty="0"/>
          </a:p>
        </p:txBody>
      </p:sp>
      <p:sp>
        <p:nvSpPr>
          <p:cNvPr id="22" name="Text 16"/>
          <p:cNvSpPr/>
          <p:nvPr/>
        </p:nvSpPr>
        <p:spPr>
          <a:xfrm>
            <a:off x="6248400" y="3096101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点击页面备注可显示或隐藏；每一页的备注独立保存。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6248400" y="348722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补充口头解释与过渡；记录演示步骤和计时提示。</a:t>
            </a:r>
            <a:endParaRPr lang="zh-CN" sz="1600" dirty="0"/>
          </a:p>
        </p:txBody>
      </p:sp>
      <p:sp>
        <p:nvSpPr>
          <p:cNvPr id="24" name="Text 18"/>
          <p:cNvSpPr/>
          <p:nvPr/>
        </p:nvSpPr>
        <p:spPr>
          <a:xfrm>
            <a:off x="6248400" y="38783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备注随当前页更新；保存 HTML 时一并保留备注。</a:t>
            </a:r>
            <a:endParaRPr lang="zh-CN" sz="1600" dirty="0"/>
          </a:p>
        </p:txBody>
      </p:sp>
      <p:sp>
        <p:nvSpPr>
          <p:cNvPr id="25" name="Text 19"/>
          <p:cNvSpPr/>
          <p:nvPr/>
        </p:nvSpPr>
        <p:spPr>
          <a:xfrm>
            <a:off x="6248400" y="426946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PPTX 时备注进入原生备注页。</a:t>
            </a:r>
            <a:endParaRPr lang="zh-CN" sz="1600" dirty="0"/>
          </a:p>
        </p:txBody>
      </p:sp>
      <p:sp>
        <p:nvSpPr>
          <p:cNvPr id="26" name="Shape 20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幻灯片服务听众阅读，备注服务口头讲解；两者围绕同一结论，避免重复堆砌。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29" name="Text 23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0" name="Text 24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30</a:t>
            </a:r>
            <a:endParaRPr lang="zh-CN" sz="1020" dirty="0"/>
          </a:p>
        </p:txBody>
      </p:sp>
      <p:sp>
        <p:nvSpPr>
          <p:cNvPr id="31" name="Shape 25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双窗口演示：一个看内容，一个看提示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点击演讲者视图，当前工作台保留备注；新窗口只展示幻灯片，手动移到目标屏幕即可。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3652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演讲者保留正常视角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打开演讲者视图；当前页备注显示在画布下方。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可以切页，也可选择隐藏备注。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两个窗口同步页码；目标屏幕由用户手动选择。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37413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结束双窗口后继续正常编辑。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3652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观众窗口专注画面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允许浏览器打开一次独立窗口；手动拖到投影屏或第二块屏幕。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点击进入全屏后开始演示。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方向键翻页；Ctrl 滚轮缩放，左键拖动查看。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双击总览，再双击指定页面返回。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15840"/>
            <a:ext cx="11277600" cy="12801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7912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演讲者视图</a:t>
            </a:r>
            <a:endParaRPr lang="zh-CN" sz="1800" dirty="0"/>
          </a:p>
        </p:txBody>
      </p:sp>
      <p:sp>
        <p:nvSpPr>
          <p:cNvPr id="30" name="Text 20"/>
          <p:cNvSpPr/>
          <p:nvPr/>
        </p:nvSpPr>
        <p:spPr>
          <a:xfrm>
            <a:off x="579120" y="5341620"/>
            <a:ext cx="3535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点击后出现弹窗，可拖动，可全屏，适合多屏分屏放映。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4193500" y="4968240"/>
            <a:ext cx="7620" cy="9753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33828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全屏放映</a:t>
            </a:r>
            <a:endParaRPr lang="zh-CN" sz="1800" dirty="0"/>
          </a:p>
        </p:txBody>
      </p:sp>
      <p:sp>
        <p:nvSpPr>
          <p:cNvPr id="33" name="Text 23"/>
          <p:cNvSpPr/>
          <p:nvPr/>
        </p:nvSpPr>
        <p:spPr>
          <a:xfrm>
            <a:off x="4338280" y="5341620"/>
            <a:ext cx="3535640" cy="49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52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直接进入全屏放映页面，双击可出现预览图，再次双击可进入对应页面。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7952661" y="4968240"/>
            <a:ext cx="7620" cy="9753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8097441" y="4937760"/>
            <a:ext cx="348495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快速放映</a:t>
            </a:r>
            <a:endParaRPr lang="zh-CN" sz="1800" dirty="0"/>
          </a:p>
        </p:txBody>
      </p:sp>
      <p:sp>
        <p:nvSpPr>
          <p:cNvPr id="36" name="Text 26"/>
          <p:cNvSpPr/>
          <p:nvPr/>
        </p:nvSpPr>
        <p:spPr>
          <a:xfrm>
            <a:off x="8097441" y="5341620"/>
            <a:ext cx="353575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多页视图或左侧预览图，双击页面，直接进入放映界面。</a:t>
            </a:r>
            <a:endParaRPr lang="zh-CN" sz="1600" dirty="0"/>
          </a:p>
        </p:txBody>
      </p:sp>
      <p:sp>
        <p:nvSpPr>
          <p:cNvPr id="37" name="Text 2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9" name="Text 2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30</a:t>
            </a:r>
            <a:endParaRPr lang="zh-CN" sz="1020" dirty="0"/>
          </a:p>
        </p:txBody>
      </p:sp>
      <p:sp>
        <p:nvSpPr>
          <p:cNvPr id="40" name="Shape 3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阶段总结与后续计划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总结已经获得证据支持的进展，并将尚未解决的问题落实到可检查的后续工作。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441960" y="1950720"/>
            <a:ext cx="537972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</a:t>
            </a:r>
            <a:endParaRPr lang="zh-CN" sz="2000" dirty="0"/>
          </a:p>
        </p:txBody>
      </p:sp>
      <p:sp>
        <p:nvSpPr>
          <p:cNvPr id="13" name="Shape 9"/>
          <p:cNvSpPr/>
          <p:nvPr/>
        </p:nvSpPr>
        <p:spPr>
          <a:xfrm>
            <a:off x="441960" y="2402681"/>
            <a:ext cx="5379720" cy="1195507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9120" y="2524601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已完成的工作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79120" y="2882741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已实现的方法与完成的实验，注明代码版本、数据范围和记录位置。</a:t>
            </a:r>
            <a:endParaRPr lang="zh-CN" sz="1600" dirty="0"/>
          </a:p>
        </p:txBody>
      </p:sp>
      <p:sp>
        <p:nvSpPr>
          <p:cNvPr id="16" name="Shape 12"/>
          <p:cNvSpPr/>
          <p:nvPr/>
        </p:nvSpPr>
        <p:spPr>
          <a:xfrm>
            <a:off x="441960" y="3689628"/>
            <a:ext cx="5379720" cy="1195507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9120" y="3811548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证据支持的结论</a:t>
            </a:r>
            <a:endParaRPr lang="zh-CN" sz="1800" dirty="0"/>
          </a:p>
        </p:txBody>
      </p:sp>
      <p:sp>
        <p:nvSpPr>
          <p:cNvPr id="18" name="Text 14"/>
          <p:cNvSpPr/>
          <p:nvPr/>
        </p:nvSpPr>
        <p:spPr>
          <a:xfrm>
            <a:off x="579120" y="4169688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关联对应图表，写明结论适用的场景与条件；初步观察标明尚待复核。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41960" y="4976574"/>
            <a:ext cx="5379720" cy="1195626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9120" y="5098494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仍待解决的问题</a:t>
            </a:r>
            <a:endParaRPr lang="zh-CN" sz="1800" dirty="0"/>
          </a:p>
        </p:txBody>
      </p:sp>
      <p:sp>
        <p:nvSpPr>
          <p:cNvPr id="21" name="Text 17"/>
          <p:cNvSpPr/>
          <p:nvPr/>
        </p:nvSpPr>
        <p:spPr>
          <a:xfrm>
            <a:off x="579120" y="5456634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未覆盖的场景、失败情形及主要限制，说明其对当前判断的影响。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62700" y="1950720"/>
            <a:ext cx="53873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zh-CN" sz="2000" dirty="0"/>
          </a:p>
        </p:txBody>
      </p:sp>
      <p:sp>
        <p:nvSpPr>
          <p:cNvPr id="23" name="Shape 19"/>
          <p:cNvSpPr/>
          <p:nvPr/>
        </p:nvSpPr>
        <p:spPr>
          <a:xfrm>
            <a:off x="6362700" y="2417921"/>
            <a:ext cx="1023580" cy="33766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62700" y="274796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54140" y="245602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工作阶段</a:t>
            </a:r>
            <a:endParaRPr lang="zh-CN" sz="1400" dirty="0"/>
          </a:p>
        </p:txBody>
      </p:sp>
      <p:sp>
        <p:nvSpPr>
          <p:cNvPr id="26" name="Shape 22"/>
          <p:cNvSpPr/>
          <p:nvPr/>
        </p:nvSpPr>
        <p:spPr>
          <a:xfrm>
            <a:off x="7386280" y="2417921"/>
            <a:ext cx="1939409" cy="33766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86280" y="274796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77720" y="2456021"/>
            <a:ext cx="175652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关键任务</a:t>
            </a:r>
            <a:endParaRPr lang="zh-CN" sz="1400" dirty="0"/>
          </a:p>
        </p:txBody>
      </p:sp>
      <p:sp>
        <p:nvSpPr>
          <p:cNvPr id="29" name="Shape 25"/>
          <p:cNvSpPr/>
          <p:nvPr/>
        </p:nvSpPr>
        <p:spPr>
          <a:xfrm>
            <a:off x="9325689" y="2417921"/>
            <a:ext cx="2424351" cy="33766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325689" y="274796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417129" y="2456021"/>
            <a:ext cx="2241471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验收产出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6362700" y="2755583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62700" y="3347085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54140" y="2926318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zh-CN" sz="1400" dirty="0"/>
          </a:p>
        </p:txBody>
      </p:sp>
      <p:sp>
        <p:nvSpPr>
          <p:cNvPr id="35" name="Shape 31"/>
          <p:cNvSpPr/>
          <p:nvPr/>
        </p:nvSpPr>
        <p:spPr>
          <a:xfrm>
            <a:off x="7386280" y="2755583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386280" y="3347085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77720" y="2797493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统一实验设置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固定数据划分</a:t>
            </a:r>
            <a:endParaRPr lang="zh-CN" sz="1400" dirty="0"/>
          </a:p>
        </p:txBody>
      </p:sp>
      <p:sp>
        <p:nvSpPr>
          <p:cNvPr id="38" name="Shape 34"/>
          <p:cNvSpPr/>
          <p:nvPr/>
        </p:nvSpPr>
        <p:spPr>
          <a:xfrm>
            <a:off x="9325689" y="2755583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325689" y="3347085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417129" y="2797493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参数清单、数据版本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及可复现脚本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6362700" y="3354705"/>
            <a:ext cx="1023580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62700" y="3946208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54140" y="352544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7386280" y="3354705"/>
            <a:ext cx="1939409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386280" y="3946208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477720" y="3396615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补充对照实验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开展关键消融</a:t>
            </a:r>
            <a:endParaRPr lang="zh-CN" sz="1400" dirty="0"/>
          </a:p>
        </p:txBody>
      </p:sp>
      <p:sp>
        <p:nvSpPr>
          <p:cNvPr id="47" name="Shape 43"/>
          <p:cNvSpPr/>
          <p:nvPr/>
        </p:nvSpPr>
        <p:spPr>
          <a:xfrm>
            <a:off x="9325689" y="3354705"/>
            <a:ext cx="2424351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325689" y="3946208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417129" y="3396615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± 标准差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重复次数及日志</a:t>
            </a:r>
            <a:endParaRPr lang="zh-CN" sz="1400" dirty="0"/>
          </a:p>
        </p:txBody>
      </p:sp>
      <p:sp>
        <p:nvSpPr>
          <p:cNvPr id="50" name="Shape 46"/>
          <p:cNvSpPr/>
          <p:nvPr/>
        </p:nvSpPr>
        <p:spPr>
          <a:xfrm>
            <a:off x="6362700" y="3953828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362700" y="4545330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454140" y="4124563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endParaRPr lang="zh-CN" sz="1400" dirty="0"/>
          </a:p>
        </p:txBody>
      </p:sp>
      <p:sp>
        <p:nvSpPr>
          <p:cNvPr id="53" name="Shape 49"/>
          <p:cNvSpPr/>
          <p:nvPr/>
        </p:nvSpPr>
        <p:spPr>
          <a:xfrm>
            <a:off x="7386280" y="3953828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386280" y="4545330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477720" y="3995738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分析异常结果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归纳失败案例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9325689" y="3953828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325689" y="4545330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417129" y="3995738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差异解释与边界条件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典型样例定位</a:t>
            </a:r>
            <a:endParaRPr lang="zh-CN" sz="1400" dirty="0"/>
          </a:p>
        </p:txBody>
      </p:sp>
      <p:sp>
        <p:nvSpPr>
          <p:cNvPr id="59" name="Shape 55"/>
          <p:cNvSpPr/>
          <p:nvPr/>
        </p:nvSpPr>
        <p:spPr>
          <a:xfrm>
            <a:off x="6362700" y="4552950"/>
            <a:ext cx="1023580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362700" y="514445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454140" y="4723686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下次汇报</a:t>
            </a:r>
            <a:endParaRPr lang="zh-CN" sz="1400" dirty="0"/>
          </a:p>
        </p:txBody>
      </p:sp>
      <p:sp>
        <p:nvSpPr>
          <p:cNvPr id="62" name="Shape 58"/>
          <p:cNvSpPr/>
          <p:nvPr/>
        </p:nvSpPr>
        <p:spPr>
          <a:xfrm>
            <a:off x="7386280" y="4552950"/>
            <a:ext cx="1939409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386280" y="514445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477720" y="4594860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汇总新增证据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逐项回应问题</a:t>
            </a:r>
            <a:endParaRPr lang="zh-CN" sz="1400" dirty="0"/>
          </a:p>
        </p:txBody>
      </p:sp>
      <p:sp>
        <p:nvSpPr>
          <p:cNvPr id="65" name="Shape 61"/>
          <p:cNvSpPr/>
          <p:nvPr/>
        </p:nvSpPr>
        <p:spPr>
          <a:xfrm>
            <a:off x="9325689" y="4552950"/>
            <a:ext cx="2424351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325689" y="514445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417129" y="4594860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更新图表与问题清单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修订研究结论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6355080" y="5273040"/>
            <a:ext cx="5394960" cy="8991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355080" y="5273040"/>
            <a:ext cx="45720" cy="8991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477000" y="538984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本次讨论：确认实验优先级和验收标准。</a:t>
            </a:r>
            <a:endParaRPr lang="zh-CN" sz="1600" dirty="0"/>
          </a:p>
        </p:txBody>
      </p:sp>
      <p:sp>
        <p:nvSpPr>
          <p:cNvPr id="71" name="Text 67"/>
          <p:cNvSpPr/>
          <p:nvPr/>
        </p:nvSpPr>
        <p:spPr>
          <a:xfrm>
            <a:off x="6477000" y="576072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各阶段时间按实际进展填写。</a:t>
            </a:r>
            <a:endParaRPr lang="zh-CN" sz="1600" dirty="0"/>
          </a:p>
        </p:txBody>
      </p:sp>
      <p:sp>
        <p:nvSpPr>
          <p:cNvPr id="72" name="Text 6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科研汇报模板</a:t>
            </a:r>
            <a:endParaRPr lang="zh-CN" sz="1020" dirty="0"/>
          </a:p>
        </p:txBody>
      </p:sp>
      <p:sp>
        <p:nvSpPr>
          <p:cNvPr id="73" name="Text 6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阶段总结与任务安排示例，以实际工作记录为准</a:t>
            </a:r>
            <a:endParaRPr lang="zh-CN" sz="1020" dirty="0"/>
          </a:p>
        </p:txBody>
      </p:sp>
      <p:sp>
        <p:nvSpPr>
          <p:cNvPr id="74" name="Text 7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30</a:t>
            </a:r>
            <a:endParaRPr lang="zh-CN" sz="1020" dirty="0"/>
          </a:p>
        </p:txBody>
      </p:sp>
      <p:sp>
        <p:nvSpPr>
          <p:cNvPr id="75" name="Shape 7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保留可继续编辑的源稿，再生成适合阅读与汇报的输出文件。</a:t>
            </a:r>
            <a:endParaRPr lang="zh-CN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三种文件，各自承担一种任务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先保存 HTML 源稿，再导出 PDF 与可编辑 PPTX；交付前至少做一次完整预览。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011680"/>
            <a:ext cx="3647361" cy="3459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2955727" cy="464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62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HTML：继续编辑</a:t>
            </a:r>
            <a:endParaRPr lang="zh-CN" sz="1800" dirty="0"/>
          </a:p>
        </p:txBody>
      </p:sp>
      <p:sp>
        <p:nvSpPr>
          <p:cNvPr id="15" name="Text 9"/>
          <p:cNvSpPr/>
          <p:nvPr/>
        </p:nvSpPr>
        <p:spPr>
          <a:xfrm>
            <a:off x="6248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名称显示在 Web Slide 旁边；点击名称可修改文稿文件名。</a:t>
            </a:r>
            <a:endParaRPr lang="zh-CN" sz="1600" dirty="0"/>
          </a:p>
        </p:txBody>
      </p:sp>
      <p:sp>
        <p:nvSpPr>
          <p:cNvPr id="16" name="Text 10"/>
          <p:cNvSpPr/>
          <p:nvPr/>
        </p:nvSpPr>
        <p:spPr>
          <a:xfrm>
            <a:off x="6248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样式、素材和备注均内嵌；可离线编辑、保存和放映。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6248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需要导出时拖回本地工作台；不要只依赖浏览器临时草稿。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6248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正式修改后另存一个新版本。</a:t>
            </a:r>
            <a:endParaRPr lang="zh-CN" sz="1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01" y="2011680"/>
            <a:ext cx="3647480" cy="345948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161" y="2011680"/>
            <a:ext cx="2955727" cy="4648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46521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PDF：稳定阅读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4455081" y="2628900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按标准宽屏输出十六比九；没有 A4 白边或浏览器页眉。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4455081" y="333494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视频在 PDF 中显示静态画面；演讲者备注不进入可见页面。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4455081" y="404098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检查图表和来源是否清楚；确认长链接和换行没有越界。</a:t>
            </a:r>
            <a:endParaRPr lang="zh-CN" sz="1600" dirty="0"/>
          </a:p>
        </p:txBody>
      </p:sp>
      <p:sp>
        <p:nvSpPr>
          <p:cNvPr id="25" name="Text 17"/>
          <p:cNvSpPr/>
          <p:nvPr/>
        </p:nvSpPr>
        <p:spPr>
          <a:xfrm>
            <a:off x="4455081" y="4747022"/>
            <a:ext cx="3281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适合打印、发送与归档阅读。</a:t>
            </a:r>
            <a:endParaRPr lang="zh-CN" sz="1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60" y="2011680"/>
            <a:ext cx="3647361" cy="345948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3520" y="2011680"/>
            <a:ext cx="2955727" cy="4648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3768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PPTX：继续汇报</a:t>
            </a:r>
            <a:endParaRPr lang="zh-CN" sz="1800" dirty="0"/>
          </a:p>
        </p:txBody>
      </p:sp>
      <p:sp>
        <p:nvSpPr>
          <p:cNvPr id="29" name="Text 19"/>
          <p:cNvSpPr/>
          <p:nvPr/>
        </p:nvSpPr>
        <p:spPr>
          <a:xfrm>
            <a:off x="82854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文字与表格单元格保持可编辑；图片和视频作为独立对象输出。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82854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章节名称明确关闭自动换行；正文主标题使用当前主题色。</a:t>
            </a:r>
            <a:endParaRPr lang="zh-CN" sz="1600" dirty="0"/>
          </a:p>
        </p:txBody>
      </p:sp>
      <p:sp>
        <p:nvSpPr>
          <p:cNvPr id="31" name="Text 21"/>
          <p:cNvSpPr/>
          <p:nvPr/>
        </p:nvSpPr>
        <p:spPr>
          <a:xfrm>
            <a:off x="82854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并列媒体保持相同绝对高度；页面备注写入原生备注区域。</a:t>
            </a:r>
            <a:endParaRPr lang="zh-CN" sz="1600" dirty="0"/>
          </a:p>
        </p:txBody>
      </p:sp>
      <p:sp>
        <p:nvSpPr>
          <p:cNvPr id="32" name="Text 22"/>
          <p:cNvSpPr/>
          <p:nvPr/>
        </p:nvSpPr>
        <p:spPr>
          <a:xfrm>
            <a:off x="82854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目标电脑仍需核对字体与播放。</a:t>
            </a:r>
            <a:endParaRPr lang="zh-CN" sz="1600" dirty="0"/>
          </a:p>
        </p:txBody>
      </p:sp>
      <p:sp>
        <p:nvSpPr>
          <p:cNvPr id="33" name="Shape 23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交付前检查：内容准确、层级清楚、无孤字、无越界、媒体等高、来源可追踪。</a:t>
            </a:r>
            <a:endParaRPr lang="zh-CN" sz="1600" dirty="0"/>
          </a:p>
        </p:txBody>
      </p:sp>
      <p:sp>
        <p:nvSpPr>
          <p:cNvPr id="35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6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30</a:t>
            </a:r>
            <a:endParaRPr lang="zh-CN" sz="1020" dirty="0"/>
          </a:p>
        </p:txBody>
      </p:sp>
      <p:sp>
        <p:nvSpPr>
          <p:cNvPr id="38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模板资料与协同工作方式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先保留可追踪资料，再请 AI 生成结构化页面；人工端负责精修与最终确认。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2667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的材料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学校标识与需要遵循的主题色。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论文、图表、公式及引用来源。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342384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受众、时长、章节目标与必须保留的信息。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79120" y="396478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可作为修改起点。</a:t>
            </a:r>
            <a:endParaRPr lang="zh-CN" sz="1600" dirty="0"/>
          </a:p>
        </p:txBody>
      </p:sp>
      <p:sp>
        <p:nvSpPr>
          <p:cNvPr id="18" name="Shape 14"/>
          <p:cNvSpPr/>
          <p:nvPr/>
        </p:nvSpPr>
        <p:spPr>
          <a:xfrm>
            <a:off x="4272201" y="1950720"/>
            <a:ext cx="3647480" cy="2667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09361" y="2072640"/>
            <a:ext cx="3373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人工端的操作</a:t>
            </a:r>
            <a:endParaRPr lang="zh-CN" sz="1800" dirty="0"/>
          </a:p>
        </p:txBody>
      </p:sp>
      <p:sp>
        <p:nvSpPr>
          <p:cNvPr id="20" name="Text 16"/>
          <p:cNvSpPr/>
          <p:nvPr/>
        </p:nvSpPr>
        <p:spPr>
          <a:xfrm>
            <a:off x="4409361" y="247650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检查内容顺序，再调整模块。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4409361" y="286762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文字可加粗、改色与调整行距。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4409361" y="325874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替换媒体，复查取景与等高。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09361" y="364986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备注补充讲解，导出前复查。</a:t>
            </a:r>
            <a:endParaRPr lang="zh-CN" sz="1600" dirty="0"/>
          </a:p>
        </p:txBody>
      </p:sp>
      <p:sp>
        <p:nvSpPr>
          <p:cNvPr id="24" name="Shape 20"/>
          <p:cNvSpPr/>
          <p:nvPr/>
        </p:nvSpPr>
        <p:spPr>
          <a:xfrm>
            <a:off x="8102560" y="1950720"/>
            <a:ext cx="3647361" cy="2667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397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可复用的资源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2397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规定 AI 工作流程。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82397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根目录 HTML 可继续编辑。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8239720" y="325874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学校标识应核对官网原件。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8239720" y="364986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下方汇总高校官方资源入口。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44196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436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资料交接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59436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记录版本、来源与尚缺材料。</a:t>
            </a:r>
            <a:endParaRPr lang="zh-CN" sz="1400" dirty="0"/>
          </a:p>
        </p:txBody>
      </p:sp>
      <p:sp>
        <p:nvSpPr>
          <p:cNvPr id="33" name="Shape 29"/>
          <p:cNvSpPr/>
          <p:nvPr/>
        </p:nvSpPr>
        <p:spPr>
          <a:xfrm>
            <a:off x="4203621" y="4953000"/>
            <a:ext cx="7620" cy="426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211241" y="4800600"/>
            <a:ext cx="3769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363641" y="4861560"/>
            <a:ext cx="3464600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zh-CN" sz="1600" dirty="0"/>
          </a:p>
        </p:txBody>
      </p:sp>
      <p:sp>
        <p:nvSpPr>
          <p:cNvPr id="36" name="Text 32"/>
          <p:cNvSpPr/>
          <p:nvPr/>
        </p:nvSpPr>
        <p:spPr>
          <a:xfrm>
            <a:off x="4363641" y="5186720"/>
            <a:ext cx="346460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核对事实、取景和引用链接。</a:t>
            </a:r>
            <a:endParaRPr lang="zh-CN" sz="1400" dirty="0"/>
          </a:p>
        </p:txBody>
      </p:sp>
      <p:sp>
        <p:nvSpPr>
          <p:cNvPr id="37" name="Shape 33"/>
          <p:cNvSpPr/>
          <p:nvPr/>
        </p:nvSpPr>
        <p:spPr>
          <a:xfrm>
            <a:off x="7973020" y="4953000"/>
            <a:ext cx="7620" cy="426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98064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13304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下轮修改</a:t>
            </a:r>
            <a:endParaRPr lang="zh-CN" sz="1600" dirty="0"/>
          </a:p>
        </p:txBody>
      </p:sp>
      <p:sp>
        <p:nvSpPr>
          <p:cNvPr id="40" name="Text 36"/>
          <p:cNvSpPr/>
          <p:nvPr/>
        </p:nvSpPr>
        <p:spPr>
          <a:xfrm>
            <a:off x="813304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标出待改页面和验收标准。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以真实资料为起点，以可编辑源稿为交接；保留来源、人工判断和下一轮修改的入口。</a:t>
            </a:r>
            <a:endParaRPr lang="zh-CN" sz="1600" dirty="0"/>
          </a:p>
        </p:txBody>
      </p:sp>
      <p:sp>
        <p:nvSpPr>
          <p:cNvPr id="43" name="Text 3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附录</a:t>
            </a:r>
            <a:endParaRPr lang="zh-CN" sz="1020" dirty="0"/>
          </a:p>
        </p:txBody>
      </p:sp>
      <p:sp>
        <p:nvSpPr>
          <p:cNvPr id="44" name="Text 40">
            <a:hlinkClick r:id="rId2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中国高校校徽（LOGO）官方下载资源汇总</a:t>
            </a:r>
            <a:endParaRPr lang="zh-CN" sz="1020" dirty="0"/>
          </a:p>
        </p:txBody>
      </p:sp>
      <p:sp>
        <p:nvSpPr>
          <p:cNvPr id="45" name="Text 4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30</a:t>
            </a:r>
            <a:endParaRPr lang="zh-CN" sz="1020" dirty="0"/>
          </a:p>
        </p:txBody>
      </p:sp>
      <p:sp>
        <p:nvSpPr>
          <p:cNvPr id="46" name="Shape 4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zh-CN" sz="1200" dirty="0"/>
          </a:p>
        </p:txBody>
      </p:sp>
      <p:sp>
        <p:nvSpPr>
          <p:cNvPr id="4" name="Text 1"/>
          <p:cNvSpPr/>
          <p:nvPr/>
        </p:nvSpPr>
        <p:spPr>
          <a:xfrm>
            <a:off x="1005840" y="235625"/>
            <a:ext cx="96012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5" name="Text 2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参考文献著录示例</a:t>
            </a:r>
            <a:endParaRPr lang="zh-CN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按文献本体选择类型, 在线载体用 /OL; 著录分隔符使用英文标点, 其后留一个空格。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441960" y="19913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</a:t>
            </a:r>
            <a:endParaRPr lang="zh-CN" sz="1200" dirty="0"/>
          </a:p>
        </p:txBody>
      </p:sp>
      <p:sp>
        <p:nvSpPr>
          <p:cNvPr id="9" name="Text 5"/>
          <p:cNvSpPr/>
          <p:nvPr/>
        </p:nvSpPr>
        <p:spPr>
          <a:xfrm>
            <a:off x="807720" y="19913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徐建委. 历史的起点: "史记"中的时间设置及其意义[J]. 北京大学学报(哲学社会科学版), 2025, 62(2): 117-127.</a:t>
            </a:r>
            <a:endParaRPr lang="zh-CN" sz="1200" dirty="0"/>
          </a:p>
        </p:txBody>
      </p:sp>
      <p:sp>
        <p:nvSpPr>
          <p:cNvPr id="10" name="Text 6"/>
          <p:cNvSpPr/>
          <p:nvPr/>
        </p:nvSpPr>
        <p:spPr>
          <a:xfrm>
            <a:off x="441960" y="22961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</a:t>
            </a:r>
            <a:endParaRPr lang="zh-CN" sz="1200" dirty="0"/>
          </a:p>
        </p:txBody>
      </p:sp>
      <p:sp>
        <p:nvSpPr>
          <p:cNvPr id="11" name="Text 7"/>
          <p:cNvSpPr/>
          <p:nvPr/>
        </p:nvSpPr>
        <p:spPr>
          <a:xfrm>
            <a:off x="807720" y="22961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Peebles P Z Jr. Probability, random variables, and random signal principles[M]. 4th ed. New York: McGraw-Hill, 2001.</a:t>
            </a:r>
            <a:endParaRPr lang="zh-CN" sz="1200" dirty="0"/>
          </a:p>
        </p:txBody>
      </p:sp>
      <p:sp>
        <p:nvSpPr>
          <p:cNvPr id="12" name="Text 8"/>
          <p:cNvSpPr/>
          <p:nvPr/>
        </p:nvSpPr>
        <p:spPr>
          <a:xfrm>
            <a:off x="441960" y="26009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</a:t>
            </a:r>
            <a:endParaRPr lang="zh-CN" sz="1200" dirty="0"/>
          </a:p>
        </p:txBody>
      </p:sp>
      <p:sp>
        <p:nvSpPr>
          <p:cNvPr id="13" name="Text 9"/>
          <p:cNvSpPr/>
          <p:nvPr/>
        </p:nvSpPr>
        <p:spPr>
          <a:xfrm>
            <a:off x="807720" y="26009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丁文详. 数字革命与竞争国际化[N]. 中国青年报, 2000-11-20(15).</a:t>
            </a:r>
            <a:endParaRPr lang="zh-CN" sz="1200" dirty="0"/>
          </a:p>
        </p:txBody>
      </p:sp>
      <p:sp>
        <p:nvSpPr>
          <p:cNvPr id="14" name="Text 10"/>
          <p:cNvSpPr/>
          <p:nvPr/>
        </p:nvSpPr>
        <p:spPr>
          <a:xfrm>
            <a:off x="441960" y="29057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</a:t>
            </a:r>
            <a:endParaRPr lang="zh-CN" sz="1200" dirty="0"/>
          </a:p>
        </p:txBody>
      </p:sp>
      <p:sp>
        <p:nvSpPr>
          <p:cNvPr id="15" name="Text 11"/>
          <p:cNvSpPr/>
          <p:nvPr/>
        </p:nvSpPr>
        <p:spPr>
          <a:xfrm>
            <a:off x="807720" y="29057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Cairns B R. Infrared spectroscopic studies of solid oxygen[D]. Berkeley: University of California, Berkeley, 1965: 15.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441960" y="321052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807720" y="321052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Yufin S A. Geoecology and computers: proceedings of the Third International Conference on Advances of Computer Methods in Geotechnical and Geoenvironmental Engineering, Moscow, Russia, February 1-4, 2000[C]. Rotterdam: A. A. Balkema, 2000.</a:t>
            </a:r>
            <a:endParaRPr lang="zh-CN" sz="1200" dirty="0"/>
          </a:p>
        </p:txBody>
      </p:sp>
      <p:sp>
        <p:nvSpPr>
          <p:cNvPr id="18" name="Text 14"/>
          <p:cNvSpPr/>
          <p:nvPr/>
        </p:nvSpPr>
        <p:spPr>
          <a:xfrm>
            <a:off x="441960" y="37210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</a:t>
            </a:r>
            <a:endParaRPr lang="zh-CN" sz="1200" dirty="0"/>
          </a:p>
        </p:txBody>
      </p:sp>
      <p:sp>
        <p:nvSpPr>
          <p:cNvPr id="19" name="Text 15"/>
          <p:cNvSpPr/>
          <p:nvPr/>
        </p:nvSpPr>
        <p:spPr>
          <a:xfrm>
            <a:off x="807720" y="37210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7714-2025 信息与文献 参考文献著录规则[S].</a:t>
            </a:r>
            <a:endParaRPr lang="zh-CN" sz="1200" dirty="0"/>
          </a:p>
        </p:txBody>
      </p:sp>
      <p:sp>
        <p:nvSpPr>
          <p:cNvPr id="20" name="Text 16"/>
          <p:cNvSpPr/>
          <p:nvPr/>
        </p:nvSpPr>
        <p:spPr>
          <a:xfrm>
            <a:off x="441960" y="40258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</a:t>
            </a:r>
            <a:endParaRPr lang="zh-CN" sz="1200" dirty="0"/>
          </a:p>
        </p:txBody>
      </p:sp>
      <p:sp>
        <p:nvSpPr>
          <p:cNvPr id="21" name="Text 17"/>
          <p:cNvSpPr/>
          <p:nvPr/>
        </p:nvSpPr>
        <p:spPr>
          <a:xfrm>
            <a:off x="807720" y="40258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邓一刚. 全智能节电器: CN200610171314.3[P]. 2008-01-16: 8-9.</a:t>
            </a:r>
            <a:endParaRPr lang="zh-CN" sz="1200" dirty="0"/>
          </a:p>
        </p:txBody>
      </p:sp>
      <p:sp>
        <p:nvSpPr>
          <p:cNvPr id="22" name="Text 18"/>
          <p:cNvSpPr/>
          <p:nvPr/>
        </p:nvSpPr>
        <p:spPr>
          <a:xfrm>
            <a:off x="441960" y="433066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</a:t>
            </a:r>
            <a:endParaRPr lang="zh-CN" sz="1200" dirty="0"/>
          </a:p>
        </p:txBody>
      </p:sp>
      <p:sp>
        <p:nvSpPr>
          <p:cNvPr id="23" name="Text 19"/>
          <p:cNvSpPr/>
          <p:nvPr/>
        </p:nvSpPr>
        <p:spPr>
          <a:xfrm>
            <a:off x="807720" y="433066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汤万金, 杨跃翔, 刘文, 等. 人体安全重要技术标准研制最终报告: 7178999X-2006BAK04A10/10.2013[R/OL]. 2013-09-30. http://www.nstrs.cn/xiangxiBG.aspx?id=41707.</a:t>
            </a:r>
            <a:endParaRPr lang="zh-CN" sz="1200" dirty="0"/>
          </a:p>
        </p:txBody>
      </p:sp>
      <p:sp>
        <p:nvSpPr>
          <p:cNvPr id="24" name="Text 20"/>
          <p:cNvSpPr/>
          <p:nvPr/>
        </p:nvSpPr>
        <p:spPr>
          <a:xfrm>
            <a:off x="441960" y="484120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</a:t>
            </a:r>
            <a:endParaRPr lang="zh-CN" sz="1200" dirty="0"/>
          </a:p>
        </p:txBody>
      </p:sp>
      <p:sp>
        <p:nvSpPr>
          <p:cNvPr id="25" name="Text 21"/>
          <p:cNvSpPr/>
          <p:nvPr/>
        </p:nvSpPr>
        <p:spPr>
          <a:xfrm>
            <a:off x="807720" y="484120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of Congress[EB/OL]. [2020-06-12]. https://www.loc.gov.</a:t>
            </a:r>
            <a:endParaRPr lang="zh-CN" sz="1200" dirty="0"/>
          </a:p>
        </p:txBody>
      </p:sp>
      <p:sp>
        <p:nvSpPr>
          <p:cNvPr id="26" name="Text 22"/>
          <p:cNvSpPr/>
          <p:nvPr/>
        </p:nvSpPr>
        <p:spPr>
          <a:xfrm>
            <a:off x="441960" y="514600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</a:t>
            </a:r>
            <a:endParaRPr lang="zh-CN" sz="1200" dirty="0"/>
          </a:p>
        </p:txBody>
      </p:sp>
      <p:sp>
        <p:nvSpPr>
          <p:cNvPr id="27" name="Text 23"/>
          <p:cNvSpPr/>
          <p:nvPr/>
        </p:nvSpPr>
        <p:spPr>
          <a:xfrm>
            <a:off x="807720" y="514600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IHME. Global burden of disease study 2019 (GBD 2019) data resources[DS/OL]. Global Health Data Exchange(2021)[2025-07-15]. https://ghdx.healthdata.org/gbd-2019.</a:t>
            </a:r>
            <a:endParaRPr lang="zh-CN" sz="1200" dirty="0"/>
          </a:p>
        </p:txBody>
      </p:sp>
      <p:sp>
        <p:nvSpPr>
          <p:cNvPr id="28" name="Text 24"/>
          <p:cNvSpPr/>
          <p:nvPr/>
        </p:nvSpPr>
        <p:spPr>
          <a:xfrm>
            <a:off x="441960" y="565654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</a:t>
            </a:r>
            <a:endParaRPr lang="zh-CN" sz="1200" dirty="0"/>
          </a:p>
        </p:txBody>
      </p:sp>
      <p:sp>
        <p:nvSpPr>
          <p:cNvPr id="29" name="Text 25"/>
          <p:cNvSpPr/>
          <p:nvPr/>
        </p:nvSpPr>
        <p:spPr>
          <a:xfrm>
            <a:off x="807720" y="565654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Jenkins S D, Ruostekoski J. Controlled manipulation of light by cooperative response of atoms in an optical lattice[PP/OL]. V2. (2012-03-18)[2020-06-24]. https://doi.org/10.48550/arXiv.1112.6136.</a:t>
            </a:r>
            <a:endParaRPr lang="zh-CN" sz="1200" dirty="0"/>
          </a:p>
        </p:txBody>
      </p:sp>
      <p:sp>
        <p:nvSpPr>
          <p:cNvPr id="30" name="Text 26"/>
          <p:cNvSpPr/>
          <p:nvPr/>
        </p:nvSpPr>
        <p:spPr>
          <a:xfrm>
            <a:off x="441960" y="6489144"/>
            <a:ext cx="22860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科研汇报示例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06175" y="6489144"/>
            <a:ext cx="443865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zh-CN" sz="10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作者简介</a:t>
            </a:r>
            <a:endParaRPr lang="zh-CN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960" y="1463040"/>
            <a:ext cx="2590800" cy="4770120"/>
          </a:xfrm>
          <a:prstGeom prst="rect">
            <a:avLst/>
          </a:prstGeom>
          <a:solidFill>
            <a:srgbClr val="EDF6F5"/>
          </a:solidFill>
          <a:ln w="7620">
            <a:solidFill>
              <a:srgbClr val="CFE0E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53540"/>
            <a:ext cx="1493520" cy="167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1980" y="3421380"/>
            <a:ext cx="227076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作者姓名</a:t>
            </a:r>
            <a:endParaRPr lang="zh-CN" sz="2000" dirty="0"/>
          </a:p>
        </p:txBody>
      </p:sp>
      <p:sp>
        <p:nvSpPr>
          <p:cNvPr id="13" name="Text 9"/>
          <p:cNvSpPr/>
          <p:nvPr/>
        </p:nvSpPr>
        <p:spPr>
          <a:xfrm>
            <a:off x="601980" y="3842861"/>
            <a:ext cx="227076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527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职称／学位</a:t>
            </a:r>
            <a:endParaRPr lang="zh-CN" sz="1400" dirty="0"/>
          </a:p>
        </p:txBody>
      </p:sp>
      <p:sp>
        <p:nvSpPr>
          <p:cNvPr id="14" name="Text 10"/>
          <p:cNvSpPr/>
          <p:nvPr/>
        </p:nvSpPr>
        <p:spPr>
          <a:xfrm>
            <a:off x="601980" y="4191952"/>
            <a:ext cx="2270760" cy="515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学院／研究机构</a:t>
            </a:r>
            <a:endParaRPr lang="zh-CN" sz="1400" dirty="0"/>
          </a:p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团队／实验室</a:t>
            </a:r>
            <a:endParaRPr lang="zh-CN" sz="1400" dirty="0"/>
          </a:p>
        </p:txBody>
      </p:sp>
      <p:sp>
        <p:nvSpPr>
          <p:cNvPr id="15" name="Text 11"/>
          <p:cNvSpPr/>
          <p:nvPr/>
        </p:nvSpPr>
        <p:spPr>
          <a:xfrm>
            <a:off x="601980" y="4890135"/>
            <a:ext cx="2270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740"/>
              </a:lnSpc>
              <a:buNone/>
            </a:pPr>
            <a:r>
              <a:rPr lang="zh-CN" altLang="en-US" sz="1200" dirty="0">
                <a:solidFill>
                  <a:srgbClr val="527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邮箱：name@example.com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601980" y="5210175"/>
            <a:ext cx="227076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740"/>
              </a:lnSpc>
              <a:buNone/>
            </a:pPr>
            <a:r>
              <a:rPr lang="zh-CN" altLang="en-US" sz="1200" dirty="0">
                <a:solidFill>
                  <a:srgbClr val="527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电话：联系电话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601980" y="5621655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18" name="Text 14"/>
          <p:cNvSpPr/>
          <p:nvPr/>
        </p:nvSpPr>
        <p:spPr>
          <a:xfrm>
            <a:off x="601980" y="5995035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7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论文（篇）</a:t>
            </a:r>
            <a:endParaRPr lang="zh-CN" sz="1200" dirty="0"/>
          </a:p>
        </p:txBody>
      </p:sp>
      <p:sp>
        <p:nvSpPr>
          <p:cNvPr id="19" name="Text 15"/>
          <p:cNvSpPr/>
          <p:nvPr/>
        </p:nvSpPr>
        <p:spPr>
          <a:xfrm>
            <a:off x="1798320" y="5621655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20" name="Text 16"/>
          <p:cNvSpPr/>
          <p:nvPr/>
        </p:nvSpPr>
        <p:spPr>
          <a:xfrm>
            <a:off x="1798320" y="5995035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7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项目（项）</a:t>
            </a:r>
            <a:endParaRPr lang="zh-CN" sz="1200" dirty="0"/>
          </a:p>
        </p:txBody>
      </p:sp>
      <p:sp>
        <p:nvSpPr>
          <p:cNvPr id="21" name="Shape 17"/>
          <p:cNvSpPr/>
          <p:nvPr/>
        </p:nvSpPr>
        <p:spPr>
          <a:xfrm>
            <a:off x="3276600" y="1463040"/>
            <a:ext cx="8473440" cy="1680686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FE0E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84220" y="1470660"/>
            <a:ext cx="8458200" cy="4000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06140" y="151638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教育和工作经历</a:t>
            </a:r>
            <a:endParaRPr lang="zh-CN" sz="1800" dirty="0"/>
          </a:p>
        </p:txBody>
      </p:sp>
      <p:sp>
        <p:nvSpPr>
          <p:cNvPr id="24" name="Shape 20"/>
          <p:cNvSpPr/>
          <p:nvPr/>
        </p:nvSpPr>
        <p:spPr>
          <a:xfrm>
            <a:off x="328422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84220" y="2188131"/>
            <a:ext cx="276856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7566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起止时间</a:t>
            </a:r>
            <a:endParaRPr lang="zh-CN" sz="1600" dirty="0"/>
          </a:p>
        </p:txBody>
      </p:sp>
      <p:sp>
        <p:nvSpPr>
          <p:cNvPr id="27" name="Shape 23"/>
          <p:cNvSpPr/>
          <p:nvPr/>
        </p:nvSpPr>
        <p:spPr>
          <a:xfrm>
            <a:off x="612898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28980" y="2188131"/>
            <a:ext cx="276856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2042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学校／工作单位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8973741" y="1870710"/>
            <a:ext cx="2768679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973741" y="2188131"/>
            <a:ext cx="2768679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065181" y="1896070"/>
            <a:ext cx="258579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学位／专业／职务</a:t>
            </a:r>
            <a:endParaRPr lang="zh-CN" sz="1600" dirty="0"/>
          </a:p>
        </p:txBody>
      </p:sp>
      <p:sp>
        <p:nvSpPr>
          <p:cNvPr id="33" name="Shape 29"/>
          <p:cNvSpPr/>
          <p:nvPr/>
        </p:nvSpPr>
        <p:spPr>
          <a:xfrm>
            <a:off x="328422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7566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35" name="Shape 31"/>
          <p:cNvSpPr/>
          <p:nvPr/>
        </p:nvSpPr>
        <p:spPr>
          <a:xfrm>
            <a:off x="612898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2042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学校及院系</a:t>
            </a:r>
            <a:endParaRPr lang="zh-CN" sz="1400" dirty="0"/>
          </a:p>
        </p:txBody>
      </p:sp>
      <p:sp>
        <p:nvSpPr>
          <p:cNvPr id="37" name="Shape 33"/>
          <p:cNvSpPr/>
          <p:nvPr/>
        </p:nvSpPr>
        <p:spPr>
          <a:xfrm>
            <a:off x="8973741" y="2203371"/>
            <a:ext cx="2768679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065181" y="2236351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学位与专业</a:t>
            </a:r>
            <a:endParaRPr lang="zh-CN" sz="1400" dirty="0"/>
          </a:p>
        </p:txBody>
      </p:sp>
      <p:sp>
        <p:nvSpPr>
          <p:cNvPr id="39" name="Shape 35"/>
          <p:cNvSpPr/>
          <p:nvPr/>
        </p:nvSpPr>
        <p:spPr>
          <a:xfrm>
            <a:off x="328422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37566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612898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2042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研究机构／工作单位</a:t>
            </a:r>
            <a:endParaRPr lang="zh-CN" sz="1400" dirty="0"/>
          </a:p>
        </p:txBody>
      </p:sp>
      <p:sp>
        <p:nvSpPr>
          <p:cNvPr id="43" name="Shape 39"/>
          <p:cNvSpPr/>
          <p:nvPr/>
        </p:nvSpPr>
        <p:spPr>
          <a:xfrm>
            <a:off x="8973741" y="2519363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065181" y="2544723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科研岗位</a:t>
            </a:r>
            <a:endParaRPr lang="zh-CN" sz="1400" dirty="0"/>
          </a:p>
        </p:txBody>
      </p:sp>
      <p:sp>
        <p:nvSpPr>
          <p:cNvPr id="45" name="Shape 41"/>
          <p:cNvSpPr/>
          <p:nvPr/>
        </p:nvSpPr>
        <p:spPr>
          <a:xfrm>
            <a:off x="328422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37566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20XX—至今</a:t>
            </a:r>
            <a:endParaRPr lang="zh-CN" sz="1400" dirty="0"/>
          </a:p>
        </p:txBody>
      </p:sp>
      <p:sp>
        <p:nvSpPr>
          <p:cNvPr id="47" name="Shape 43"/>
          <p:cNvSpPr/>
          <p:nvPr/>
        </p:nvSpPr>
        <p:spPr>
          <a:xfrm>
            <a:off x="612898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22042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现工作单位</a:t>
            </a:r>
            <a:endParaRPr lang="zh-CN" sz="1400" dirty="0"/>
          </a:p>
        </p:txBody>
      </p:sp>
      <p:sp>
        <p:nvSpPr>
          <p:cNvPr id="49" name="Shape 45"/>
          <p:cNvSpPr/>
          <p:nvPr/>
        </p:nvSpPr>
        <p:spPr>
          <a:xfrm>
            <a:off x="8973741" y="2827734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065181" y="2853095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现任职务</a:t>
            </a:r>
            <a:endParaRPr lang="zh-CN" sz="1400" dirty="0"/>
          </a:p>
        </p:txBody>
      </p:sp>
      <p:sp>
        <p:nvSpPr>
          <p:cNvPr id="51" name="Shape 47"/>
          <p:cNvSpPr/>
          <p:nvPr/>
        </p:nvSpPr>
        <p:spPr>
          <a:xfrm>
            <a:off x="3276600" y="3276600"/>
            <a:ext cx="8473440" cy="1364933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FE0E3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284220" y="3284220"/>
            <a:ext cx="8458200" cy="4000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406140" y="332994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主要学术任职／代表性项目（奖项）</a:t>
            </a:r>
            <a:endParaRPr lang="zh-CN" sz="1800" dirty="0"/>
          </a:p>
        </p:txBody>
      </p:sp>
      <p:sp>
        <p:nvSpPr>
          <p:cNvPr id="54" name="Shape 50"/>
          <p:cNvSpPr/>
          <p:nvPr/>
        </p:nvSpPr>
        <p:spPr>
          <a:xfrm>
            <a:off x="32842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4061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学术任职</a:t>
            </a:r>
            <a:endParaRPr lang="zh-CN" sz="1600" dirty="0"/>
          </a:p>
        </p:txBody>
      </p:sp>
      <p:sp>
        <p:nvSpPr>
          <p:cNvPr id="56" name="Shape 52"/>
          <p:cNvSpPr/>
          <p:nvPr/>
        </p:nvSpPr>
        <p:spPr>
          <a:xfrm>
            <a:off x="75133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76352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代表性项目与奖项</a:t>
            </a:r>
            <a:endParaRPr lang="zh-CN" sz="1600" dirty="0"/>
          </a:p>
        </p:txBody>
      </p:sp>
      <p:sp>
        <p:nvSpPr>
          <p:cNvPr id="58" name="Shape 54"/>
          <p:cNvSpPr/>
          <p:nvPr/>
        </p:nvSpPr>
        <p:spPr>
          <a:xfrm>
            <a:off x="32842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4061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学术组织／期刊：职务</a:t>
            </a:r>
            <a:endParaRPr lang="zh-CN" sz="1400" dirty="0"/>
          </a:p>
        </p:txBody>
      </p:sp>
      <p:sp>
        <p:nvSpPr>
          <p:cNvPr id="60" name="Shape 56"/>
          <p:cNvSpPr/>
          <p:nvPr/>
        </p:nvSpPr>
        <p:spPr>
          <a:xfrm>
            <a:off x="75133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6352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项目：名称、本人角色</a:t>
            </a:r>
            <a:endParaRPr lang="zh-CN" sz="1400" dirty="0"/>
          </a:p>
        </p:txBody>
      </p:sp>
      <p:sp>
        <p:nvSpPr>
          <p:cNvPr id="62" name="Shape 58"/>
          <p:cNvSpPr/>
          <p:nvPr/>
        </p:nvSpPr>
        <p:spPr>
          <a:xfrm>
            <a:off x="32842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34061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任期／服务事项：时间</a:t>
            </a:r>
            <a:endParaRPr lang="zh-CN" sz="1400" dirty="0"/>
          </a:p>
        </p:txBody>
      </p:sp>
      <p:sp>
        <p:nvSpPr>
          <p:cNvPr id="64" name="Shape 60"/>
          <p:cNvSpPr/>
          <p:nvPr/>
        </p:nvSpPr>
        <p:spPr>
          <a:xfrm>
            <a:off x="75133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76352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奖项：名称、年份／排名</a:t>
            </a:r>
            <a:endParaRPr lang="zh-CN" sz="1400" dirty="0"/>
          </a:p>
        </p:txBody>
      </p:sp>
      <p:sp>
        <p:nvSpPr>
          <p:cNvPr id="66" name="Shape 62"/>
          <p:cNvSpPr/>
          <p:nvPr/>
        </p:nvSpPr>
        <p:spPr>
          <a:xfrm>
            <a:off x="3276600" y="4763453"/>
            <a:ext cx="8473440" cy="1469708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FE0E3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284220" y="4771073"/>
            <a:ext cx="8458200" cy="4000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406140" y="4816793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主要研究方向</a:t>
            </a:r>
            <a:endParaRPr lang="zh-CN" sz="1800" dirty="0"/>
          </a:p>
        </p:txBody>
      </p:sp>
      <p:sp>
        <p:nvSpPr>
          <p:cNvPr id="69" name="Shape 65"/>
          <p:cNvSpPr/>
          <p:nvPr/>
        </p:nvSpPr>
        <p:spPr>
          <a:xfrm>
            <a:off x="32842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34061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研究方向一</a:t>
            </a:r>
            <a:endParaRPr lang="zh-CN" sz="1600" dirty="0"/>
          </a:p>
        </p:txBody>
      </p:sp>
      <p:sp>
        <p:nvSpPr>
          <p:cNvPr id="71" name="Shape 67"/>
          <p:cNvSpPr/>
          <p:nvPr/>
        </p:nvSpPr>
        <p:spPr>
          <a:xfrm>
            <a:off x="61036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62255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研究方向二</a:t>
            </a:r>
            <a:endParaRPr lang="zh-CN" sz="1600" dirty="0"/>
          </a:p>
        </p:txBody>
      </p:sp>
      <p:sp>
        <p:nvSpPr>
          <p:cNvPr id="73" name="Shape 69"/>
          <p:cNvSpPr/>
          <p:nvPr/>
        </p:nvSpPr>
        <p:spPr>
          <a:xfrm>
            <a:off x="89230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0449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研究方向三</a:t>
            </a:r>
            <a:endParaRPr lang="zh-CN" sz="1600" dirty="0"/>
          </a:p>
        </p:txBody>
      </p:sp>
      <p:sp>
        <p:nvSpPr>
          <p:cNvPr id="75" name="Shape 71"/>
          <p:cNvSpPr/>
          <p:nvPr/>
        </p:nvSpPr>
        <p:spPr>
          <a:xfrm>
            <a:off x="32842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34061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endParaRPr lang="zh-CN" sz="1400" dirty="0"/>
          </a:p>
        </p:txBody>
      </p:sp>
      <p:sp>
        <p:nvSpPr>
          <p:cNvPr id="77" name="Shape 73"/>
          <p:cNvSpPr/>
          <p:nvPr/>
        </p:nvSpPr>
        <p:spPr>
          <a:xfrm>
            <a:off x="61036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62255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主要方法：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技术特点：</a:t>
            </a:r>
            <a:endParaRPr lang="zh-CN" sz="1400" dirty="0"/>
          </a:p>
        </p:txBody>
      </p:sp>
      <p:sp>
        <p:nvSpPr>
          <p:cNvPr id="79" name="Shape 75"/>
          <p:cNvSpPr/>
          <p:nvPr/>
        </p:nvSpPr>
        <p:spPr>
          <a:xfrm>
            <a:off x="89230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90449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endParaRPr lang="zh-CN" sz="1400" dirty="0"/>
          </a:p>
        </p:txBody>
      </p:sp>
      <p:sp>
        <p:nvSpPr>
          <p:cNvPr id="81" name="Text 7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科研汇报示例</a:t>
            </a:r>
            <a:endParaRPr lang="zh-CN" sz="1020" dirty="0"/>
          </a:p>
        </p:txBody>
      </p:sp>
      <p:sp>
        <p:nvSpPr>
          <p:cNvPr id="82" name="Text 7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作者信息占位示例；请以本人简历与可核实成果为准</a:t>
            </a:r>
            <a:endParaRPr lang="zh-CN" sz="1020" dirty="0"/>
          </a:p>
        </p:txBody>
      </p:sp>
      <p:sp>
        <p:nvSpPr>
          <p:cNvPr id="83" name="Text 7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30</a:t>
            </a:r>
            <a:endParaRPr lang="zh-CN" sz="1020" dirty="0"/>
          </a:p>
        </p:txBody>
      </p:sp>
      <p:sp>
        <p:nvSpPr>
          <p:cNvPr id="84" name="Shape 8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FE0E3"/>
          </a:solidFill>
          <a:ln w="12700">
            <a:solidFill>
              <a:srgbClr val="CFE0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9843" y="438150"/>
            <a:ext cx="3272314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515910"/>
            <a:ext cx="10820400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清楚表达，留出呼吸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313509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以内容为中心，用一致的规范完成每一次研究汇报。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41869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253752" y="467106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41869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253752" y="509778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41869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253752" y="552450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制作与演示指南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丽水学院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丽水学院_WebSlide制作与演示指南</dc:title>
  <dc:subject>本地模块化科研汇报</dc:subject>
  <dc:creator>Web Slide</dc:creator>
  <cp:lastModifiedBy>Web Slide</cp:lastModifiedBy>
  <cp:revision>1</cp:revision>
  <dcterms:created xsi:type="dcterms:W3CDTF">2026-10-28T07:07:25Z</dcterms:created>
  <dcterms:modified xsi:type="dcterms:W3CDTF">2026-10-28T07:07:25Z</dcterms:modified>
</cp:coreProperties>
</file>